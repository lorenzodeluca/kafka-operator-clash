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83" r:id="rId3"/>
    <p:sldId id="284" r:id="rId4"/>
    <p:sldId id="268" r:id="rId5"/>
    <p:sldId id="269" r:id="rId6"/>
    <p:sldId id="289" r:id="rId7"/>
    <p:sldId id="288" r:id="rId8"/>
    <p:sldId id="290" r:id="rId9"/>
    <p:sldId id="282" r:id="rId10"/>
    <p:sldId id="273" r:id="rId11"/>
    <p:sldId id="274" r:id="rId12"/>
    <p:sldId id="275" r:id="rId13"/>
    <p:sldId id="278" r:id="rId14"/>
    <p:sldId id="280" r:id="rId15"/>
    <p:sldId id="279" r:id="rId16"/>
    <p:sldId id="291" r:id="rId17"/>
    <p:sldId id="265" r:id="rId18"/>
    <p:sldId id="264" r:id="rId19"/>
    <p:sldId id="285" r:id="rId20"/>
    <p:sldId id="286" r:id="rId21"/>
    <p:sldId id="271" r:id="rId22"/>
    <p:sldId id="281" r:id="rId23"/>
    <p:sldId id="272" r:id="rId24"/>
    <p:sldId id="270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138" y="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it\kafka-operator-clash\presentation\samples1000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it\kafka-operator-clash\presentation\samples1000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it\kafka-operator-clash\presentation\samples1000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git\kafka-operator-clash\presentation\samples1000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Average RAM</a:t>
            </a:r>
            <a:r>
              <a:rPr lang="en-US" b="1" baseline="0">
                <a:latin typeface="Arial" panose="020B0604020202020204" pitchFamily="34" charset="0"/>
                <a:cs typeface="Arial" panose="020B0604020202020204" pitchFamily="34" charset="0"/>
              </a:rPr>
              <a:t> usage vs DataStream objects batch size 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'memory graphs (2)'!$F$1</c:f>
              <c:strCache>
                <c:ptCount val="1"/>
                <c:pt idx="0">
                  <c:v>Crossplane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'memory graphs (2)'!$A$2:$A$7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'memory graphs (2)'!$F$2:$F$7</c:f>
              <c:numCache>
                <c:formatCode>General</c:formatCode>
                <c:ptCount val="6"/>
                <c:pt idx="0">
                  <c:v>384</c:v>
                </c:pt>
                <c:pt idx="1">
                  <c:v>384</c:v>
                </c:pt>
                <c:pt idx="2">
                  <c:v>387.6</c:v>
                </c:pt>
                <c:pt idx="3">
                  <c:v>406.18181818181819</c:v>
                </c:pt>
                <c:pt idx="4">
                  <c:v>501.64864864864865</c:v>
                </c:pt>
                <c:pt idx="5">
                  <c:v>601.53164556962031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5B-493C-BD6D-B74A1C80CAAD}"/>
            </c:ext>
          </c:extLst>
        </c:ser>
        <c:ser>
          <c:idx val="1"/>
          <c:order val="1"/>
          <c:tx>
            <c:strRef>
              <c:f>'memory graphs (2)'!$G$1</c:f>
              <c:strCache>
                <c:ptCount val="1"/>
                <c:pt idx="0">
                  <c:v>Kubebuilder 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'memory graphs (2)'!$A$2:$A$7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'memory graphs (2)'!$G$2:$G$7</c:f>
              <c:numCache>
                <c:formatCode>General</c:formatCode>
                <c:ptCount val="6"/>
                <c:pt idx="0">
                  <c:v>51.2</c:v>
                </c:pt>
                <c:pt idx="1">
                  <c:v>56.1</c:v>
                </c:pt>
                <c:pt idx="2">
                  <c:v>56.485714285714288</c:v>
                </c:pt>
                <c:pt idx="3">
                  <c:v>56.873684210526321</c:v>
                </c:pt>
                <c:pt idx="4">
                  <c:v>61.172727272727272</c:v>
                </c:pt>
                <c:pt idx="5">
                  <c:v>66.514553990610281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5B-493C-BD6D-B74A1C80CA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334751"/>
        <c:axId val="2046661455"/>
      </c:lineChart>
      <c:catAx>
        <c:axId val="1785334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6661455"/>
        <c:crosses val="autoZero"/>
        <c:auto val="1"/>
        <c:lblAlgn val="ctr"/>
        <c:lblOffset val="100"/>
        <c:noMultiLvlLbl val="0"/>
      </c:catAx>
      <c:valAx>
        <c:axId val="2046661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5334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Average CPU</a:t>
            </a:r>
            <a:r>
              <a:rPr lang="en-US" b="1" baseline="0">
                <a:latin typeface="Arial" panose="020B0604020202020204" pitchFamily="34" charset="0"/>
                <a:cs typeface="Arial" panose="020B0604020202020204" pitchFamily="34" charset="0"/>
              </a:rPr>
              <a:t> usage vs DataStream objects batch size 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'cpu graphs'!$F$1</c:f>
              <c:strCache>
                <c:ptCount val="1"/>
                <c:pt idx="0">
                  <c:v>Crossplane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'cpu graphs'!$A$2:$A$7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'cpu graphs'!$F$2:$F$7</c:f>
              <c:numCache>
                <c:formatCode>General</c:formatCode>
                <c:ptCount val="6"/>
                <c:pt idx="0">
                  <c:v>6</c:v>
                </c:pt>
                <c:pt idx="1">
                  <c:v>14</c:v>
                </c:pt>
                <c:pt idx="2">
                  <c:v>225.4</c:v>
                </c:pt>
                <c:pt idx="3">
                  <c:v>335.18181818181819</c:v>
                </c:pt>
                <c:pt idx="4">
                  <c:v>497.94594594594594</c:v>
                </c:pt>
                <c:pt idx="5">
                  <c:v>498.73417721518985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AA-437F-95E4-002DB608C4CF}"/>
            </c:ext>
          </c:extLst>
        </c:ser>
        <c:ser>
          <c:idx val="1"/>
          <c:order val="1"/>
          <c:tx>
            <c:strRef>
              <c:f>'cpu graphs'!$G$1</c:f>
              <c:strCache>
                <c:ptCount val="1"/>
                <c:pt idx="0">
                  <c:v>Kubebuilder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'cpu graphs'!$A$2:$A$7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'cpu graphs'!$G$2:$G$7</c:f>
              <c:numCache>
                <c:formatCode>General</c:formatCode>
                <c:ptCount val="6"/>
                <c:pt idx="0">
                  <c:v>40</c:v>
                </c:pt>
                <c:pt idx="1">
                  <c:v>75.333333333333329</c:v>
                </c:pt>
                <c:pt idx="2">
                  <c:v>73.785714285714292</c:v>
                </c:pt>
                <c:pt idx="3">
                  <c:v>49.89473684210526</c:v>
                </c:pt>
                <c:pt idx="4">
                  <c:v>91.390909090909091</c:v>
                </c:pt>
                <c:pt idx="5">
                  <c:v>101.97183098591549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3AA-437F-95E4-002DB608C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334751"/>
        <c:axId val="2046661455"/>
      </c:lineChart>
      <c:catAx>
        <c:axId val="1785334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6661455"/>
        <c:crosses val="autoZero"/>
        <c:auto val="1"/>
        <c:lblAlgn val="ctr"/>
        <c:lblOffset val="100"/>
        <c:noMultiLvlLbl val="0"/>
      </c:catAx>
      <c:valAx>
        <c:axId val="2046661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5334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 CPU</a:t>
            </a:r>
            <a:r>
              <a:rPr lang="en-US" baseline="0" dirty="0"/>
              <a:t> usage(</a:t>
            </a:r>
            <a:r>
              <a:rPr lang="en-US" baseline="0" dirty="0" err="1"/>
              <a:t>millicores</a:t>
            </a:r>
            <a:r>
              <a:rPr lang="en-US" baseline="0" dirty="0"/>
              <a:t>) vs batch size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'cpu graphs'!$F$1</c:f>
              <c:strCache>
                <c:ptCount val="1"/>
                <c:pt idx="0">
                  <c:v>Crossplane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'cpu graphs'!$A$2:$A$7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'cpu graphs'!$F$2:$F$7</c:f>
              <c:numCache>
                <c:formatCode>General</c:formatCode>
                <c:ptCount val="6"/>
                <c:pt idx="0">
                  <c:v>6</c:v>
                </c:pt>
                <c:pt idx="1">
                  <c:v>14</c:v>
                </c:pt>
                <c:pt idx="2">
                  <c:v>225.4</c:v>
                </c:pt>
                <c:pt idx="3">
                  <c:v>335.18181818181819</c:v>
                </c:pt>
                <c:pt idx="4">
                  <c:v>497.94594594594594</c:v>
                </c:pt>
                <c:pt idx="5">
                  <c:v>498.73417721518985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EF-4B67-AAFE-FC36AC06A166}"/>
            </c:ext>
          </c:extLst>
        </c:ser>
        <c:ser>
          <c:idx val="1"/>
          <c:order val="1"/>
          <c:tx>
            <c:strRef>
              <c:f>'cpu graphs'!$B$1</c:f>
              <c:strCache>
                <c:ptCount val="1"/>
                <c:pt idx="0">
                  <c:v>crossplane_core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'cpu graphs'!$A$2:$A$7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'cpu graphs'!$B$2:$B$7</c:f>
              <c:numCache>
                <c:formatCode>General</c:formatCode>
                <c:ptCount val="6"/>
                <c:pt idx="0">
                  <c:v>2</c:v>
                </c:pt>
                <c:pt idx="1">
                  <c:v>3.3333333333333335</c:v>
                </c:pt>
                <c:pt idx="2">
                  <c:v>99.8</c:v>
                </c:pt>
                <c:pt idx="3">
                  <c:v>158</c:v>
                </c:pt>
                <c:pt idx="4">
                  <c:v>267.43243243243245</c:v>
                </c:pt>
                <c:pt idx="5">
                  <c:v>267.65822784810126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EF-4B67-AAFE-FC36AC06A166}"/>
            </c:ext>
          </c:extLst>
        </c:ser>
        <c:ser>
          <c:idx val="2"/>
          <c:order val="2"/>
          <c:tx>
            <c:strRef>
              <c:f>'cpu graphs'!$C$1</c:f>
              <c:strCache>
                <c:ptCount val="1"/>
                <c:pt idx="0">
                  <c:v>function-patch-and-transform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'cpu graphs'!$A$2:$A$7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'cpu graphs'!$C$2:$C$7</c:f>
              <c:numCache>
                <c:formatCode>General</c:formatCode>
                <c:ptCount val="6"/>
                <c:pt idx="0">
                  <c:v>0</c:v>
                </c:pt>
                <c:pt idx="1">
                  <c:v>2.6666666666666665</c:v>
                </c:pt>
                <c:pt idx="2">
                  <c:v>33.4</c:v>
                </c:pt>
                <c:pt idx="3">
                  <c:v>46.454545454545453</c:v>
                </c:pt>
                <c:pt idx="4">
                  <c:v>64.594594594594597</c:v>
                </c:pt>
                <c:pt idx="5">
                  <c:v>65.922077922077918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EF-4B67-AAFE-FC36AC06A166}"/>
            </c:ext>
          </c:extLst>
        </c:ser>
        <c:ser>
          <c:idx val="3"/>
          <c:order val="3"/>
          <c:tx>
            <c:strRef>
              <c:f>'cpu graphs'!$D$1</c:f>
              <c:strCache>
                <c:ptCount val="1"/>
                <c:pt idx="0">
                  <c:v>provider-kafka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'cpu graphs'!$A$2:$A$7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'cpu graphs'!$D$2:$D$7</c:f>
              <c:numCache>
                <c:formatCode>General</c:formatCode>
                <c:ptCount val="6"/>
                <c:pt idx="0">
                  <c:v>2</c:v>
                </c:pt>
                <c:pt idx="1">
                  <c:v>3</c:v>
                </c:pt>
                <c:pt idx="2">
                  <c:v>21.4</c:v>
                </c:pt>
                <c:pt idx="3">
                  <c:v>36.636363636363633</c:v>
                </c:pt>
                <c:pt idx="4">
                  <c:v>48.027027027027025</c:v>
                </c:pt>
                <c:pt idx="5">
                  <c:v>53.531645569620252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0EF-4B67-AAFE-FC36AC06A166}"/>
            </c:ext>
          </c:extLst>
        </c:ser>
        <c:ser>
          <c:idx val="4"/>
          <c:order val="4"/>
          <c:tx>
            <c:strRef>
              <c:f>'cpu graphs'!$E$1</c:f>
              <c:strCache>
                <c:ptCount val="1"/>
                <c:pt idx="0">
                  <c:v>provider-kubernetes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'cpu graphs'!$A$2:$A$7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'cpu graphs'!$E$2:$E$7</c:f>
              <c:numCache>
                <c:formatCode>General</c:formatCode>
                <c:ptCount val="6"/>
                <c:pt idx="0">
                  <c:v>2</c:v>
                </c:pt>
                <c:pt idx="1">
                  <c:v>5</c:v>
                </c:pt>
                <c:pt idx="2">
                  <c:v>70.8</c:v>
                </c:pt>
                <c:pt idx="3">
                  <c:v>94.090909090909093</c:v>
                </c:pt>
                <c:pt idx="4">
                  <c:v>117.89189189189189</c:v>
                </c:pt>
                <c:pt idx="5">
                  <c:v>116.23376623376623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0EF-4B67-AAFE-FC36AC06A1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334751"/>
        <c:axId val="2046661455"/>
      </c:lineChart>
      <c:catAx>
        <c:axId val="1785334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6661455"/>
        <c:crosses val="autoZero"/>
        <c:auto val="1"/>
        <c:lblAlgn val="ctr"/>
        <c:lblOffset val="100"/>
        <c:noMultiLvlLbl val="0"/>
      </c:catAx>
      <c:valAx>
        <c:axId val="2046661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5334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2336123078954765E-2"/>
          <c:y val="0.87966232588376503"/>
          <c:w val="0.91419567837039239"/>
          <c:h val="9.8686797625109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 RAM</a:t>
            </a:r>
            <a:r>
              <a:rPr lang="en-US" baseline="0" dirty="0"/>
              <a:t> usage(Mib) vs DataStream objects batch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7372758865848671E-2"/>
          <c:y val="0.13026610688827467"/>
          <c:w val="0.95262724113415131"/>
          <c:h val="0.60152073256109984"/>
        </c:manualLayout>
      </c:layout>
      <c:lineChart>
        <c:grouping val="standard"/>
        <c:varyColors val="0"/>
        <c:ser>
          <c:idx val="0"/>
          <c:order val="0"/>
          <c:tx>
            <c:strRef>
              <c:f>'memory graphs (2)'!$F$1</c:f>
              <c:strCache>
                <c:ptCount val="1"/>
                <c:pt idx="0">
                  <c:v>Crossplane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'memory graphs (2)'!$A$2:$A$7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'memory graphs (2)'!$F$2:$F$7</c:f>
              <c:numCache>
                <c:formatCode>General</c:formatCode>
                <c:ptCount val="6"/>
                <c:pt idx="0">
                  <c:v>384</c:v>
                </c:pt>
                <c:pt idx="1">
                  <c:v>384</c:v>
                </c:pt>
                <c:pt idx="2">
                  <c:v>387.6</c:v>
                </c:pt>
                <c:pt idx="3">
                  <c:v>406.18181818181819</c:v>
                </c:pt>
                <c:pt idx="4">
                  <c:v>501.64864864864865</c:v>
                </c:pt>
                <c:pt idx="5">
                  <c:v>601.53164556962031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C0-45D2-A214-8171279E834B}"/>
            </c:ext>
          </c:extLst>
        </c:ser>
        <c:ser>
          <c:idx val="1"/>
          <c:order val="1"/>
          <c:tx>
            <c:strRef>
              <c:f>'memory graphs (2)'!$B$1</c:f>
              <c:strCache>
                <c:ptCount val="1"/>
                <c:pt idx="0">
                  <c:v>crossplane_core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'memory graphs (2)'!$A$2:$A$7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'memory graphs (2)'!$B$2:$B$7</c:f>
              <c:numCache>
                <c:formatCode>General</c:formatCode>
                <c:ptCount val="6"/>
                <c:pt idx="0">
                  <c:v>187</c:v>
                </c:pt>
                <c:pt idx="1">
                  <c:v>187</c:v>
                </c:pt>
                <c:pt idx="2">
                  <c:v>188.8</c:v>
                </c:pt>
                <c:pt idx="3">
                  <c:v>204.09090909090909</c:v>
                </c:pt>
                <c:pt idx="4">
                  <c:v>292.18918918918916</c:v>
                </c:pt>
                <c:pt idx="5">
                  <c:v>373.70886075949369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C0-45D2-A214-8171279E834B}"/>
            </c:ext>
          </c:extLst>
        </c:ser>
        <c:ser>
          <c:idx val="2"/>
          <c:order val="2"/>
          <c:tx>
            <c:strRef>
              <c:f>'memory graphs (2)'!$C$1</c:f>
              <c:strCache>
                <c:ptCount val="1"/>
                <c:pt idx="0">
                  <c:v>function-patch-and-transform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'memory graphs (2)'!$A$2:$A$7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'memory graphs (2)'!$C$2:$C$7</c:f>
              <c:numCache>
                <c:formatCode>General</c:formatCode>
                <c:ptCount val="6"/>
                <c:pt idx="0">
                  <c:v>52</c:v>
                </c:pt>
                <c:pt idx="1">
                  <c:v>52</c:v>
                </c:pt>
                <c:pt idx="2">
                  <c:v>53.8</c:v>
                </c:pt>
                <c:pt idx="3">
                  <c:v>53.81818181818182</c:v>
                </c:pt>
                <c:pt idx="4">
                  <c:v>42.45945945945946</c:v>
                </c:pt>
                <c:pt idx="5">
                  <c:v>32.519480519480517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C0-45D2-A214-8171279E834B}"/>
            </c:ext>
          </c:extLst>
        </c:ser>
        <c:ser>
          <c:idx val="3"/>
          <c:order val="3"/>
          <c:tx>
            <c:strRef>
              <c:f>'memory graphs (2)'!$D$1</c:f>
              <c:strCache>
                <c:ptCount val="1"/>
                <c:pt idx="0">
                  <c:v>provider-kafka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numRef>
              <c:f>'memory graphs (2)'!$A$2:$A$7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'memory graphs (2)'!$D$2:$D$7</c:f>
              <c:numCache>
                <c:formatCode>General</c:formatCode>
                <c:ptCount val="6"/>
                <c:pt idx="0">
                  <c:v>71</c:v>
                </c:pt>
                <c:pt idx="1">
                  <c:v>71</c:v>
                </c:pt>
                <c:pt idx="2">
                  <c:v>71</c:v>
                </c:pt>
                <c:pt idx="3">
                  <c:v>71</c:v>
                </c:pt>
                <c:pt idx="4">
                  <c:v>73.78378378378379</c:v>
                </c:pt>
                <c:pt idx="5">
                  <c:v>84.075949367088612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FC0-45D2-A214-8171279E834B}"/>
            </c:ext>
          </c:extLst>
        </c:ser>
        <c:ser>
          <c:idx val="4"/>
          <c:order val="4"/>
          <c:tx>
            <c:strRef>
              <c:f>'memory graphs (2)'!$E$1</c:f>
              <c:strCache>
                <c:ptCount val="1"/>
                <c:pt idx="0">
                  <c:v>provider-kubernetes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'memory graphs (2)'!$A$2:$A$7</c:f>
              <c:numCache>
                <c:formatCode>General</c:formatCode>
                <c:ptCount val="6"/>
                <c:pt idx="0">
                  <c:v>1</c:v>
                </c:pt>
                <c:pt idx="1">
                  <c:v>10</c:v>
                </c:pt>
                <c:pt idx="2">
                  <c:v>50</c:v>
                </c:pt>
                <c:pt idx="3">
                  <c:v>100</c:v>
                </c:pt>
                <c:pt idx="4">
                  <c:v>500</c:v>
                </c:pt>
                <c:pt idx="5">
                  <c:v>1000</c:v>
                </c:pt>
              </c:numCache>
            </c:numRef>
          </c:cat>
          <c:val>
            <c:numRef>
              <c:f>'memory graphs (2)'!$E$2:$E$7</c:f>
              <c:numCache>
                <c:formatCode>General</c:formatCode>
                <c:ptCount val="6"/>
                <c:pt idx="0">
                  <c:v>74</c:v>
                </c:pt>
                <c:pt idx="1">
                  <c:v>74</c:v>
                </c:pt>
                <c:pt idx="2">
                  <c:v>74</c:v>
                </c:pt>
                <c:pt idx="3">
                  <c:v>77.272727272727266</c:v>
                </c:pt>
                <c:pt idx="4">
                  <c:v>93.21621621621621</c:v>
                </c:pt>
                <c:pt idx="5">
                  <c:v>114.96103896103897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FC0-45D2-A214-8171279E83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334751"/>
        <c:axId val="2046661455"/>
      </c:lineChart>
      <c:catAx>
        <c:axId val="178533475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6661455"/>
        <c:crosses val="autoZero"/>
        <c:auto val="1"/>
        <c:lblAlgn val="ctr"/>
        <c:lblOffset val="100"/>
        <c:noMultiLvlLbl val="0"/>
      </c:catAx>
      <c:valAx>
        <c:axId val="2046661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853347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BCDBD3CC-8A92-4D99-2D0F-8D9BE56FC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1DE7327E-8FF7-F49C-1DA5-0C0186342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Some background… k8s is </a:t>
            </a:r>
            <a:r>
              <a:rPr lang="en-US" dirty="0" err="1"/>
              <a:t>widele</a:t>
            </a:r>
            <a:r>
              <a:rPr lang="en-US" dirty="0"/>
              <a:t> extensible with operators and they can when choosing to create a new one there are two categories to choose from, the 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3EA24C19-6F52-2FB2-E742-E86C8E4335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35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05762FB-2129-1CD5-BEF2-E88AB26CE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105999E3-D428-2580-B5F9-B6A127D9D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Some background…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AADA25CC-65E2-1F57-F4FD-2D982FFA8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081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89159000-82B2-9A1C-1CF8-0BC1803C4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0A04039C-275E-253D-85BA-9C2410E2EB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87E521DB-B0A6-C78E-EC96-BEF4890064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78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35D28C03-DD5F-3F11-F0E6-52D12ECF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96EB6A23-40C7-A659-9D5F-0B7A85E65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build custom Kubernetes operators, Infrastructure behavior is explicitly defined, domain-specific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0772893C-02A9-4586-7F28-11A2A20324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82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087E7FBD-1A6C-E73D-51CA-B7B08D83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854FD762-16E5-54C8-68A1-82413595B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Crossplane standardizes multi-resource orchestration; Kubebuilder gives direct control over every reconciliation step.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77090D56-9931-60E8-BF6F-D20F3D3AF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41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A2728E2-2441-014C-B312-C7750BC5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94B44885-4E8A-F3AF-BC6E-67FFFB30D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Key architectural difference to call out</a:t>
            </a:r>
            <a:r>
              <a:rPr lang="en-US" dirty="0"/>
              <a:t>: Kubebuilder has one reconciliation loop; Crossplane has </a:t>
            </a:r>
            <a:r>
              <a:rPr lang="en-US" i="1" dirty="0"/>
              <a:t>N</a:t>
            </a:r>
            <a:r>
              <a:rPr lang="en-US" dirty="0"/>
              <a:t> independent loops (engine, one per Provider, one per Function) that must all converge before the Claim is "ready."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A69B41AE-0FB9-1891-41E1-D1D20F34D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42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692755D-5D91-F250-11F8-4BC93E739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C22E95AC-5163-D0F9-137A-0D960FEF0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Kubebuilder: The pattern is simple: </a:t>
            </a:r>
            <a:r>
              <a:rPr lang="en-US" i="1" dirty="0"/>
              <a:t>after each failure, wait twice as long as the previous attempt</a:t>
            </a:r>
            <a:r>
              <a:rPr lang="en-US" dirty="0"/>
              <a:t> before retrying. both frameworks avoid busy-polling, but </a:t>
            </a:r>
            <a:r>
              <a:rPr lang="en-US" dirty="0" err="1"/>
              <a:t>Crossplane's</a:t>
            </a:r>
            <a:r>
              <a:rPr lang="en-US" dirty="0"/>
              <a:t> optimizations are distributed across more components. which is one hypothesis for higher steady-state resource use, tested next.</a:t>
            </a:r>
          </a:p>
          <a:p>
            <a:br>
              <a:rPr lang="en-US" dirty="0"/>
            </a:b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39C5EB55-7B36-393C-2010-DC74BF1D7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59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3705DD7-BB81-0A0A-415E-05867F3D5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EA5FB3B6-4079-5519-92A9-E600FCB85F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/>
              <a:t>It depends… </a:t>
            </a:r>
            <a:r>
              <a:rPr lang="en-US" sz="1100" b="1" dirty="0" err="1"/>
              <a:t>obv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755496AB-0C60-8AB5-E181-CDAD5E64F8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01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6545070-400A-0F14-6C7B-9DD6880C8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DC072F86-BCB1-B39A-E3E2-E41F7F89A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66D34413-DD10-9A3F-64F6-C1D8726E91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57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EA263A2-4153-56F4-BC92-4A5663D14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262F23E6-AC52-C82A-D868-1FC39A25AF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9E4B478F-4EC5-8277-FFEF-ABE7B5255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43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2D291637-66E0-230F-394C-48C409EC6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0127D84D-12C5-330C-CC9D-20E4BE0D6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23700625-95C5-B90A-3290-C997D417E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930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5BDD35D3-C64C-4375-0350-DA081E46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1F3EEAD9-5F3D-6460-BC4A-4FF91D42B2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4B5649AC-E0A8-3B93-0D39-D095A6E77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963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F594FA2-3B03-86DC-A5B7-02CA2E514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9121A567-9923-5524-B9E6-7CBCED8E2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2ADDEC38-1A9B-9CB1-CB97-C2834EF704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765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0236F17-C1B1-C9CF-8800-146027CF5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009B6865-6382-0971-56B0-CE25C73AA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Control plane framework, declarative model, composition. Internal Development Platform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340902E1-B4FB-F313-0575-381FE0A4A8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74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0A9F554-82AE-85C6-BE7D-7ADF40DE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B1ACB7D6-B2C0-E20F-CBCA-D2A5CB9398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function-patch-and-transform è stateless (</a:t>
            </a:r>
            <a:r>
              <a:rPr lang="en-US" dirty="0" err="1"/>
              <a:t>nessuna</a:t>
            </a:r>
            <a:r>
              <a:rPr lang="en-US" dirty="0"/>
              <a:t> cache di </a:t>
            </a:r>
            <a:r>
              <a:rPr lang="en-US" dirty="0" err="1"/>
              <a:t>oggetti</a:t>
            </a:r>
            <a:r>
              <a:rPr lang="en-US" dirty="0"/>
              <a:t> </a:t>
            </a:r>
            <a:r>
              <a:rPr lang="en-US" dirty="0" err="1"/>
              <a:t>tracciati</a:t>
            </a:r>
            <a:r>
              <a:rPr lang="en-US" dirty="0"/>
              <a:t>) — le </a:t>
            </a:r>
            <a:r>
              <a:rPr lang="en-US" dirty="0" err="1"/>
              <a:t>variazioni</a:t>
            </a:r>
            <a:r>
              <a:rPr lang="en-US" dirty="0"/>
              <a:t> </a:t>
            </a:r>
            <a:r>
              <a:rPr lang="en-US" dirty="0" err="1"/>
              <a:t>osservate</a:t>
            </a:r>
            <a:r>
              <a:rPr lang="en-US" dirty="0"/>
              <a:t> </a:t>
            </a:r>
            <a:r>
              <a:rPr lang="en-US" dirty="0" err="1"/>
              <a:t>riflettono</a:t>
            </a:r>
            <a:r>
              <a:rPr lang="en-US" dirty="0"/>
              <a:t> il </a:t>
            </a:r>
            <a:r>
              <a:rPr lang="en-US" dirty="0" err="1"/>
              <a:t>comportamento</a:t>
            </a:r>
            <a:r>
              <a:rPr lang="en-US" dirty="0"/>
              <a:t> del garbage collector Go in idle, non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relazione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 con la batch size, a </a:t>
            </a:r>
            <a:r>
              <a:rPr lang="en-US" dirty="0" err="1"/>
              <a:t>differenza</a:t>
            </a:r>
            <a:r>
              <a:rPr lang="en-US" dirty="0"/>
              <a:t> delle </a:t>
            </a:r>
            <a:r>
              <a:rPr lang="en-US" dirty="0" err="1"/>
              <a:t>componenti</a:t>
            </a:r>
            <a:r>
              <a:rPr lang="en-US" dirty="0"/>
              <a:t> con cache </a:t>
            </a:r>
            <a:r>
              <a:rPr lang="en-US" dirty="0" err="1"/>
              <a:t>persistente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BAE4207D-6859-6890-DDCB-11202E08C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197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6B46B507-3F20-F699-F80E-CB982326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f4563ff73_0_78:notes">
            <a:extLst>
              <a:ext uri="{FF2B5EF4-FFF2-40B4-BE49-F238E27FC236}">
                <a16:creationId xmlns:a16="http://schemas.microsoft.com/office/drawing/2014/main" id="{89FE23AD-65A3-9346-E3FB-A761C382B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f4563ff73_0_78:notes">
            <a:extLst>
              <a:ext uri="{FF2B5EF4-FFF2-40B4-BE49-F238E27FC236}">
                <a16:creationId xmlns:a16="http://schemas.microsoft.com/office/drawing/2014/main" id="{0DE0A408-28D5-9166-C410-A8D79DD38E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109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f4563ff73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ef4563ff73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B65C8258-ABF1-5D04-AED3-B50A71569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CAAB5A4C-DA87-BA26-44D9-4C49A8EAA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Strong separation of the layers, Multiple reconciliation layers introduce overhead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20C409F7-D510-6526-927E-7661CDA72F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815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BE29F1E-0032-E247-9C19-3241C1FD7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3B9DAD09-8985-450B-4E46-F1A7682230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Strong separation of the layers, Multiple reconciliation layers introduce overhead</a:t>
            </a: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C8BE1C5A-3787-C6B7-0757-A312DB404F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899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F15ACB3-E2A3-6860-B994-66CBF116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C356C650-5882-B701-9D00-DC0BF755B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Crossplane standardizes multi-resource orchestration; Kubebuilder gives direct control over every reconciliation step.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83809112-65AC-37FE-F1A1-9B3B46E90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060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AF3F9182-3361-2C14-3BA8-288C799E8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75185A01-A411-A835-4C93-EF7847867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Crossplane standardizes multi-resource orchestration; Kubebuilder gives direct control over every reconciliation step.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5391DD1C-225D-3609-855D-594411A5D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02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132BE6D4-1555-98F0-BB79-290AA29A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F546A280-0CAB-4FF8-0848-FE8BF44FF0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Crossplane standardizes multi-resource orchestration; Kubebuilder gives direct control over every reconciliation step.</a:t>
            </a:r>
            <a:endParaRPr b="0"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BFF49FAA-4432-D6A4-A183-129A3A07C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093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6869B14A-C006-A937-CB24-C54FDF94D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f4563ff73_0_4:notes">
            <a:extLst>
              <a:ext uri="{FF2B5EF4-FFF2-40B4-BE49-F238E27FC236}">
                <a16:creationId xmlns:a16="http://schemas.microsoft.com/office/drawing/2014/main" id="{3C4E2BAE-B960-5864-7945-38DCB5B51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g3ef4563ff73_0_4:notes">
            <a:extLst>
              <a:ext uri="{FF2B5EF4-FFF2-40B4-BE49-F238E27FC236}">
                <a16:creationId xmlns:a16="http://schemas.microsoft.com/office/drawing/2014/main" id="{A8376354-BC9E-9CCD-B7CF-4C9B9F6594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5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egmentio/kafka-go" TargetMode="External"/><Relationship Id="rId5" Type="http://schemas.openxmlformats.org/officeDocument/2006/relationships/hyperlink" Target="https://docs.crossplane.io/v2.3" TargetMode="External"/><Relationship Id="rId4" Type="http://schemas.openxmlformats.org/officeDocument/2006/relationships/hyperlink" Target="https://book.kubebuilder.io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05250" y="2660483"/>
            <a:ext cx="115815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6600" b="1" i="1" dirty="0"/>
              <a:t>Crossplane vs Kubebuilder </a:t>
            </a:r>
            <a:endParaRPr sz="6600" b="1" dirty="0">
              <a:solidFill>
                <a:schemeClr val="dk1"/>
              </a:solidFill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0" y="5117440"/>
            <a:ext cx="121920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Infrastructures for Cloud Computing and Big Data M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Lorenzo De Luca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0001240461 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305200" y="3860075"/>
            <a:ext cx="75816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dirty="0"/>
              <a:t>paradigms, abstraction, complexity, extensibility and performance comparison with a common use case implementation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55B22E-AE21-74C2-8746-91B386CCD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73" y="310296"/>
            <a:ext cx="2457454" cy="1817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31BA29A-5080-7AFB-47F5-63C00FDD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E11895F8-9A7E-A6BA-0E4B-B722BA6717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FD33CEB0-2D9E-EB57-1439-7E001FE88283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Kubernetes Operators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EF13DAB9-2BC7-970F-69E8-AAAA292D738F}"/>
              </a:ext>
            </a:extLst>
          </p:cNvPr>
          <p:cNvSpPr txBox="1"/>
          <p:nvPr/>
        </p:nvSpPr>
        <p:spPr>
          <a:xfrm>
            <a:off x="417864" y="1206073"/>
            <a:ext cx="1116308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buClr>
                <a:schemeClr val="dk1"/>
              </a:buClr>
              <a:buSzPts val="3000"/>
            </a:pPr>
            <a:r>
              <a:rPr lang="en-US" sz="2400" dirty="0"/>
              <a:t>A Kubernetes Operator extends the K8s API with a Custom Resource (CR) and a controller that continuously reconciles actual state toward desired state.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81A99B-FC2F-BDAE-83F1-DC71957BB3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dirty="0"/>
          </a:p>
        </p:txBody>
      </p:sp>
      <p:sp>
        <p:nvSpPr>
          <p:cNvPr id="7" name="Google Shape;94;p14">
            <a:extLst>
              <a:ext uri="{FF2B5EF4-FFF2-40B4-BE49-F238E27FC236}">
                <a16:creationId xmlns:a16="http://schemas.microsoft.com/office/drawing/2014/main" id="{848F549A-5171-A48E-5B66-2206AFA1C8C6}"/>
              </a:ext>
            </a:extLst>
          </p:cNvPr>
          <p:cNvSpPr txBox="1"/>
          <p:nvPr/>
        </p:nvSpPr>
        <p:spPr>
          <a:xfrm>
            <a:off x="417864" y="2404650"/>
            <a:ext cx="1116308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buClr>
                <a:schemeClr val="dk1"/>
              </a:buClr>
              <a:buSzPts val="3000"/>
            </a:pPr>
            <a:r>
              <a:rPr lang="en-US" sz="2400" dirty="0"/>
              <a:t>Building operators can be approached at different levels of abstraction: 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9" name="Google Shape;94;p14">
            <a:extLst>
              <a:ext uri="{FF2B5EF4-FFF2-40B4-BE49-F238E27FC236}">
                <a16:creationId xmlns:a16="http://schemas.microsoft.com/office/drawing/2014/main" id="{1DB1C9A8-5450-BDF8-CAF0-61B4104E6176}"/>
              </a:ext>
            </a:extLst>
          </p:cNvPr>
          <p:cNvSpPr txBox="1"/>
          <p:nvPr/>
        </p:nvSpPr>
        <p:spPr>
          <a:xfrm>
            <a:off x="1130968" y="3070136"/>
            <a:ext cx="10449976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buClr>
                <a:schemeClr val="dk1"/>
              </a:buClr>
              <a:buSzPts val="3000"/>
            </a:pPr>
            <a:r>
              <a:rPr lang="en-US" sz="2400" b="1" dirty="0"/>
              <a:t>Low-level</a:t>
            </a:r>
            <a:r>
              <a:rPr lang="en-US" sz="2400" dirty="0"/>
              <a:t>: the developer writes all the controller logic</a:t>
            </a:r>
          </a:p>
          <a:p>
            <a:pPr marL="381000" indent="-342900">
              <a:buClr>
                <a:schemeClr val="dk1"/>
              </a:buClr>
              <a:buSzPts val="3000"/>
              <a:buFontTx/>
              <a:buChar char="-"/>
            </a:pPr>
            <a:endParaRPr lang="en-US" sz="2400" dirty="0"/>
          </a:p>
          <a:p>
            <a:pPr marL="38100">
              <a:buClr>
                <a:schemeClr val="dk1"/>
              </a:buClr>
              <a:buSzPts val="3000"/>
            </a:pPr>
            <a:r>
              <a:rPr lang="en-US" sz="2400" b="1" dirty="0"/>
              <a:t>High-level</a:t>
            </a:r>
            <a:r>
              <a:rPr lang="en-US" sz="2400" dirty="0"/>
              <a:t>: the developer describe what he wants and let a platform generate the controller logic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FEAB3335-E610-AA72-371F-851341D3BCD9}"/>
              </a:ext>
            </a:extLst>
          </p:cNvPr>
          <p:cNvSpPr txBox="1"/>
          <p:nvPr/>
        </p:nvSpPr>
        <p:spPr>
          <a:xfrm>
            <a:off x="417864" y="5088011"/>
            <a:ext cx="1116308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buClr>
                <a:schemeClr val="dk1"/>
              </a:buClr>
              <a:buSzPts val="3000"/>
            </a:pPr>
            <a:r>
              <a:rPr lang="en-US" sz="2400" dirty="0">
                <a:solidFill>
                  <a:schemeClr val="dk1"/>
                </a:solidFill>
              </a:rPr>
              <a:t>Both approaches solve the same problem of automating resource lifecycle but target different users and different tradeoffs.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428987E-3B43-15D9-ABDC-58EBAE01C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1308" y="79406"/>
            <a:ext cx="1159271" cy="112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989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3B1798F-2870-F963-ECDE-22E148A6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5F795289-B3D9-5405-B66B-D9E4EAC9D7F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D0623939-FFDE-E6AB-EE59-A0DC21541D0B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Research Objective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E843CAC4-D2AC-5075-D007-721B403D5B57}"/>
              </a:ext>
            </a:extLst>
          </p:cNvPr>
          <p:cNvSpPr txBox="1"/>
          <p:nvPr/>
        </p:nvSpPr>
        <p:spPr>
          <a:xfrm>
            <a:off x="417864" y="1206073"/>
            <a:ext cx="1116308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buClr>
                <a:schemeClr val="dk1"/>
              </a:buClr>
              <a:buSzPts val="3000"/>
            </a:pPr>
            <a:r>
              <a:rPr lang="en-US" sz="2400" dirty="0"/>
              <a:t>Compare Crossplane and Kubebuilder to compare the two paradigms for building Kubernetes Operators.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F6E6A7-E56C-D098-1F57-73D1D4D812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dirty="0"/>
          </a:p>
        </p:txBody>
      </p:sp>
      <p:sp>
        <p:nvSpPr>
          <p:cNvPr id="7" name="Google Shape;94;p14">
            <a:extLst>
              <a:ext uri="{FF2B5EF4-FFF2-40B4-BE49-F238E27FC236}">
                <a16:creationId xmlns:a16="http://schemas.microsoft.com/office/drawing/2014/main" id="{1EC5D29E-1CC2-6063-BB05-6AA39E56345A}"/>
              </a:ext>
            </a:extLst>
          </p:cNvPr>
          <p:cNvSpPr txBox="1"/>
          <p:nvPr/>
        </p:nvSpPr>
        <p:spPr>
          <a:xfrm>
            <a:off x="417864" y="2123280"/>
            <a:ext cx="1116308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buClr>
                <a:schemeClr val="dk1"/>
              </a:buClr>
              <a:buSzPts val="3000"/>
            </a:pPr>
            <a:r>
              <a:rPr lang="en-US" sz="2400" dirty="0"/>
              <a:t>Will be evaluated: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9" name="Google Shape;94;p14">
            <a:extLst>
              <a:ext uri="{FF2B5EF4-FFF2-40B4-BE49-F238E27FC236}">
                <a16:creationId xmlns:a16="http://schemas.microsoft.com/office/drawing/2014/main" id="{BF1566FD-8C0D-C497-0001-61E9F1697660}"/>
              </a:ext>
            </a:extLst>
          </p:cNvPr>
          <p:cNvSpPr txBox="1"/>
          <p:nvPr/>
        </p:nvSpPr>
        <p:spPr>
          <a:xfrm>
            <a:off x="1324160" y="2601468"/>
            <a:ext cx="10449976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0" indent="-3429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2400" dirty="0"/>
              <a:t>Architectural model and abstraction level</a:t>
            </a:r>
          </a:p>
          <a:p>
            <a:pPr marL="381000" indent="-3429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2400" dirty="0"/>
              <a:t>Development complexity and extensibility</a:t>
            </a:r>
          </a:p>
          <a:p>
            <a:pPr marL="381000" indent="-3429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2400" dirty="0"/>
              <a:t>Internal optimizations adopted by each framework</a:t>
            </a:r>
          </a:p>
          <a:p>
            <a:pPr marL="381000" indent="-3429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2400" dirty="0"/>
              <a:t>Resource consumption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68CF50A9-3799-6769-7FF0-C55D6B9DB6BC}"/>
              </a:ext>
            </a:extLst>
          </p:cNvPr>
          <p:cNvSpPr txBox="1"/>
          <p:nvPr/>
        </p:nvSpPr>
        <p:spPr>
          <a:xfrm>
            <a:off x="417864" y="5002095"/>
            <a:ext cx="10449976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buClr>
                <a:schemeClr val="dk1"/>
              </a:buClr>
              <a:buSzPts val="3000"/>
            </a:pPr>
            <a:r>
              <a:rPr lang="en-US" sz="2400" i="1" dirty="0"/>
              <a:t>does the convenience of the extra abstraction layer of Crossplane cost more in resources/latency than it saves in development effort, compared to a hand-written Kubebuilder controller?</a:t>
            </a:r>
            <a:endParaRPr lang="en-US"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392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D3B6F108-FBB4-4684-ABEE-EBB301A8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953C1BFB-DD5E-0DDA-063C-F514F8C1AE4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35EE0FE3-3CD9-AA7B-2640-4DF9883331E1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Crossplane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2D1651A3-B8DE-D555-634B-46F770456606}"/>
              </a:ext>
            </a:extLst>
          </p:cNvPr>
          <p:cNvSpPr txBox="1"/>
          <p:nvPr/>
        </p:nvSpPr>
        <p:spPr>
          <a:xfrm>
            <a:off x="772510" y="1146178"/>
            <a:ext cx="11163080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9530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Universal Control Plane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Declarative composition model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Strong for composition and platform engineering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Logic in YAML + patch/transform functions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Strength: consistency and reuse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Limitation: less flexible for complex imperative logic</a:t>
            </a:r>
            <a:endParaRPr lang="en-US" sz="32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381B71-96FB-4B12-C0B5-D478C9C09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620A1FD-CA56-87ED-AB38-A5B540C7B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1240550" y="201021"/>
            <a:ext cx="951450" cy="146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79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772CE539-57AD-CD9A-9932-8834BF419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5C2E127D-0EB6-BD1D-D691-D048D885C5A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8D1D3DED-EB35-046A-1C3E-A45E5B34D382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9873D292-F2AE-1D74-7C19-E3E8A5EFF314}"/>
              </a:ext>
            </a:extLst>
          </p:cNvPr>
          <p:cNvSpPr txBox="1"/>
          <p:nvPr/>
        </p:nvSpPr>
        <p:spPr>
          <a:xfrm>
            <a:off x="772510" y="1146178"/>
            <a:ext cx="11163080" cy="4616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Low-level Go SDK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>
                <a:solidFill>
                  <a:schemeClr val="dk1"/>
                </a:solidFill>
              </a:rPr>
              <a:t>Imperative control model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Strong for writing specialized controllers from scratch.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Logic in Go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Strength: maximum flexibility</a:t>
            </a:r>
          </a:p>
          <a:p>
            <a:pPr marL="495300" lvl="0" indent="-457200">
              <a:lnSpc>
                <a:spcPct val="150000"/>
              </a:lnSpc>
              <a:buClr>
                <a:schemeClr val="dk1"/>
              </a:buClr>
              <a:buSzPts val="3000"/>
              <a:buFontTx/>
              <a:buChar char="-"/>
            </a:pPr>
            <a:r>
              <a:rPr lang="en-US" sz="3200" dirty="0"/>
              <a:t>Limitation: higher coding and maintenance effort</a:t>
            </a:r>
            <a:endParaRPr lang="en-US" sz="3200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7D586E-CB8F-15DD-51AA-AF437F9BDE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C7F9B1-F813-5CA2-74D8-AB50394FCF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032"/>
          <a:stretch>
            <a:fillRect/>
          </a:stretch>
        </p:blipFill>
        <p:spPr>
          <a:xfrm>
            <a:off x="10443872" y="160671"/>
            <a:ext cx="1491718" cy="26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62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77EAE4B2-D08D-222A-02A3-9A869D7C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18EF64D6-70E7-2F81-1DE9-006A33341341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Architecture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A45E10-EA24-46E1-6C1D-8FE2D39DA5A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2FC8D48-62C2-DA99-F93A-C3895C02A8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5986"/>
          <a:stretch>
            <a:fillRect/>
          </a:stretch>
        </p:blipFill>
        <p:spPr>
          <a:xfrm>
            <a:off x="4970596" y="795895"/>
            <a:ext cx="732422" cy="11300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93ED8E-255C-1433-43B0-F49F205A196F}"/>
              </a:ext>
            </a:extLst>
          </p:cNvPr>
          <p:cNvSpPr txBox="1"/>
          <p:nvPr/>
        </p:nvSpPr>
        <p:spPr>
          <a:xfrm>
            <a:off x="1" y="968502"/>
            <a:ext cx="57708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3AF9A9-DF99-6ED2-B533-A3B31AFFAD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0C001120-C51E-B4C2-2E6E-4A632C4D32E6}"/>
              </a:ext>
            </a:extLst>
          </p:cNvPr>
          <p:cNvSpPr txBox="1"/>
          <p:nvPr/>
        </p:nvSpPr>
        <p:spPr>
          <a:xfrm>
            <a:off x="5785946" y="926206"/>
            <a:ext cx="640605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DA20A7-5E2E-B473-0452-79ED6446414F}"/>
              </a:ext>
            </a:extLst>
          </p:cNvPr>
          <p:cNvSpPr txBox="1"/>
          <p:nvPr/>
        </p:nvSpPr>
        <p:spPr>
          <a:xfrm>
            <a:off x="816135" y="2925383"/>
            <a:ext cx="49258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Crossplane engine renders the Composition  and generates Managed Resources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FEEE42-B675-4C1E-8D9D-0553C92E2BE3}"/>
              </a:ext>
            </a:extLst>
          </p:cNvPr>
          <p:cNvSpPr txBox="1"/>
          <p:nvPr/>
        </p:nvSpPr>
        <p:spPr>
          <a:xfrm>
            <a:off x="6284036" y="2009580"/>
            <a:ext cx="52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Informer watches API server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FEC89E-1AAC-0CFF-AFB8-DE3234481424}"/>
              </a:ext>
            </a:extLst>
          </p:cNvPr>
          <p:cNvSpPr txBox="1"/>
          <p:nvPr/>
        </p:nvSpPr>
        <p:spPr>
          <a:xfrm>
            <a:off x="816136" y="2009580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User applies a Claim (or XR directly)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4352DF-347C-2D1D-B14C-3768297B99C7}"/>
              </a:ext>
            </a:extLst>
          </p:cNvPr>
          <p:cNvSpPr txBox="1"/>
          <p:nvPr/>
        </p:nvSpPr>
        <p:spPr>
          <a:xfrm>
            <a:off x="6284036" y="3196528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Events gets added to the work queue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1F1146-CCC5-E806-CE62-5E7B71A06530}"/>
              </a:ext>
            </a:extLst>
          </p:cNvPr>
          <p:cNvSpPr txBox="1"/>
          <p:nvPr/>
        </p:nvSpPr>
        <p:spPr>
          <a:xfrm>
            <a:off x="6284036" y="4268914"/>
            <a:ext cx="4925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Reconcile() runs custom Go logic and directly creates/updates target resources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9C8C9D-EEF0-ECA8-949C-FE44C4538A89}"/>
              </a:ext>
            </a:extLst>
          </p:cNvPr>
          <p:cNvSpPr txBox="1"/>
          <p:nvPr/>
        </p:nvSpPr>
        <p:spPr>
          <a:xfrm>
            <a:off x="6284037" y="5504034"/>
            <a:ext cx="49258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Status written back to CR by the developer's code</a:t>
            </a:r>
          </a:p>
        </p:txBody>
      </p:sp>
      <p:pic>
        <p:nvPicPr>
          <p:cNvPr id="33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EAC2283E-87FB-2486-6F81-65EBF223282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5279E6-0A11-D243-6275-961285439814}"/>
              </a:ext>
            </a:extLst>
          </p:cNvPr>
          <p:cNvSpPr txBox="1"/>
          <p:nvPr/>
        </p:nvSpPr>
        <p:spPr>
          <a:xfrm>
            <a:off x="781491" y="4349860"/>
            <a:ext cx="4925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Each Provider reconciles its own Managed Resources against the real 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68322B-277E-AC15-1A82-8F3858B9D2B1}"/>
              </a:ext>
            </a:extLst>
          </p:cNvPr>
          <p:cNvSpPr txBox="1"/>
          <p:nvPr/>
        </p:nvSpPr>
        <p:spPr>
          <a:xfrm>
            <a:off x="781491" y="5504035"/>
            <a:ext cx="4925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Status aggregated bottom-up: </a:t>
            </a:r>
          </a:p>
          <a:p>
            <a:pPr algn="ctr"/>
            <a:r>
              <a:rPr lang="en-US" sz="1800" b="1" dirty="0"/>
              <a:t>Provider -&gt; MR -&gt; XR → Claim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5F5E35A-BD07-FA1E-350D-930BD75BC01C}"/>
              </a:ext>
            </a:extLst>
          </p:cNvPr>
          <p:cNvCxnSpPr>
            <a:cxnSpLocks/>
            <a:stCxn id="13" idx="1"/>
          </p:cNvCxnSpPr>
          <p:nvPr/>
        </p:nvCxnSpPr>
        <p:spPr>
          <a:xfrm>
            <a:off x="5785946" y="1364773"/>
            <a:ext cx="0" cy="4518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Arrow: Down 26">
            <a:extLst>
              <a:ext uri="{FF2B5EF4-FFF2-40B4-BE49-F238E27FC236}">
                <a16:creationId xmlns:a16="http://schemas.microsoft.com/office/drawing/2014/main" id="{13F3ED5E-46F2-FA50-3524-46C22C47C88A}"/>
              </a:ext>
            </a:extLst>
          </p:cNvPr>
          <p:cNvSpPr/>
          <p:nvPr/>
        </p:nvSpPr>
        <p:spPr>
          <a:xfrm>
            <a:off x="8786625" y="2598256"/>
            <a:ext cx="252654" cy="48460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8A79EE88-9506-BF91-26DB-31EECA4B62B4}"/>
              </a:ext>
            </a:extLst>
          </p:cNvPr>
          <p:cNvSpPr/>
          <p:nvPr/>
        </p:nvSpPr>
        <p:spPr>
          <a:xfrm>
            <a:off x="8771150" y="3785914"/>
            <a:ext cx="252654" cy="48460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Down 36">
            <a:extLst>
              <a:ext uri="{FF2B5EF4-FFF2-40B4-BE49-F238E27FC236}">
                <a16:creationId xmlns:a16="http://schemas.microsoft.com/office/drawing/2014/main" id="{3AD38307-0693-8B4A-4D5E-BC2F693A30F3}"/>
              </a:ext>
            </a:extLst>
          </p:cNvPr>
          <p:cNvSpPr/>
          <p:nvPr/>
        </p:nvSpPr>
        <p:spPr>
          <a:xfrm>
            <a:off x="8771150" y="4951631"/>
            <a:ext cx="252654" cy="48460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1B1237EF-FB77-B214-692F-0947AF6B67D6}"/>
              </a:ext>
            </a:extLst>
          </p:cNvPr>
          <p:cNvSpPr/>
          <p:nvPr/>
        </p:nvSpPr>
        <p:spPr>
          <a:xfrm>
            <a:off x="3152714" y="2409845"/>
            <a:ext cx="252654" cy="48460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AD17AE7F-BD0E-5DD1-72F8-4E0A7D9FB1BA}"/>
              </a:ext>
            </a:extLst>
          </p:cNvPr>
          <p:cNvSpPr/>
          <p:nvPr/>
        </p:nvSpPr>
        <p:spPr>
          <a:xfrm>
            <a:off x="3178615" y="3832260"/>
            <a:ext cx="252654" cy="48460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63A47D84-07CE-316A-55BC-EBE87AA14671}"/>
              </a:ext>
            </a:extLst>
          </p:cNvPr>
          <p:cNvSpPr/>
          <p:nvPr/>
        </p:nvSpPr>
        <p:spPr>
          <a:xfrm>
            <a:off x="3178615" y="5070989"/>
            <a:ext cx="252654" cy="48460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8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1F8B248E-0B69-951E-94DC-C61D8676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8B4A617C-44B6-D31E-7390-FDE437856CFD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Features comparison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BF7A95-2AC8-7889-0EDA-9CAE98368A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01032E-7E18-77AC-0225-024521D17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223470"/>
              </p:ext>
            </p:extLst>
          </p:nvPr>
        </p:nvGraphicFramePr>
        <p:xfrm>
          <a:off x="787357" y="1110726"/>
          <a:ext cx="10617285" cy="52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9095">
                  <a:extLst>
                    <a:ext uri="{9D8B030D-6E8A-4147-A177-3AD203B41FA5}">
                      <a16:colId xmlns:a16="http://schemas.microsoft.com/office/drawing/2014/main" val="550325215"/>
                    </a:ext>
                  </a:extLst>
                </a:gridCol>
                <a:gridCol w="4088762">
                  <a:extLst>
                    <a:ext uri="{9D8B030D-6E8A-4147-A177-3AD203B41FA5}">
                      <a16:colId xmlns:a16="http://schemas.microsoft.com/office/drawing/2014/main" val="2557590795"/>
                    </a:ext>
                  </a:extLst>
                </a:gridCol>
                <a:gridCol w="2989428">
                  <a:extLst>
                    <a:ext uri="{9D8B030D-6E8A-4147-A177-3AD203B41FA5}">
                      <a16:colId xmlns:a16="http://schemas.microsoft.com/office/drawing/2014/main" val="3608665150"/>
                    </a:ext>
                  </a:extLst>
                </a:gridCol>
              </a:tblGrid>
              <a:tr h="5220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Aspect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Crossplane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33101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bstraction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High(declarative)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Low(imperative)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943250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Architecture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Multi-layer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Single controller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879072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Development effort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687874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solidFill>
                            <a:schemeClr val="tx1"/>
                          </a:solidFill>
                        </a:rPr>
                        <a:t>Extensibility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Providers, </a:t>
                      </a:r>
                      <a:r>
                        <a:rPr lang="it-IT" dirty="0" err="1">
                          <a:solidFill>
                            <a:schemeClr val="tx1"/>
                          </a:solidFill>
                        </a:rPr>
                        <a:t>Functions</a:t>
                      </a:r>
                      <a:r>
                        <a:rPr lang="it-IT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it-IT" dirty="0" err="1">
                          <a:solidFill>
                            <a:schemeClr val="tx1"/>
                          </a:solidFill>
                        </a:rPr>
                        <a:t>patching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Arbitrary</a:t>
                      </a:r>
                      <a:r>
                        <a:rPr lang="it-IT" dirty="0"/>
                        <a:t> code, </a:t>
                      </a:r>
                      <a:r>
                        <a:rPr lang="it-IT" dirty="0" err="1"/>
                        <a:t>any</a:t>
                      </a:r>
                      <a:r>
                        <a:rPr lang="it-IT" dirty="0"/>
                        <a:t> library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500908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Flexibility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Limited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09154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Reusability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609361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Performance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Higher overhead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More efficient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581707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Debugging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Harder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Easier(centralized)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260371"/>
                  </a:ext>
                </a:extLst>
              </a:tr>
              <a:tr h="522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Best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Less layers, more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798811"/>
                  </a:ext>
                </a:extLst>
              </a:tr>
            </a:tbl>
          </a:graphicData>
        </a:graphic>
      </p:graphicFrame>
      <p:pic>
        <p:nvPicPr>
          <p:cNvPr id="1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0F49D25C-66AD-6510-EFDD-96E9807ED620}"/>
              </a:ext>
            </a:extLst>
          </p:cNvPr>
          <p:cNvPicPr preferRelativeResize="0"/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1B40DD-179A-1A4C-F5F7-3F84483AA83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rcRect r="83032"/>
          <a:stretch>
            <a:fillRect/>
          </a:stretch>
        </p:blipFill>
        <p:spPr>
          <a:xfrm>
            <a:off x="10319863" y="1588278"/>
            <a:ext cx="1349519" cy="2387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5804B0E-5E07-6C06-9C36-EDF6504737DB}"/>
              </a:ext>
            </a:extLst>
          </p:cNvPr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986"/>
          <a:stretch>
            <a:fillRect/>
          </a:stretch>
        </p:blipFill>
        <p:spPr>
          <a:xfrm>
            <a:off x="1048898" y="4628408"/>
            <a:ext cx="966538" cy="149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187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145123F6-97EB-ED90-7F3F-E40B2473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55BA8BAA-1141-8D3E-68A6-08131706E96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05D936C9-6148-CB0D-0A4D-6E60D99BC322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it-IT" sz="4500" b="1" dirty="0">
                <a:solidFill>
                  <a:schemeClr val="dk1"/>
                </a:solidFill>
              </a:rPr>
              <a:t>O</a:t>
            </a:r>
            <a:r>
              <a:rPr lang="en-US" sz="4500" b="1" dirty="0" err="1">
                <a:solidFill>
                  <a:schemeClr val="dk1"/>
                </a:solidFill>
              </a:rPr>
              <a:t>ptimizations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671470-FDF5-88A6-1BA4-E8482844449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dirty="0"/>
          </a:p>
        </p:txBody>
      </p:sp>
      <p:sp>
        <p:nvSpPr>
          <p:cNvPr id="7" name="Google Shape;94;p14">
            <a:extLst>
              <a:ext uri="{FF2B5EF4-FFF2-40B4-BE49-F238E27FC236}">
                <a16:creationId xmlns:a16="http://schemas.microsoft.com/office/drawing/2014/main" id="{F630B606-7625-06E9-96AE-E836B54EC147}"/>
              </a:ext>
            </a:extLst>
          </p:cNvPr>
          <p:cNvSpPr txBox="1"/>
          <p:nvPr/>
        </p:nvSpPr>
        <p:spPr>
          <a:xfrm>
            <a:off x="417864" y="1157584"/>
            <a:ext cx="1116308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400" dirty="0"/>
              <a:t>Crossplane: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400" dirty="0"/>
              <a:t>	- Provider-level connection reuse/pooling toward external APIs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400" dirty="0"/>
              <a:t>	- Leader election prevents duplicate reconciliation in multi-replica setups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400" dirty="0">
                <a:solidFill>
                  <a:schemeClr val="dk1"/>
                </a:solidFill>
              </a:rPr>
              <a:t>	- </a:t>
            </a:r>
            <a:r>
              <a:rPr lang="en-US" sz="2400" dirty="0"/>
              <a:t>Multiple controllers run concurrently (core + each provider + functions)</a:t>
            </a:r>
            <a:endParaRPr lang="en-US" sz="2400" dirty="0">
              <a:solidFill>
                <a:schemeClr val="dk1"/>
              </a:solidFill>
            </a:endParaRPr>
          </a:p>
        </p:txBody>
      </p:sp>
      <p:sp>
        <p:nvSpPr>
          <p:cNvPr id="5" name="Google Shape;94;p14">
            <a:extLst>
              <a:ext uri="{FF2B5EF4-FFF2-40B4-BE49-F238E27FC236}">
                <a16:creationId xmlns:a16="http://schemas.microsoft.com/office/drawing/2014/main" id="{D552E4BA-A30C-8B1B-703D-C60C7EEB1CE8}"/>
              </a:ext>
            </a:extLst>
          </p:cNvPr>
          <p:cNvSpPr txBox="1"/>
          <p:nvPr/>
        </p:nvSpPr>
        <p:spPr>
          <a:xfrm>
            <a:off x="417864" y="3804501"/>
            <a:ext cx="1116308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buClr>
                <a:schemeClr val="dk1"/>
              </a:buClr>
              <a:buSzPts val="3000"/>
            </a:pPr>
            <a:r>
              <a:rPr lang="en-US" sz="2400" dirty="0"/>
              <a:t>Kubebuilder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400" dirty="0"/>
              <a:t>	- Informer cache: reconciler reads from local cache, not the API server</a:t>
            </a:r>
            <a:r>
              <a:rPr lang="en-US" sz="2400" dirty="0">
                <a:solidFill>
                  <a:schemeClr val="dk1"/>
                </a:solidFill>
              </a:rPr>
              <a:t>	- </a:t>
            </a:r>
            <a:r>
              <a:rPr lang="en-US" sz="2400" dirty="0"/>
              <a:t>Work queue with exponential backoff on repeated failures</a:t>
            </a:r>
          </a:p>
          <a:p>
            <a:pPr marL="38100">
              <a:buClr>
                <a:schemeClr val="dk1"/>
              </a:buClr>
              <a:buSzPts val="3000"/>
            </a:pPr>
            <a:r>
              <a:rPr lang="en-US" sz="2400" dirty="0"/>
              <a:t>	- Managed Resource state cached; reconciliation skipped when observed 		  state already matches desired state</a:t>
            </a:r>
            <a:endParaRPr lang="en-US" sz="2400" dirty="0">
              <a:solidFill>
                <a:schemeClr val="dk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5F65AA-CB42-F001-BA17-CC04A3374C4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rcRect r="83032"/>
          <a:stretch>
            <a:fillRect/>
          </a:stretch>
        </p:blipFill>
        <p:spPr>
          <a:xfrm>
            <a:off x="32400" y="4239980"/>
            <a:ext cx="1349519" cy="23875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D709BBA-13AF-CFCB-4932-5320EDD65C19}"/>
              </a:ext>
            </a:extLst>
          </p:cNvPr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986"/>
          <a:stretch>
            <a:fillRect/>
          </a:stretch>
        </p:blipFill>
        <p:spPr>
          <a:xfrm>
            <a:off x="10614406" y="832814"/>
            <a:ext cx="966538" cy="149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112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393A62E-B2CD-E29F-8FF2-13C51D83E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9A059039-86A5-9257-45C3-93640E4355BD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So… Which one is better? It depends…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E7C344-BF6E-54E3-2B8C-F3FCD02C537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52CC27-26D7-5403-A982-AA4F4F7FA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10047"/>
              </p:ext>
            </p:extLst>
          </p:nvPr>
        </p:nvGraphicFramePr>
        <p:xfrm>
          <a:off x="838199" y="1137295"/>
          <a:ext cx="10617284" cy="51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9095">
                  <a:extLst>
                    <a:ext uri="{9D8B030D-6E8A-4147-A177-3AD203B41FA5}">
                      <a16:colId xmlns:a16="http://schemas.microsoft.com/office/drawing/2014/main" val="550325215"/>
                    </a:ext>
                  </a:extLst>
                </a:gridCol>
                <a:gridCol w="4088761">
                  <a:extLst>
                    <a:ext uri="{9D8B030D-6E8A-4147-A177-3AD203B41FA5}">
                      <a16:colId xmlns:a16="http://schemas.microsoft.com/office/drawing/2014/main" val="2557590795"/>
                    </a:ext>
                  </a:extLst>
                </a:gridCol>
                <a:gridCol w="2989428">
                  <a:extLst>
                    <a:ext uri="{9D8B030D-6E8A-4147-A177-3AD203B41FA5}">
                      <a16:colId xmlns:a16="http://schemas.microsoft.com/office/drawing/2014/main" val="3608665150"/>
                    </a:ext>
                  </a:extLst>
                </a:gridCol>
              </a:tblGrid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Scenario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Better choice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331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 infrastructure composition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Crossplane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Declarative and reusable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94325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Internal Developer Platform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Crossplane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User-friendly claims and abstractions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87907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Multi-resource self-service APIs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Crossplane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Composition model fits well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68787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Complex conditional logic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control in 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0915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 external API integration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Any Go library can be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60936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Fine-grained lifecycle control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Reconciliation is fully programmable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5817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Provisioning latency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Fewer controller layers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26037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Debuggability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Kubebuilder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Less layers, more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6798811"/>
                  </a:ext>
                </a:extLst>
              </a:tr>
            </a:tbl>
          </a:graphicData>
        </a:graphic>
      </p:graphicFrame>
      <p:pic>
        <p:nvPicPr>
          <p:cNvPr id="1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25F69D0D-2A57-B490-BF9C-E202DAD81211}"/>
              </a:ext>
            </a:extLst>
          </p:cNvPr>
          <p:cNvPicPr preferRelativeResize="0"/>
          <p:nvPr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054588-5D80-9C00-E286-9A5012D3C2E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8000"/>
          </a:blip>
          <a:srcRect r="83032"/>
          <a:stretch>
            <a:fillRect/>
          </a:stretch>
        </p:blipFill>
        <p:spPr>
          <a:xfrm>
            <a:off x="10319863" y="1588278"/>
            <a:ext cx="1349519" cy="238752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FACFDC4-D44D-4557-4266-37E66E58D47F}"/>
              </a:ext>
            </a:extLst>
          </p:cNvPr>
          <p:cNvPicPr>
            <a:picLocks noChangeAspect="1"/>
          </p:cNvPicPr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986"/>
          <a:stretch>
            <a:fillRect/>
          </a:stretch>
        </p:blipFill>
        <p:spPr>
          <a:xfrm>
            <a:off x="760141" y="4869039"/>
            <a:ext cx="966538" cy="1491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11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6322B3F2-7BF0-AA03-CE52-CFE9AA5D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5A27422B-4741-5789-E041-670EEFB9AAFC}"/>
              </a:ext>
            </a:extLst>
          </p:cNvPr>
          <p:cNvSpPr txBox="1"/>
          <p:nvPr/>
        </p:nvSpPr>
        <p:spPr>
          <a:xfrm>
            <a:off x="305250" y="2660483"/>
            <a:ext cx="115815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6600" b="1" i="1" dirty="0">
                <a:solidFill>
                  <a:schemeClr val="dk1"/>
                </a:solidFill>
              </a:rPr>
              <a:t>Kafka Topic Self-Service</a:t>
            </a:r>
            <a:endParaRPr sz="66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AE49C0-C479-BDC8-E65C-B48F18EA388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FFE5A-FDC9-91C6-1870-E05CFD3E3AA6}"/>
              </a:ext>
            </a:extLst>
          </p:cNvPr>
          <p:cNvSpPr txBox="1"/>
          <p:nvPr/>
        </p:nvSpPr>
        <p:spPr>
          <a:xfrm>
            <a:off x="1412362" y="5572013"/>
            <a:ext cx="9367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https://github.com/lorenzodeluca/kafka-operator-clash</a:t>
            </a:r>
          </a:p>
        </p:txBody>
      </p:sp>
    </p:spTree>
    <p:extLst>
      <p:ext uri="{BB962C8B-B14F-4D97-AF65-F5344CB8AC3E}">
        <p14:creationId xmlns:p14="http://schemas.microsoft.com/office/powerpoint/2010/main" val="3368500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0A00353-7BBD-B27F-2D9E-7862D42BC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F8361B3E-68D2-9AED-3C93-9B2190A699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392ADF07-A51D-D14B-9A34-91986EA04BDD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Common goal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0095A-5161-1518-27CC-6E735137CFC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C5FA651-1BBE-25C4-16A3-F93F0A0933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1240550" y="201021"/>
            <a:ext cx="951450" cy="14679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EFD2E8A-24D3-EB80-332A-B15AE5B4A531}"/>
              </a:ext>
            </a:extLst>
          </p:cNvPr>
          <p:cNvSpPr txBox="1"/>
          <p:nvPr/>
        </p:nvSpPr>
        <p:spPr>
          <a:xfrm>
            <a:off x="654222" y="1539952"/>
            <a:ext cx="87449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The goal for the implemented operators is to create a new Kafka topic. Instead of manually creating all required resources, the user declares a single object called </a:t>
            </a:r>
            <a:r>
              <a:rPr lang="en-US" sz="1800" i="1" dirty="0"/>
              <a:t>DataStream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When a </a:t>
            </a:r>
            <a:r>
              <a:rPr lang="en-US" sz="1800" i="1" dirty="0"/>
              <a:t>DataStream</a:t>
            </a:r>
            <a:r>
              <a:rPr lang="en-US" sz="1800" dirty="0"/>
              <a:t> is created, the operator must automatically provision and reconcile a ready-to-use data pipeline: a Kafka topic where data can flow, a configuration file with the connection details, and a small consumer application that reads the connection details generated by the operator.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29940EC-20FB-CB41-B2A9-9EF515B585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255" y="4421343"/>
            <a:ext cx="5161840" cy="214453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342213-3296-EC48-5A80-7EC345A6DC6A}"/>
              </a:ext>
            </a:extLst>
          </p:cNvPr>
          <p:cNvSpPr txBox="1"/>
          <p:nvPr/>
        </p:nvSpPr>
        <p:spPr>
          <a:xfrm>
            <a:off x="6818255" y="4052011"/>
            <a:ext cx="8744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DataStream example:</a:t>
            </a:r>
          </a:p>
        </p:txBody>
      </p:sp>
    </p:spTree>
    <p:extLst>
      <p:ext uri="{BB962C8B-B14F-4D97-AF65-F5344CB8AC3E}">
        <p14:creationId xmlns:p14="http://schemas.microsoft.com/office/powerpoint/2010/main" val="2676927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88A42EBA-8FF3-E951-51CD-363E97D91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F0C28A2E-C944-F2E4-8AAE-254062FF1F5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DA7A4356-CC9C-9BE5-CCEF-E8CE44412C80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Crossplane implementation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58BC11-2F64-7E28-913A-D23EF75CDCC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8E6E197-4528-DE6D-EE3F-183E98D9FC27}"/>
              </a:ext>
            </a:extLst>
          </p:cNvPr>
          <p:cNvSpPr/>
          <p:nvPr/>
        </p:nvSpPr>
        <p:spPr>
          <a:xfrm>
            <a:off x="243349" y="1230434"/>
            <a:ext cx="1430346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USER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3B2E7A-6290-27BD-8C46-871DC8771C02}"/>
              </a:ext>
            </a:extLst>
          </p:cNvPr>
          <p:cNvSpPr/>
          <p:nvPr/>
        </p:nvSpPr>
        <p:spPr>
          <a:xfrm>
            <a:off x="3273453" y="1248720"/>
            <a:ext cx="1924331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CROSSPLANE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A005B9-8634-A42E-A35A-1139AD592F17}"/>
              </a:ext>
            </a:extLst>
          </p:cNvPr>
          <p:cNvCxnSpPr>
            <a:cxnSpLocks/>
          </p:cNvCxnSpPr>
          <p:nvPr/>
        </p:nvCxnSpPr>
        <p:spPr>
          <a:xfrm>
            <a:off x="1763184" y="1669000"/>
            <a:ext cx="1446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A4FCC90-0315-D4E2-7CDA-A4704CCD43A1}"/>
              </a:ext>
            </a:extLst>
          </p:cNvPr>
          <p:cNvSpPr txBox="1"/>
          <p:nvPr/>
        </p:nvSpPr>
        <p:spPr>
          <a:xfrm>
            <a:off x="2011361" y="1361223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DataStream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AA22AD-9D60-27B5-C205-24B2717ED8C3}"/>
              </a:ext>
            </a:extLst>
          </p:cNvPr>
          <p:cNvSpPr txBox="1"/>
          <p:nvPr/>
        </p:nvSpPr>
        <p:spPr>
          <a:xfrm>
            <a:off x="2205473" y="1768701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(Claim)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1BA7E5-DDB1-773B-88E5-D00E09C48E6B}"/>
              </a:ext>
            </a:extLst>
          </p:cNvPr>
          <p:cNvCxnSpPr/>
          <p:nvPr/>
        </p:nvCxnSpPr>
        <p:spPr>
          <a:xfrm>
            <a:off x="5319989" y="1687286"/>
            <a:ext cx="17525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869FBBE-0214-19B2-E3F4-E8E2ED356806}"/>
              </a:ext>
            </a:extLst>
          </p:cNvPr>
          <p:cNvSpPr txBox="1"/>
          <p:nvPr/>
        </p:nvSpPr>
        <p:spPr>
          <a:xfrm>
            <a:off x="5626222" y="1379509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XDataStream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EBB387-B1AA-5052-37C3-AD6B2061FFD7}"/>
              </a:ext>
            </a:extLst>
          </p:cNvPr>
          <p:cNvSpPr txBox="1"/>
          <p:nvPr/>
        </p:nvSpPr>
        <p:spPr>
          <a:xfrm>
            <a:off x="5932271" y="1759401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(XR)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757EBA2-099C-81F8-BB05-32601F700467}"/>
              </a:ext>
            </a:extLst>
          </p:cNvPr>
          <p:cNvSpPr/>
          <p:nvPr/>
        </p:nvSpPr>
        <p:spPr>
          <a:xfrm>
            <a:off x="7139195" y="1230433"/>
            <a:ext cx="2113044" cy="8771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Composition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93684C0-2ECF-3E33-F1D5-865EC033D17E}"/>
              </a:ext>
            </a:extLst>
          </p:cNvPr>
          <p:cNvCxnSpPr/>
          <p:nvPr/>
        </p:nvCxnSpPr>
        <p:spPr>
          <a:xfrm>
            <a:off x="9370055" y="1687286"/>
            <a:ext cx="17525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6FD4FA4-F0AE-807E-D10B-9120F735E20C}"/>
              </a:ext>
            </a:extLst>
          </p:cNvPr>
          <p:cNvSpPr txBox="1"/>
          <p:nvPr/>
        </p:nvSpPr>
        <p:spPr>
          <a:xfrm>
            <a:off x="9689722" y="810513"/>
            <a:ext cx="14991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Kafka Topic</a:t>
            </a:r>
          </a:p>
          <a:p>
            <a:r>
              <a:rPr lang="en-US" dirty="0"/>
              <a:t>K8s </a:t>
            </a:r>
            <a:r>
              <a:rPr lang="en-US" dirty="0" err="1"/>
              <a:t>ConfigMap</a:t>
            </a:r>
            <a:endParaRPr lang="en-US" dirty="0"/>
          </a:p>
          <a:p>
            <a:r>
              <a:rPr lang="en-US" dirty="0"/>
              <a:t>K8s Deployment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FA16F5-5C56-3337-F56E-A65F9A9F8FD1}"/>
              </a:ext>
            </a:extLst>
          </p:cNvPr>
          <p:cNvSpPr txBox="1"/>
          <p:nvPr/>
        </p:nvSpPr>
        <p:spPr>
          <a:xfrm>
            <a:off x="9399175" y="1768701"/>
            <a:ext cx="1954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(Managed Resources)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D1C2FE3-85C2-98F1-93E7-0AD8FCF67428}"/>
              </a:ext>
            </a:extLst>
          </p:cNvPr>
          <p:cNvCxnSpPr>
            <a:cxnSpLocks/>
          </p:cNvCxnSpPr>
          <p:nvPr/>
        </p:nvCxnSpPr>
        <p:spPr>
          <a:xfrm flipV="1">
            <a:off x="455266" y="3878970"/>
            <a:ext cx="1307918" cy="5215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48A31CDF-38C7-E8C7-7D86-F16EDBD1F04D}"/>
              </a:ext>
            </a:extLst>
          </p:cNvPr>
          <p:cNvSpPr/>
          <p:nvPr/>
        </p:nvSpPr>
        <p:spPr>
          <a:xfrm>
            <a:off x="1919780" y="3001837"/>
            <a:ext cx="1924331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Kafka provider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1DBDAC-F01B-F9C7-EA55-D09F33D590F2}"/>
              </a:ext>
            </a:extLst>
          </p:cNvPr>
          <p:cNvSpPr txBox="1"/>
          <p:nvPr/>
        </p:nvSpPr>
        <p:spPr>
          <a:xfrm>
            <a:off x="246085" y="3538718"/>
            <a:ext cx="1446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Kafka Topic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E5FFA8B1-A226-75F3-708F-3B4401B0830E}"/>
              </a:ext>
            </a:extLst>
          </p:cNvPr>
          <p:cNvCxnSpPr>
            <a:cxnSpLocks/>
          </p:cNvCxnSpPr>
          <p:nvPr/>
        </p:nvCxnSpPr>
        <p:spPr>
          <a:xfrm>
            <a:off x="455266" y="4400522"/>
            <a:ext cx="1307918" cy="58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023E0BDA-786B-CA07-E804-A42C38CDCE3A}"/>
              </a:ext>
            </a:extLst>
          </p:cNvPr>
          <p:cNvSpPr/>
          <p:nvPr/>
        </p:nvSpPr>
        <p:spPr>
          <a:xfrm>
            <a:off x="1919779" y="5041182"/>
            <a:ext cx="1924331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K8s provider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E89030C-3FA3-4D01-3414-8A60ECC67ABE}"/>
              </a:ext>
            </a:extLst>
          </p:cNvPr>
          <p:cNvSpPr txBox="1"/>
          <p:nvPr/>
        </p:nvSpPr>
        <p:spPr>
          <a:xfrm>
            <a:off x="226285" y="4973557"/>
            <a:ext cx="14303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ConfigMap</a:t>
            </a:r>
            <a:endParaRPr lang="en-US" sz="1400" dirty="0"/>
          </a:p>
          <a:p>
            <a:r>
              <a:rPr lang="en-US" sz="1400" dirty="0"/>
              <a:t>Deployment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926D3030-B1CD-B7B8-8EC5-CD76208E1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008" y="2679364"/>
            <a:ext cx="2770909" cy="4094425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8799581-3BDC-FF18-3066-5A41AAAE7B28}"/>
              </a:ext>
            </a:extLst>
          </p:cNvPr>
          <p:cNvSpPr txBox="1"/>
          <p:nvPr/>
        </p:nvSpPr>
        <p:spPr>
          <a:xfrm>
            <a:off x="4419009" y="2296001"/>
            <a:ext cx="2499951" cy="342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api</a:t>
            </a:r>
            <a:r>
              <a:rPr lang="en-US" sz="1600" dirty="0"/>
              <a:t>/</a:t>
            </a:r>
            <a:r>
              <a:rPr lang="en-US" sz="1600" dirty="0" err="1"/>
              <a:t>datastream_xrd.yaml</a:t>
            </a:r>
            <a:r>
              <a:rPr lang="en-US" sz="160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E59B9F-40A0-0BA5-8623-27513E3420C2}"/>
              </a:ext>
            </a:extLst>
          </p:cNvPr>
          <p:cNvSpPr txBox="1"/>
          <p:nvPr/>
        </p:nvSpPr>
        <p:spPr>
          <a:xfrm>
            <a:off x="7849535" y="2298205"/>
            <a:ext cx="51795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compositions/</a:t>
            </a:r>
            <a:r>
              <a:rPr lang="en-US" sz="1600" dirty="0" err="1"/>
              <a:t>datastream_composition.yaml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BCEFFD-DF7D-241E-8CA8-1646B27BB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0153" y="2636759"/>
            <a:ext cx="4055562" cy="385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417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8E41B01-06A0-D3A0-98B1-849B549B9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8863E8DD-BC8D-5570-057F-EDFDBB2422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5086BED3-3613-7004-B02F-45315BD6726D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Kubebuilder implementation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4927DD-0C70-CFC6-6049-9533202017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8DB203-2CF8-59D0-275D-883C9FA37A14}"/>
              </a:ext>
            </a:extLst>
          </p:cNvPr>
          <p:cNvSpPr/>
          <p:nvPr/>
        </p:nvSpPr>
        <p:spPr>
          <a:xfrm>
            <a:off x="3317522" y="1152441"/>
            <a:ext cx="1430346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USER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2B4C53-9584-8BE2-FA88-E0AC1576F00A}"/>
              </a:ext>
            </a:extLst>
          </p:cNvPr>
          <p:cNvSpPr/>
          <p:nvPr/>
        </p:nvSpPr>
        <p:spPr>
          <a:xfrm>
            <a:off x="6347626" y="1170727"/>
            <a:ext cx="1924331" cy="877133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/>
              <a:t>Kubebuilder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25E455-C54C-AC2E-C94E-729ABDF5E813}"/>
              </a:ext>
            </a:extLst>
          </p:cNvPr>
          <p:cNvCxnSpPr>
            <a:cxnSpLocks/>
          </p:cNvCxnSpPr>
          <p:nvPr/>
        </p:nvCxnSpPr>
        <p:spPr>
          <a:xfrm>
            <a:off x="4837357" y="1591007"/>
            <a:ext cx="14462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BB97785-FD73-02A0-1F14-2051C8224E1F}"/>
              </a:ext>
            </a:extLst>
          </p:cNvPr>
          <p:cNvSpPr txBox="1"/>
          <p:nvPr/>
        </p:nvSpPr>
        <p:spPr>
          <a:xfrm>
            <a:off x="5027478" y="1283230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DataStream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3CBF6-8C6C-37A5-3AC2-B1DB655E14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62697"/>
          <a:stretch>
            <a:fillRect/>
          </a:stretch>
        </p:blipFill>
        <p:spPr>
          <a:xfrm>
            <a:off x="124508" y="2512948"/>
            <a:ext cx="5435993" cy="36250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122D57-1AFA-D2AE-7E2D-D84C5C68C785}"/>
              </a:ext>
            </a:extLst>
          </p:cNvPr>
          <p:cNvSpPr txBox="1"/>
          <p:nvPr/>
        </p:nvSpPr>
        <p:spPr>
          <a:xfrm>
            <a:off x="265894" y="2177333"/>
            <a:ext cx="6103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datastream_types.go</a:t>
            </a:r>
            <a:r>
              <a:rPr lang="en-US" dirty="0"/>
              <a:t>: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24BD09-7B03-BEB8-257A-633FE5D1EADC}"/>
              </a:ext>
            </a:extLst>
          </p:cNvPr>
          <p:cNvCxnSpPr/>
          <p:nvPr/>
        </p:nvCxnSpPr>
        <p:spPr>
          <a:xfrm>
            <a:off x="8335937" y="1591007"/>
            <a:ext cx="17525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BA62B5-B420-E525-05F3-CB250608C2A1}"/>
              </a:ext>
            </a:extLst>
          </p:cNvPr>
          <p:cNvSpPr txBox="1"/>
          <p:nvPr/>
        </p:nvSpPr>
        <p:spPr>
          <a:xfrm>
            <a:off x="8655604" y="714234"/>
            <a:ext cx="14991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Kafka Topic</a:t>
            </a:r>
          </a:p>
          <a:p>
            <a:r>
              <a:rPr lang="en-US" dirty="0"/>
              <a:t>K8s </a:t>
            </a:r>
            <a:r>
              <a:rPr lang="en-US" dirty="0" err="1"/>
              <a:t>ConfigMap</a:t>
            </a:r>
            <a:endParaRPr lang="en-US" dirty="0"/>
          </a:p>
          <a:p>
            <a:r>
              <a:rPr lang="en-US" dirty="0"/>
              <a:t>K8s Deployment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E4E20A-77D0-3990-0D78-D79B8DF35E58}"/>
              </a:ext>
            </a:extLst>
          </p:cNvPr>
          <p:cNvSpPr txBox="1"/>
          <p:nvPr/>
        </p:nvSpPr>
        <p:spPr>
          <a:xfrm>
            <a:off x="5739994" y="2177333"/>
            <a:ext cx="4504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datastream_controller.go</a:t>
            </a:r>
            <a:r>
              <a:rPr lang="en-US" dirty="0"/>
              <a:t>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C216FA-4AD1-BBD8-5F63-AEDCDFFFD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179" y="2485110"/>
            <a:ext cx="5373371" cy="3638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24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55C0C565-BA75-2330-84BA-86081B07A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CC8EE075-5231-70E6-4627-A32649C5E8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73B49CE4-5622-C427-1617-BF5741FD42A9}"/>
              </a:ext>
            </a:extLst>
          </p:cNvPr>
          <p:cNvSpPr txBox="1"/>
          <p:nvPr/>
        </p:nvSpPr>
        <p:spPr>
          <a:xfrm>
            <a:off x="417864" y="102580"/>
            <a:ext cx="11530787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800" b="1" dirty="0"/>
              <a:t>Performance results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972F5B-3CE2-13BF-D5EA-4661EAFDD69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586428B-6B46-0467-8EE4-70B892931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92392"/>
              </p:ext>
            </p:extLst>
          </p:nvPr>
        </p:nvGraphicFramePr>
        <p:xfrm>
          <a:off x="1338580" y="1204806"/>
          <a:ext cx="94183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>
                  <a:extLst>
                    <a:ext uri="{9D8B030D-6E8A-4147-A177-3AD203B41FA5}">
                      <a16:colId xmlns:a16="http://schemas.microsoft.com/office/drawing/2014/main" val="550325215"/>
                    </a:ext>
                  </a:extLst>
                </a:gridCol>
                <a:gridCol w="3627035">
                  <a:extLst>
                    <a:ext uri="{9D8B030D-6E8A-4147-A177-3AD203B41FA5}">
                      <a16:colId xmlns:a16="http://schemas.microsoft.com/office/drawing/2014/main" val="2557590795"/>
                    </a:ext>
                  </a:extLst>
                </a:gridCol>
                <a:gridCol w="2651845">
                  <a:extLst>
                    <a:ext uri="{9D8B030D-6E8A-4147-A177-3AD203B41FA5}">
                      <a16:colId xmlns:a16="http://schemas.microsoft.com/office/drawing/2014/main" val="36086651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Metric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Crossplane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Kubebuilder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33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Lines of code written*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7943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Edited files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879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Avg time to ready state (seconds)**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6878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85F7518-80E1-DE74-E42D-94697D71DB37}"/>
              </a:ext>
            </a:extLst>
          </p:cNvPr>
          <p:cNvSpPr txBox="1"/>
          <p:nvPr/>
        </p:nvSpPr>
        <p:spPr>
          <a:xfrm>
            <a:off x="1338580" y="2845579"/>
            <a:ext cx="1018099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Excluding generated code and provider installation/configuration manifests.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** The measured time is the elapsed time between applying the DataStream resource and observing the expected ready state.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E27323-D7BF-C812-F7A4-B9797EA4F2B0}"/>
              </a:ext>
            </a:extLst>
          </p:cNvPr>
          <p:cNvSpPr txBox="1"/>
          <p:nvPr/>
        </p:nvSpPr>
        <p:spPr>
          <a:xfrm>
            <a:off x="736600" y="4453350"/>
            <a:ext cx="85217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Environment:</a:t>
            </a:r>
          </a:p>
          <a:p>
            <a:pPr marL="285750" indent="-285750">
              <a:buFontTx/>
              <a:buChar char="-"/>
            </a:pPr>
            <a:r>
              <a:rPr lang="en-US" dirty="0"/>
              <a:t>Debian </a:t>
            </a:r>
            <a:r>
              <a:rPr lang="en-US" dirty="0" err="1"/>
              <a:t>vps</a:t>
            </a:r>
            <a:r>
              <a:rPr lang="en-US" dirty="0"/>
              <a:t> with 8 cores </a:t>
            </a:r>
            <a:r>
              <a:rPr lang="en-US" dirty="0" err="1"/>
              <a:t>cpu</a:t>
            </a:r>
            <a:r>
              <a:rPr lang="en-US" dirty="0"/>
              <a:t>, 8Gb ram, 75Gb </a:t>
            </a:r>
            <a:r>
              <a:rPr lang="en-US" dirty="0" err="1"/>
              <a:t>ssd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Local k3s cluster</a:t>
            </a:r>
          </a:p>
          <a:p>
            <a:pPr marL="285750" indent="-285750">
              <a:buFontTx/>
              <a:buChar char="-"/>
            </a:pPr>
            <a:r>
              <a:rPr lang="en-US" dirty="0"/>
              <a:t>Single Kafka broker</a:t>
            </a:r>
          </a:p>
          <a:p>
            <a:pPr marL="285750" indent="-285750">
              <a:buFontTx/>
              <a:buChar char="-"/>
            </a:pPr>
            <a:r>
              <a:rPr lang="en-US" dirty="0"/>
              <a:t>One DataStream resource per run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Controllers/providers already running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620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0E5E7A41-B7D7-4443-03B2-EEE22C694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FBAC122B-3B91-81B1-B114-1F9133885F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5AD214F5-DF90-09A2-D098-0EA8887871CF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Resource consumption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1F6968-E35E-40C3-E35D-D926EA4498D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43C8A-1BE9-48A3-5CC3-76197BD19F8C}"/>
              </a:ext>
            </a:extLst>
          </p:cNvPr>
          <p:cNvSpPr txBox="1"/>
          <p:nvPr/>
        </p:nvSpPr>
        <p:spPr>
          <a:xfrm>
            <a:off x="417864" y="5374038"/>
            <a:ext cx="6973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X-axis: batch size, the number of DataStream resources created together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5FE6D-1305-58CA-88BD-00BD5540A0A0}"/>
              </a:ext>
            </a:extLst>
          </p:cNvPr>
          <p:cNvSpPr txBox="1"/>
          <p:nvPr/>
        </p:nvSpPr>
        <p:spPr>
          <a:xfrm>
            <a:off x="417864" y="5609071"/>
            <a:ext cx="10006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Y-axis: average CPU rate (</a:t>
            </a:r>
            <a:r>
              <a:rPr lang="en-US" dirty="0" err="1"/>
              <a:t>millicores</a:t>
            </a:r>
            <a:r>
              <a:rPr lang="en-US" dirty="0"/>
              <a:t>)/RAM usage each component sustained while it was actively reconciling that batch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00C20A-8A4F-0999-C9CB-49FC6EE615AF}"/>
              </a:ext>
            </a:extLst>
          </p:cNvPr>
          <p:cNvSpPr txBox="1"/>
          <p:nvPr/>
        </p:nvSpPr>
        <p:spPr>
          <a:xfrm>
            <a:off x="399963" y="5986948"/>
            <a:ext cx="112407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*Crossplane measurements includes the full control plane (core + providers + functions).</a:t>
            </a: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66AA30DF-8AA8-4E99-ACB0-E0C43003BE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9304491"/>
              </p:ext>
            </p:extLst>
          </p:nvPr>
        </p:nvGraphicFramePr>
        <p:xfrm>
          <a:off x="6096000" y="1697826"/>
          <a:ext cx="5639925" cy="30633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B9E46A87-AC35-4752-948D-302F9E6FE12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2782365"/>
              </p:ext>
            </p:extLst>
          </p:nvPr>
        </p:nvGraphicFramePr>
        <p:xfrm>
          <a:off x="243349" y="1742701"/>
          <a:ext cx="5639925" cy="2996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868222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34B0ED4B-129A-9E73-AF26-87FFB7251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48021BD9-D713-47B1-D9A1-FC76A227B7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1680F885-061E-ED93-58D9-EFE4F3D25B2C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Resource consumption Crossplane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E8F070-0C48-F773-1A0F-5844B40EDAC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E3384-32DA-04CC-85AC-DC84F52F0C2B}"/>
              </a:ext>
            </a:extLst>
          </p:cNvPr>
          <p:cNvSpPr txBox="1"/>
          <p:nvPr/>
        </p:nvSpPr>
        <p:spPr>
          <a:xfrm>
            <a:off x="417864" y="5374038"/>
            <a:ext cx="6973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X-axis: batch size, the number of DataStream resources created together (N)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66D6E1-9027-C3A6-CE1B-A4000332AD6C}"/>
              </a:ext>
            </a:extLst>
          </p:cNvPr>
          <p:cNvSpPr txBox="1"/>
          <p:nvPr/>
        </p:nvSpPr>
        <p:spPr>
          <a:xfrm>
            <a:off x="417864" y="5609071"/>
            <a:ext cx="100062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Y-axis: average CPU rate (</a:t>
            </a:r>
            <a:r>
              <a:rPr lang="en-US" dirty="0" err="1"/>
              <a:t>millicores</a:t>
            </a:r>
            <a:r>
              <a:rPr lang="en-US" dirty="0"/>
              <a:t>)/RAM usage(MiB) each component sustained while it was actively reconciling that batch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C6086F2-1913-4404-A3CB-24ABA1302F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873897"/>
              </p:ext>
            </p:extLst>
          </p:nvPr>
        </p:nvGraphicFramePr>
        <p:xfrm>
          <a:off x="0" y="1363575"/>
          <a:ext cx="5940311" cy="33597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42170A6-5AF5-40F1-8247-67A1171164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8591954"/>
              </p:ext>
            </p:extLst>
          </p:nvPr>
        </p:nvGraphicFramePr>
        <p:xfrm>
          <a:off x="6248673" y="1363575"/>
          <a:ext cx="6112402" cy="3519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496918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82445E98-3582-F1B6-B0D5-859D6C5AD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1" title="06_LOGO-Alma-Mater-Studiorum-Universita-di-Bologna.png">
            <a:extLst>
              <a:ext uri="{FF2B5EF4-FFF2-40B4-BE49-F238E27FC236}">
                <a16:creationId xmlns:a16="http://schemas.microsoft.com/office/drawing/2014/main" id="{7ADFF05B-F270-192D-0F54-E1214E3351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46;p20">
            <a:extLst>
              <a:ext uri="{FF2B5EF4-FFF2-40B4-BE49-F238E27FC236}">
                <a16:creationId xmlns:a16="http://schemas.microsoft.com/office/drawing/2014/main" id="{E9075AD8-F07A-5BD9-08C4-17A4776A314A}"/>
              </a:ext>
            </a:extLst>
          </p:cNvPr>
          <p:cNvSpPr txBox="1"/>
          <p:nvPr/>
        </p:nvSpPr>
        <p:spPr>
          <a:xfrm>
            <a:off x="243350" y="230500"/>
            <a:ext cx="11564400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4500" b="1" dirty="0">
                <a:solidFill>
                  <a:schemeClr val="dk1"/>
                </a:solidFill>
              </a:rPr>
              <a:t>REFERENCES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6" name="Google Shape;147;p20">
            <a:extLst>
              <a:ext uri="{FF2B5EF4-FFF2-40B4-BE49-F238E27FC236}">
                <a16:creationId xmlns:a16="http://schemas.microsoft.com/office/drawing/2014/main" id="{11EC7FAB-0D33-A444-681C-11BFCACB9FD8}"/>
              </a:ext>
            </a:extLst>
          </p:cNvPr>
          <p:cNvSpPr txBox="1"/>
          <p:nvPr/>
        </p:nvSpPr>
        <p:spPr>
          <a:xfrm>
            <a:off x="243350" y="1107633"/>
            <a:ext cx="11705300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19100">
              <a:lnSpc>
                <a:spcPct val="150000"/>
              </a:lnSpc>
              <a:buClr>
                <a:schemeClr val="dk1"/>
              </a:buClr>
              <a:buSzPts val="3000"/>
              <a:buChar char="-"/>
            </a:pPr>
            <a:r>
              <a:rPr lang="en-US" sz="2000" dirty="0">
                <a:solidFill>
                  <a:schemeClr val="dk1"/>
                </a:solidFill>
              </a:rPr>
              <a:t>The Kubebuilder Book, </a:t>
            </a:r>
            <a:r>
              <a:rPr lang="en-US" sz="2000" dirty="0">
                <a:solidFill>
                  <a:schemeClr val="dk1"/>
                </a:solidFill>
                <a:hlinkClick r:id="rId4"/>
              </a:rPr>
              <a:t>https://book.kubebuilder.io</a:t>
            </a:r>
            <a:r>
              <a:rPr lang="en-US" sz="2000" dirty="0">
                <a:solidFill>
                  <a:schemeClr val="dk1"/>
                </a:solidFill>
              </a:rPr>
              <a:t> </a:t>
            </a:r>
          </a:p>
          <a:p>
            <a:pPr marL="457200" lvl="0" indent="-419100">
              <a:lnSpc>
                <a:spcPct val="150000"/>
              </a:lnSpc>
              <a:buClr>
                <a:schemeClr val="dk1"/>
              </a:buClr>
              <a:buSzPts val="3000"/>
              <a:buChar char="-"/>
            </a:pPr>
            <a:r>
              <a:rPr lang="en-US" sz="2000" dirty="0">
                <a:solidFill>
                  <a:schemeClr val="dk1"/>
                </a:solidFill>
              </a:rPr>
              <a:t>Crossplane </a:t>
            </a:r>
            <a:r>
              <a:rPr lang="en-US" sz="2000" dirty="0"/>
              <a:t>documentation, </a:t>
            </a:r>
            <a:r>
              <a:rPr lang="en-US" sz="2000" dirty="0">
                <a:hlinkClick r:id="rId5"/>
              </a:rPr>
              <a:t>https://docs.crossplane.io/v2.3</a:t>
            </a:r>
            <a:r>
              <a:rPr lang="en-US" sz="2000" dirty="0"/>
              <a:t> </a:t>
            </a:r>
          </a:p>
          <a:p>
            <a:pPr marL="457200" lvl="0" indent="-419100">
              <a:lnSpc>
                <a:spcPct val="150000"/>
              </a:lnSpc>
              <a:buClr>
                <a:schemeClr val="dk1"/>
              </a:buClr>
              <a:buSzPts val="3000"/>
              <a:buChar char="-"/>
            </a:pPr>
            <a:r>
              <a:rPr lang="en-US" sz="2000" dirty="0" err="1"/>
              <a:t>kafka</a:t>
            </a:r>
            <a:r>
              <a:rPr lang="en-US" sz="2000" dirty="0"/>
              <a:t>-go, </a:t>
            </a:r>
            <a:r>
              <a:rPr lang="en-US" sz="2000" dirty="0">
                <a:hlinkClick r:id="rId6"/>
              </a:rPr>
              <a:t>https://github.com/segmentio/kafka-go</a:t>
            </a:r>
            <a:endParaRPr lang="en-US" sz="2000" dirty="0">
              <a:solidFill>
                <a:schemeClr val="dk1"/>
              </a:solidFill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D134595A-E608-F6CF-9C2B-5A87DBB3D7A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254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1" title="06_LOGO-Alma-Mater-Studiorum-Universita-di-Bolog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1"/>
          <p:cNvSpPr txBox="1"/>
          <p:nvPr/>
        </p:nvSpPr>
        <p:spPr>
          <a:xfrm>
            <a:off x="3865800" y="2573750"/>
            <a:ext cx="44604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2800" b="1" dirty="0"/>
              <a:t>Questions?</a:t>
            </a:r>
            <a:endParaRPr sz="2500" dirty="0">
              <a:solidFill>
                <a:schemeClr val="dk1"/>
              </a:solidFill>
            </a:endParaRPr>
          </a:p>
        </p:txBody>
      </p:sp>
      <p:sp>
        <p:nvSpPr>
          <p:cNvPr id="6" name="Google Shape;154;p21">
            <a:extLst>
              <a:ext uri="{FF2B5EF4-FFF2-40B4-BE49-F238E27FC236}">
                <a16:creationId xmlns:a16="http://schemas.microsoft.com/office/drawing/2014/main" id="{39B35F75-A7A6-6C01-40F4-7E5D146DEAFD}"/>
              </a:ext>
            </a:extLst>
          </p:cNvPr>
          <p:cNvSpPr txBox="1"/>
          <p:nvPr/>
        </p:nvSpPr>
        <p:spPr>
          <a:xfrm>
            <a:off x="3594100" y="5278850"/>
            <a:ext cx="50038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b="1" dirty="0"/>
              <a:t>Thank you for your attention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F4562BA-FAEA-BC93-353F-78F785E90B3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44F1295D-CEAF-01DD-2FF0-02D278ABA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F3E264BA-EB34-EF9B-8031-06AE150C9C0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BD83F04F-602B-695E-812A-6E30CE072156}"/>
              </a:ext>
            </a:extLst>
          </p:cNvPr>
          <p:cNvSpPr txBox="1"/>
          <p:nvPr/>
        </p:nvSpPr>
        <p:spPr>
          <a:xfrm>
            <a:off x="243349" y="230500"/>
            <a:ext cx="10997201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500" b="1" dirty="0">
                <a:solidFill>
                  <a:schemeClr val="dk1"/>
                </a:solidFill>
              </a:rPr>
              <a:t>Crossplane Architecture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9A83D29C-D7E8-23BF-95D3-77B246F95709}"/>
              </a:ext>
            </a:extLst>
          </p:cNvPr>
          <p:cNvSpPr txBox="1"/>
          <p:nvPr/>
        </p:nvSpPr>
        <p:spPr>
          <a:xfrm>
            <a:off x="772510" y="1146178"/>
            <a:ext cx="11163080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800" dirty="0"/>
              <a:t>Multi-layer control plane: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800" dirty="0">
                <a:solidFill>
                  <a:schemeClr val="dk1"/>
                </a:solidFill>
              </a:rPr>
              <a:t>	- Claim/user API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800" dirty="0">
                <a:solidFill>
                  <a:schemeClr val="dk1"/>
                </a:solidFill>
              </a:rPr>
              <a:t>	- Composite Resource (XR)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800" dirty="0">
                <a:solidFill>
                  <a:schemeClr val="dk1"/>
                </a:solidFill>
              </a:rPr>
              <a:t>	- Composition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800" dirty="0">
                <a:solidFill>
                  <a:schemeClr val="dk1"/>
                </a:solidFill>
              </a:rPr>
              <a:t>	- Managed Resources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800" dirty="0">
                <a:solidFill>
                  <a:schemeClr val="dk1"/>
                </a:solidFill>
              </a:rPr>
              <a:t>	- Providers (to access external systems)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40A7FB-AE33-B445-B957-66C3599B06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lang="en-US" dirty="0"/>
          </a:p>
        </p:txBody>
      </p:sp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03EBC77E-2429-A9C1-77A7-4F1948DA7B82}"/>
              </a:ext>
            </a:extLst>
          </p:cNvPr>
          <p:cNvSpPr txBox="1"/>
          <p:nvPr/>
        </p:nvSpPr>
        <p:spPr>
          <a:xfrm>
            <a:off x="772510" y="5322989"/>
            <a:ext cx="1116308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800" dirty="0"/>
              <a:t>Each layer has its own </a:t>
            </a:r>
            <a:r>
              <a:rPr lang="en-US" sz="2800" b="1" dirty="0"/>
              <a:t>controller and reconciliation loop</a:t>
            </a:r>
            <a:endParaRPr lang="en-US" sz="2800" dirty="0">
              <a:solidFill>
                <a:schemeClr val="dk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7824C5-DEE0-8629-1E80-3380569779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032"/>
          <a:stretch>
            <a:fillRect/>
          </a:stretch>
        </p:blipFill>
        <p:spPr>
          <a:xfrm>
            <a:off x="10443872" y="160671"/>
            <a:ext cx="1491718" cy="26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135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3F165BBC-9C21-5683-175A-8A18ACC93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631132D7-91D1-C51A-8746-C0C7D8D3E95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F4C1AAB6-2A79-3F83-A704-6178EF8D349C}"/>
              </a:ext>
            </a:extLst>
          </p:cNvPr>
          <p:cNvSpPr txBox="1"/>
          <p:nvPr/>
        </p:nvSpPr>
        <p:spPr>
          <a:xfrm>
            <a:off x="243349" y="230500"/>
            <a:ext cx="10997201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800" b="1" dirty="0"/>
              <a:t>Kubebuilder Architecture</a:t>
            </a:r>
          </a:p>
        </p:txBody>
      </p:sp>
      <p:sp>
        <p:nvSpPr>
          <p:cNvPr id="94" name="Google Shape;94;p14">
            <a:extLst>
              <a:ext uri="{FF2B5EF4-FFF2-40B4-BE49-F238E27FC236}">
                <a16:creationId xmlns:a16="http://schemas.microsoft.com/office/drawing/2014/main" id="{3F09DEFA-DBC4-75A5-3BFC-8FD9C4153579}"/>
              </a:ext>
            </a:extLst>
          </p:cNvPr>
          <p:cNvSpPr txBox="1"/>
          <p:nvPr/>
        </p:nvSpPr>
        <p:spPr>
          <a:xfrm>
            <a:off x="785571" y="1153799"/>
            <a:ext cx="1116308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800" dirty="0"/>
              <a:t>Single-layer architecture: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800" dirty="0">
                <a:solidFill>
                  <a:schemeClr val="dk1"/>
                </a:solidFill>
              </a:rPr>
              <a:t>	- Custom Resource (XR)</a:t>
            </a:r>
          </a:p>
          <a:p>
            <a:pPr marL="38100">
              <a:lnSpc>
                <a:spcPct val="150000"/>
              </a:lnSpc>
              <a:buClr>
                <a:schemeClr val="dk1"/>
              </a:buClr>
              <a:buSzPts val="3000"/>
            </a:pPr>
            <a:r>
              <a:rPr lang="en-US" sz="2800" dirty="0">
                <a:solidFill>
                  <a:schemeClr val="dk1"/>
                </a:solidFill>
              </a:rPr>
              <a:t>	- Controller (Reconciler)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FA0641-CA16-99EA-27C0-2A8019C387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7F9483E-8680-E393-9F72-E8B31A1204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1240550" y="201021"/>
            <a:ext cx="951450" cy="1467980"/>
          </a:xfrm>
          <a:prstGeom prst="rect">
            <a:avLst/>
          </a:prstGeom>
        </p:spPr>
      </p:pic>
      <p:sp>
        <p:nvSpPr>
          <p:cNvPr id="4" name="Google Shape;94;p14">
            <a:extLst>
              <a:ext uri="{FF2B5EF4-FFF2-40B4-BE49-F238E27FC236}">
                <a16:creationId xmlns:a16="http://schemas.microsoft.com/office/drawing/2014/main" id="{36118472-4DC1-FB20-CA7E-55F7C4255C21}"/>
              </a:ext>
            </a:extLst>
          </p:cNvPr>
          <p:cNvSpPr txBox="1"/>
          <p:nvPr/>
        </p:nvSpPr>
        <p:spPr>
          <a:xfrm>
            <a:off x="785571" y="3930145"/>
            <a:ext cx="1116308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100">
              <a:buClr>
                <a:schemeClr val="dk1"/>
              </a:buClr>
              <a:buSzPts val="3000"/>
            </a:pPr>
            <a:r>
              <a:rPr lang="en-US" sz="2800" dirty="0"/>
              <a:t>The controller directly interacts with the Kubernetes </a:t>
            </a:r>
            <a:r>
              <a:rPr lang="en-US" sz="2800" dirty="0" err="1"/>
              <a:t>api</a:t>
            </a:r>
            <a:r>
              <a:rPr lang="en-US" sz="2800" dirty="0"/>
              <a:t> and external systems</a:t>
            </a:r>
            <a:endParaRPr lang="en-US" sz="2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614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29DE1EF3-EF8E-5242-9A95-400755AF1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D9990C09-1C4F-18F1-0F9C-938A7DEF001F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Resource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0134A5-2785-AD5D-3453-D6CFECC8849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CB476F8-212C-DD8A-0F14-C70F8CE893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5986"/>
          <a:stretch>
            <a:fillRect/>
          </a:stretch>
        </p:blipFill>
        <p:spPr>
          <a:xfrm>
            <a:off x="120438" y="1013167"/>
            <a:ext cx="732422" cy="11300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E645EE-6476-95AD-3F85-8407C660AC3C}"/>
              </a:ext>
            </a:extLst>
          </p:cNvPr>
          <p:cNvCxnSpPr>
            <a:cxnSpLocks/>
          </p:cNvCxnSpPr>
          <p:nvPr/>
        </p:nvCxnSpPr>
        <p:spPr>
          <a:xfrm>
            <a:off x="5785945" y="1423104"/>
            <a:ext cx="0" cy="3984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55DB91-9A64-E528-0E86-0A9BD8610B83}"/>
              </a:ext>
            </a:extLst>
          </p:cNvPr>
          <p:cNvSpPr txBox="1"/>
          <p:nvPr/>
        </p:nvSpPr>
        <p:spPr>
          <a:xfrm>
            <a:off x="1" y="955802"/>
            <a:ext cx="57708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27E14B-2B9F-28DE-9A33-78F3753A73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70A249BE-572F-48DB-902B-03FAF51811C2}"/>
              </a:ext>
            </a:extLst>
          </p:cNvPr>
          <p:cNvSpPr txBox="1"/>
          <p:nvPr/>
        </p:nvSpPr>
        <p:spPr>
          <a:xfrm>
            <a:off x="5785946" y="900806"/>
            <a:ext cx="6406053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</a:rPr>
              <a:t>Kubebuilder</a:t>
            </a:r>
            <a:endParaRPr sz="40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70FF0A-93C0-B7CE-35B1-C4C64CC2CDBE}"/>
              </a:ext>
            </a:extLst>
          </p:cNvPr>
          <p:cNvSpPr txBox="1"/>
          <p:nvPr/>
        </p:nvSpPr>
        <p:spPr>
          <a:xfrm>
            <a:off x="528089" y="357855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Providers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E5D63B-DE24-F868-6E3A-2880CE22DB2A}"/>
              </a:ext>
            </a:extLst>
          </p:cNvPr>
          <p:cNvSpPr txBox="1"/>
          <p:nvPr/>
        </p:nvSpPr>
        <p:spPr>
          <a:xfrm>
            <a:off x="528089" y="3885697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Providers manage external or K8s resources through standard interfaces. They handle authentication, external </a:t>
            </a:r>
            <a:r>
              <a:rPr lang="en-US" sz="1600" dirty="0" err="1"/>
              <a:t>api</a:t>
            </a:r>
            <a:r>
              <a:rPr lang="en-US" sz="1600" dirty="0"/>
              <a:t> calls and controller logic.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50308E-D702-2153-6754-ABE81D3367BD}"/>
              </a:ext>
            </a:extLst>
          </p:cNvPr>
          <p:cNvSpPr txBox="1"/>
          <p:nvPr/>
        </p:nvSpPr>
        <p:spPr>
          <a:xfrm>
            <a:off x="6091809" y="1900920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Direct control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FAB5F8-98E7-AADA-4669-822A13564C91}"/>
              </a:ext>
            </a:extLst>
          </p:cNvPr>
          <p:cNvSpPr txBox="1"/>
          <p:nvPr/>
        </p:nvSpPr>
        <p:spPr>
          <a:xfrm>
            <a:off x="6091801" y="2211522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controller directly reconciles the Custom Resource and target resources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056666-20D5-727E-3532-0386B617A5E2}"/>
              </a:ext>
            </a:extLst>
          </p:cNvPr>
          <p:cNvSpPr txBox="1"/>
          <p:nvPr/>
        </p:nvSpPr>
        <p:spPr>
          <a:xfrm>
            <a:off x="528073" y="1853886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Layered 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9DA310-78FB-819B-110D-603D140FC581}"/>
              </a:ext>
            </a:extLst>
          </p:cNvPr>
          <p:cNvSpPr txBox="1"/>
          <p:nvPr/>
        </p:nvSpPr>
        <p:spPr>
          <a:xfrm>
            <a:off x="528073" y="2117597"/>
            <a:ext cx="49258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user creates a high-level custom resource describing the desired service. Crossplane uses a Composition to generate composed resources, while providers reconcile those resources against Kubernetes or external systems.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418CD4-3C1C-3932-BD40-8343799BD2A4}"/>
              </a:ext>
            </a:extLst>
          </p:cNvPr>
          <p:cNvSpPr txBox="1"/>
          <p:nvPr/>
        </p:nvSpPr>
        <p:spPr>
          <a:xfrm>
            <a:off x="6117973" y="364249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Custom logic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1CFE7E-580B-B074-EFB2-DF681F72D84B}"/>
              </a:ext>
            </a:extLst>
          </p:cNvPr>
          <p:cNvSpPr txBox="1"/>
          <p:nvPr/>
        </p:nvSpPr>
        <p:spPr>
          <a:xfrm>
            <a:off x="6117973" y="3906202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reconciler can use any Kubernetes client or external API client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3B930-B3A3-90D9-6BFC-19C3389C613B}"/>
              </a:ext>
            </a:extLst>
          </p:cNvPr>
          <p:cNvSpPr txBox="1"/>
          <p:nvPr/>
        </p:nvSpPr>
        <p:spPr>
          <a:xfrm>
            <a:off x="528081" y="502388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Status managed through Crossplane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FDFF16-3AA7-FCFB-BDA0-5BB347D4AF48}"/>
              </a:ext>
            </a:extLst>
          </p:cNvPr>
          <p:cNvSpPr txBox="1"/>
          <p:nvPr/>
        </p:nvSpPr>
        <p:spPr>
          <a:xfrm>
            <a:off x="528081" y="5331027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Ownerships and status aggregation are managed through Crossplane mechanisms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4931C3-E44F-6A9E-9E78-B075B6DB1810}"/>
              </a:ext>
            </a:extLst>
          </p:cNvPr>
          <p:cNvSpPr txBox="1"/>
          <p:nvPr/>
        </p:nvSpPr>
        <p:spPr>
          <a:xfrm>
            <a:off x="6091801" y="497308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Status managed in code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08B481-BD4F-A41E-74E0-2734162D00AE}"/>
              </a:ext>
            </a:extLst>
          </p:cNvPr>
          <p:cNvSpPr txBox="1"/>
          <p:nvPr/>
        </p:nvSpPr>
        <p:spPr>
          <a:xfrm>
            <a:off x="6091801" y="5236794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Ownership references, status conditions, and lifecycle logic are managed in code</a:t>
            </a:r>
          </a:p>
        </p:txBody>
      </p:sp>
      <p:pic>
        <p:nvPicPr>
          <p:cNvPr id="19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2A55E1DE-D424-4E99-7A58-B0D43BA7F06D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5471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D1B2AFFA-A957-EA93-0065-71F4E9D1E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97346CB5-D93F-91B9-BD46-EC28C65E94F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9100" y="5399476"/>
            <a:ext cx="1166384" cy="11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D154E936-5FAD-9A1B-0336-C5157D973B9A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Abstraction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547F60-14A3-7793-5537-78CA280AE18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2370DEF-A55E-A15C-7BED-83A951BD9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20438" y="1013167"/>
            <a:ext cx="732422" cy="11300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40EAEE4-AF11-C14E-F64D-D6A81CC553F5}"/>
              </a:ext>
            </a:extLst>
          </p:cNvPr>
          <p:cNvCxnSpPr>
            <a:cxnSpLocks/>
          </p:cNvCxnSpPr>
          <p:nvPr/>
        </p:nvCxnSpPr>
        <p:spPr>
          <a:xfrm>
            <a:off x="5785945" y="1423104"/>
            <a:ext cx="0" cy="3984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3498C76-BEA2-1823-4440-036A98238328}"/>
              </a:ext>
            </a:extLst>
          </p:cNvPr>
          <p:cNvSpPr txBox="1"/>
          <p:nvPr/>
        </p:nvSpPr>
        <p:spPr>
          <a:xfrm>
            <a:off x="1" y="968502"/>
            <a:ext cx="57708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9831BC-5B54-CD19-211E-4E3AFFFAD9F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8BEADE79-659A-A0CD-920F-E45AEE3AF9A4}"/>
              </a:ext>
            </a:extLst>
          </p:cNvPr>
          <p:cNvSpPr txBox="1"/>
          <p:nvPr/>
        </p:nvSpPr>
        <p:spPr>
          <a:xfrm>
            <a:off x="5785946" y="926206"/>
            <a:ext cx="640605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87CC5-325E-8508-D8D0-6A99E3E529D8}"/>
              </a:ext>
            </a:extLst>
          </p:cNvPr>
          <p:cNvSpPr txBox="1"/>
          <p:nvPr/>
        </p:nvSpPr>
        <p:spPr>
          <a:xfrm>
            <a:off x="803638" y="400815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Declare the desired infrastructure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D69B7C-DB99-5521-6EDA-6EA61BED19E8}"/>
              </a:ext>
            </a:extLst>
          </p:cNvPr>
          <p:cNvSpPr txBox="1"/>
          <p:nvPr/>
        </p:nvSpPr>
        <p:spPr>
          <a:xfrm>
            <a:off x="6314737" y="2481800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Low-level framework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42155-4E0D-BFE6-4ECA-2FAB8FC9368F}"/>
              </a:ext>
            </a:extLst>
          </p:cNvPr>
          <p:cNvSpPr txBox="1"/>
          <p:nvPr/>
        </p:nvSpPr>
        <p:spPr>
          <a:xfrm>
            <a:off x="845086" y="2491334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High-level Abstraction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1185A2-3C80-5015-5A03-BAF582B96961}"/>
              </a:ext>
            </a:extLst>
          </p:cNvPr>
          <p:cNvSpPr txBox="1"/>
          <p:nvPr/>
        </p:nvSpPr>
        <p:spPr>
          <a:xfrm>
            <a:off x="6288569" y="4040322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Explicit control over lifecycle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5FCC4-2009-65E6-7CFA-6983E396B01D}"/>
              </a:ext>
            </a:extLst>
          </p:cNvPr>
          <p:cNvSpPr txBox="1"/>
          <p:nvPr/>
        </p:nvSpPr>
        <p:spPr>
          <a:xfrm>
            <a:off x="831877" y="2767671"/>
            <a:ext cx="4925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User declares the desired state using a custom API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A9DF3-D636-63D2-CB1D-2E06CF8D0FDB}"/>
              </a:ext>
            </a:extLst>
          </p:cNvPr>
          <p:cNvSpPr txBox="1"/>
          <p:nvPr/>
        </p:nvSpPr>
        <p:spPr>
          <a:xfrm>
            <a:off x="795107" y="4326685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user only creates a high-level custom resource, the internal resources are generated by the Composition.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6A80B4-BCD0-083B-2275-38691CFC68DE}"/>
              </a:ext>
            </a:extLst>
          </p:cNvPr>
          <p:cNvSpPr txBox="1"/>
          <p:nvPr/>
        </p:nvSpPr>
        <p:spPr>
          <a:xfrm>
            <a:off x="6314729" y="2810151"/>
            <a:ext cx="4925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Developer defines how the desired state is reached.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597276-13C7-3EF3-D6B6-062EA8D3A976}"/>
              </a:ext>
            </a:extLst>
          </p:cNvPr>
          <p:cNvSpPr txBox="1"/>
          <p:nvPr/>
        </p:nvSpPr>
        <p:spPr>
          <a:xfrm>
            <a:off x="6288569" y="4409654"/>
            <a:ext cx="45826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controller directly manages the resources, status updates and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1842256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77B19BFA-B109-D6D0-12C3-49DB9435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B28D684B-926E-4942-0580-ECE4F4510590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4000" b="1" dirty="0"/>
              <a:t>Extensibility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58FBAC-CE16-D562-FB74-BC6E124651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008B18-51F1-5780-DF25-D52AB12630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5986"/>
          <a:stretch>
            <a:fillRect/>
          </a:stretch>
        </p:blipFill>
        <p:spPr>
          <a:xfrm>
            <a:off x="120438" y="1013167"/>
            <a:ext cx="732422" cy="11300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98C6BA-E6C8-6CA3-268F-4DD8E7242242}"/>
              </a:ext>
            </a:extLst>
          </p:cNvPr>
          <p:cNvCxnSpPr>
            <a:cxnSpLocks/>
          </p:cNvCxnSpPr>
          <p:nvPr/>
        </p:nvCxnSpPr>
        <p:spPr>
          <a:xfrm>
            <a:off x="5785945" y="1423104"/>
            <a:ext cx="0" cy="3984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0BBD712-2CFC-2494-7F9C-159B209307CB}"/>
              </a:ext>
            </a:extLst>
          </p:cNvPr>
          <p:cNvSpPr txBox="1"/>
          <p:nvPr/>
        </p:nvSpPr>
        <p:spPr>
          <a:xfrm>
            <a:off x="1" y="968502"/>
            <a:ext cx="57708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52FFDE-5C15-EDBD-B067-8D4AC40C8E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4A55E554-6113-DBDC-D813-0C84C08CE483}"/>
              </a:ext>
            </a:extLst>
          </p:cNvPr>
          <p:cNvSpPr txBox="1"/>
          <p:nvPr/>
        </p:nvSpPr>
        <p:spPr>
          <a:xfrm>
            <a:off x="5785946" y="926206"/>
            <a:ext cx="640605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1E748E-898B-0E88-906F-7F7F4C5A843C}"/>
              </a:ext>
            </a:extLst>
          </p:cNvPr>
          <p:cNvSpPr txBox="1"/>
          <p:nvPr/>
        </p:nvSpPr>
        <p:spPr>
          <a:xfrm>
            <a:off x="528089" y="342615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Optimized for reusability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E8C5F3-EAAA-ED36-E9D8-9B5571C603A8}"/>
              </a:ext>
            </a:extLst>
          </p:cNvPr>
          <p:cNvSpPr txBox="1"/>
          <p:nvPr/>
        </p:nvSpPr>
        <p:spPr>
          <a:xfrm>
            <a:off x="528089" y="3733297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Encourages API standardization across teams. Ideal for creating Internal Development Platforms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310BC8-5A49-E276-8672-AF006019039E}"/>
              </a:ext>
            </a:extLst>
          </p:cNvPr>
          <p:cNvSpPr txBox="1"/>
          <p:nvPr/>
        </p:nvSpPr>
        <p:spPr>
          <a:xfrm>
            <a:off x="6117973" y="2179401"/>
            <a:ext cx="525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Extensible through coding and external libs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076EEA-78FD-3B07-74B2-BCD9FBA86F53}"/>
              </a:ext>
            </a:extLst>
          </p:cNvPr>
          <p:cNvSpPr txBox="1"/>
          <p:nvPr/>
        </p:nvSpPr>
        <p:spPr>
          <a:xfrm>
            <a:off x="6117965" y="2490003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Extensible through arbitrary Go code and external libraries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229B50-68B0-3281-D9F8-54193C5E79E2}"/>
              </a:ext>
            </a:extLst>
          </p:cNvPr>
          <p:cNvSpPr txBox="1"/>
          <p:nvPr/>
        </p:nvSpPr>
        <p:spPr>
          <a:xfrm>
            <a:off x="528097" y="2174876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Extensible through components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9890B8-BDC8-4359-3115-F9A3C0F8349B}"/>
              </a:ext>
            </a:extLst>
          </p:cNvPr>
          <p:cNvSpPr txBox="1"/>
          <p:nvPr/>
        </p:nvSpPr>
        <p:spPr>
          <a:xfrm>
            <a:off x="528097" y="2438587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Extensible through Providers, Functions, patching, and transformations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031613B-8369-5568-42A7-07BAF9237753}"/>
              </a:ext>
            </a:extLst>
          </p:cNvPr>
          <p:cNvSpPr txBox="1"/>
          <p:nvPr/>
        </p:nvSpPr>
        <p:spPr>
          <a:xfrm>
            <a:off x="6117973" y="341389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Optimized for specific domains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96947B-D92B-B1A6-49FF-898D78558FEE}"/>
              </a:ext>
            </a:extLst>
          </p:cNvPr>
          <p:cNvSpPr txBox="1"/>
          <p:nvPr/>
        </p:nvSpPr>
        <p:spPr>
          <a:xfrm>
            <a:off x="6117973" y="3677602"/>
            <a:ext cx="4925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Best for complex, conditional, or stateful workflows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999208-3FF0-6EE3-5D2D-AAA06001B452}"/>
              </a:ext>
            </a:extLst>
          </p:cNvPr>
          <p:cNvSpPr txBox="1"/>
          <p:nvPr/>
        </p:nvSpPr>
        <p:spPr>
          <a:xfrm>
            <a:off x="528089" y="4763938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Easier for standard composition scenarios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5D0385-933C-9F25-C4C4-699FB919A867}"/>
              </a:ext>
            </a:extLst>
          </p:cNvPr>
          <p:cNvSpPr txBox="1"/>
          <p:nvPr/>
        </p:nvSpPr>
        <p:spPr>
          <a:xfrm>
            <a:off x="528089" y="5043978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standardized composition model makes it easy to define new platform APIs without writing a dedicated controller.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4D428A-58CC-96BB-59FE-14E1F589E2FC}"/>
              </a:ext>
            </a:extLst>
          </p:cNvPr>
          <p:cNvSpPr txBox="1"/>
          <p:nvPr/>
        </p:nvSpPr>
        <p:spPr>
          <a:xfrm>
            <a:off x="6086149" y="4752713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Easier for custom logic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AB9CDA-1159-3962-1DBE-D2CAE27002AD}"/>
              </a:ext>
            </a:extLst>
          </p:cNvPr>
          <p:cNvSpPr txBox="1"/>
          <p:nvPr/>
        </p:nvSpPr>
        <p:spPr>
          <a:xfrm>
            <a:off x="6086149" y="5032753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Better debuggability in Go due to the concentrated logic. </a:t>
            </a:r>
          </a:p>
        </p:txBody>
      </p:sp>
      <p:pic>
        <p:nvPicPr>
          <p:cNvPr id="33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A94CAD8F-5330-EE61-7091-B99BD205B57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9175" y="4453350"/>
            <a:ext cx="1841376" cy="18413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53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">
          <a:extLst>
            <a:ext uri="{FF2B5EF4-FFF2-40B4-BE49-F238E27FC236}">
              <a16:creationId xmlns:a16="http://schemas.microsoft.com/office/drawing/2014/main" id="{E1A3390E-4165-6826-468E-8A097C25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06_LOGO-Alma-Mater-Studiorum-Universita-di-Bologna.png">
            <a:extLst>
              <a:ext uri="{FF2B5EF4-FFF2-40B4-BE49-F238E27FC236}">
                <a16:creationId xmlns:a16="http://schemas.microsoft.com/office/drawing/2014/main" id="{991C82D7-96D4-6079-570A-0A43D3B9ED7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9100" y="5399476"/>
            <a:ext cx="1166384" cy="116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>
            <a:extLst>
              <a:ext uri="{FF2B5EF4-FFF2-40B4-BE49-F238E27FC236}">
                <a16:creationId xmlns:a16="http://schemas.microsoft.com/office/drawing/2014/main" id="{6E7B9166-7DD3-9B15-DD7B-08B9D14FD88E}"/>
              </a:ext>
            </a:extLst>
          </p:cNvPr>
          <p:cNvSpPr txBox="1"/>
          <p:nvPr/>
        </p:nvSpPr>
        <p:spPr>
          <a:xfrm>
            <a:off x="243349" y="230500"/>
            <a:ext cx="10997201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4000" b="1" dirty="0">
                <a:solidFill>
                  <a:schemeClr val="dk1"/>
                </a:solidFill>
              </a:rPr>
              <a:t>Developer Interface</a:t>
            </a:r>
            <a:endParaRPr sz="4000" b="1" dirty="0">
              <a:solidFill>
                <a:schemeClr val="dk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157A0A-19D3-2B28-56AE-CC8557812D7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417864" y="6294726"/>
            <a:ext cx="1597572" cy="27115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CFABCFA-19AF-1464-76DD-9B042CE8B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r="85986"/>
          <a:stretch>
            <a:fillRect/>
          </a:stretch>
        </p:blipFill>
        <p:spPr>
          <a:xfrm>
            <a:off x="120438" y="1013167"/>
            <a:ext cx="732422" cy="113004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F4092DF-40EF-0345-A71E-451ABD6B5C8D}"/>
              </a:ext>
            </a:extLst>
          </p:cNvPr>
          <p:cNvCxnSpPr>
            <a:cxnSpLocks/>
          </p:cNvCxnSpPr>
          <p:nvPr/>
        </p:nvCxnSpPr>
        <p:spPr>
          <a:xfrm>
            <a:off x="5785945" y="1423104"/>
            <a:ext cx="0" cy="3984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049D979-FCB1-0F77-7FF8-C2A683E7ECE9}"/>
              </a:ext>
            </a:extLst>
          </p:cNvPr>
          <p:cNvSpPr txBox="1"/>
          <p:nvPr/>
        </p:nvSpPr>
        <p:spPr>
          <a:xfrm>
            <a:off x="1" y="968502"/>
            <a:ext cx="57708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Crossplane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7A23C3-D3A1-1F9E-A3E1-CEF4489DE8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3032"/>
          <a:stretch>
            <a:fillRect/>
          </a:stretch>
        </p:blipFill>
        <p:spPr>
          <a:xfrm>
            <a:off x="11323478" y="807900"/>
            <a:ext cx="625173" cy="1106034"/>
          </a:xfrm>
          <a:prstGeom prst="rect">
            <a:avLst/>
          </a:prstGeom>
        </p:spPr>
      </p:pic>
      <p:sp>
        <p:nvSpPr>
          <p:cNvPr id="13" name="Google Shape;93;p14">
            <a:extLst>
              <a:ext uri="{FF2B5EF4-FFF2-40B4-BE49-F238E27FC236}">
                <a16:creationId xmlns:a16="http://schemas.microsoft.com/office/drawing/2014/main" id="{FEF0628A-78BC-1456-258B-22E26890448C}"/>
              </a:ext>
            </a:extLst>
          </p:cNvPr>
          <p:cNvSpPr txBox="1"/>
          <p:nvPr/>
        </p:nvSpPr>
        <p:spPr>
          <a:xfrm>
            <a:off x="5785946" y="926206"/>
            <a:ext cx="640605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/>
            <a:r>
              <a:rPr lang="en-US" sz="4500" b="1" dirty="0">
                <a:solidFill>
                  <a:schemeClr val="dk1"/>
                </a:solidFill>
              </a:rPr>
              <a:t>Kubebuilder</a:t>
            </a:r>
            <a:endParaRPr sz="4500" b="1" dirty="0">
              <a:solidFill>
                <a:schemeClr val="dk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49C85-1C0C-2CF9-1656-CA14FC09BA50}"/>
              </a:ext>
            </a:extLst>
          </p:cNvPr>
          <p:cNvSpPr txBox="1"/>
          <p:nvPr/>
        </p:nvSpPr>
        <p:spPr>
          <a:xfrm>
            <a:off x="528113" y="187187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Declarative YAML Composition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EC6994-1F20-2E57-15F6-6963E983688E}"/>
              </a:ext>
            </a:extLst>
          </p:cNvPr>
          <p:cNvSpPr txBox="1"/>
          <p:nvPr/>
        </p:nvSpPr>
        <p:spPr>
          <a:xfrm>
            <a:off x="528113" y="2179015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Abstractions are built using schemas written in declarative YAML declarations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9EDD1B-A3DC-7AC1-E773-E5A6252962C1}"/>
              </a:ext>
            </a:extLst>
          </p:cNvPr>
          <p:cNvSpPr txBox="1"/>
          <p:nvPr/>
        </p:nvSpPr>
        <p:spPr>
          <a:xfrm>
            <a:off x="6112329" y="1871871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Imperative GO Logic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E0577A-B159-EB37-1F82-C368B57DDB11}"/>
              </a:ext>
            </a:extLst>
          </p:cNvPr>
          <p:cNvSpPr txBox="1"/>
          <p:nvPr/>
        </p:nvSpPr>
        <p:spPr>
          <a:xfrm>
            <a:off x="6112329" y="2241203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controller code is written with standard backend code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A7BC1A-D267-70B9-2ABA-D671A44616D3}"/>
              </a:ext>
            </a:extLst>
          </p:cNvPr>
          <p:cNvSpPr txBox="1"/>
          <p:nvPr/>
        </p:nvSpPr>
        <p:spPr>
          <a:xfrm>
            <a:off x="528113" y="3144178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Additional functions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E4FDB1-D6F7-ACFE-3E25-E620FA42E3D2}"/>
              </a:ext>
            </a:extLst>
          </p:cNvPr>
          <p:cNvSpPr txBox="1"/>
          <p:nvPr/>
        </p:nvSpPr>
        <p:spPr>
          <a:xfrm>
            <a:off x="528113" y="3424218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Additional conditional transformations can be used via functions built in imperative languages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B3300D-F911-1A3E-3C54-0E2053649EC8}"/>
              </a:ext>
            </a:extLst>
          </p:cNvPr>
          <p:cNvSpPr txBox="1"/>
          <p:nvPr/>
        </p:nvSpPr>
        <p:spPr>
          <a:xfrm>
            <a:off x="6091801" y="3144178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Direct control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29B1E4-6325-73C3-4B50-719CEC8FCA12}"/>
              </a:ext>
            </a:extLst>
          </p:cNvPr>
          <p:cNvSpPr txBox="1"/>
          <p:nvPr/>
        </p:nvSpPr>
        <p:spPr>
          <a:xfrm>
            <a:off x="6091801" y="3407889"/>
            <a:ext cx="49258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controller directly reconciles the Custom Resource and target resources. The reconcile logic is completely customizable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8BF641-FE27-1662-6C38-3FC3956EE21F}"/>
              </a:ext>
            </a:extLst>
          </p:cNvPr>
          <p:cNvSpPr txBox="1"/>
          <p:nvPr/>
        </p:nvSpPr>
        <p:spPr>
          <a:xfrm>
            <a:off x="554269" y="4496242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Easier to implement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B8DF56-B85C-B4FB-62F6-09D43BCAB8AD}"/>
              </a:ext>
            </a:extLst>
          </p:cNvPr>
          <p:cNvSpPr txBox="1"/>
          <p:nvPr/>
        </p:nvSpPr>
        <p:spPr>
          <a:xfrm>
            <a:off x="554269" y="4776282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standardized framework makes it easy to implement the new controller.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C02362-C6E8-EFCC-9402-25DC08B222EB}"/>
              </a:ext>
            </a:extLst>
          </p:cNvPr>
          <p:cNvSpPr txBox="1"/>
          <p:nvPr/>
        </p:nvSpPr>
        <p:spPr>
          <a:xfrm>
            <a:off x="6112329" y="4485017"/>
            <a:ext cx="4925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Maximum flexibility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9F6AE0-34DD-CB5F-0CB6-7B30C37A2A6B}"/>
              </a:ext>
            </a:extLst>
          </p:cNvPr>
          <p:cNvSpPr txBox="1"/>
          <p:nvPr/>
        </p:nvSpPr>
        <p:spPr>
          <a:xfrm>
            <a:off x="6112329" y="4765057"/>
            <a:ext cx="49258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Maximum flexibility, but increased maintenance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3032907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1349</TotalTime>
  <Words>1741</Words>
  <Application>Microsoft Office PowerPoint</Application>
  <PresentationFormat>Widescreen</PresentationFormat>
  <Paragraphs>299</Paragraphs>
  <Slides>24</Slides>
  <Notes>24</Notes>
  <HiddenSlides>7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Lorenzo De Luca</cp:lastModifiedBy>
  <cp:revision>14</cp:revision>
  <dcterms:modified xsi:type="dcterms:W3CDTF">2026-07-16T01:07:45Z</dcterms:modified>
</cp:coreProperties>
</file>