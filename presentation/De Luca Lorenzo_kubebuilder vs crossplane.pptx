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68" r:id="rId3"/>
    <p:sldId id="269" r:id="rId4"/>
    <p:sldId id="271" r:id="rId5"/>
    <p:sldId id="281" r:id="rId6"/>
    <p:sldId id="272" r:id="rId7"/>
    <p:sldId id="282" r:id="rId8"/>
    <p:sldId id="273" r:id="rId9"/>
    <p:sldId id="274" r:id="rId10"/>
    <p:sldId id="275" r:id="rId11"/>
    <p:sldId id="277" r:id="rId12"/>
    <p:sldId id="278" r:id="rId13"/>
    <p:sldId id="279" r:id="rId14"/>
    <p:sldId id="280" r:id="rId15"/>
    <p:sldId id="265" r:id="rId16"/>
    <p:sldId id="264" r:id="rId17"/>
    <p:sldId id="270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288" y="174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89159000-82B2-9A1C-1CF8-0BC1803C4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f4563ff73_0_4:notes">
            <a:extLst>
              <a:ext uri="{FF2B5EF4-FFF2-40B4-BE49-F238E27FC236}">
                <a16:creationId xmlns:a16="http://schemas.microsoft.com/office/drawing/2014/main" id="{0A04039C-275E-253D-85BA-9C2410E2EB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Control plane framework, declarative model, composition. Internal Development Platform</a:t>
            </a:r>
            <a:endParaRPr dirty="0"/>
          </a:p>
        </p:txBody>
      </p:sp>
      <p:sp>
        <p:nvSpPr>
          <p:cNvPr id="90" name="Google Shape;90;g3ef4563ff73_0_4:notes">
            <a:extLst>
              <a:ext uri="{FF2B5EF4-FFF2-40B4-BE49-F238E27FC236}">
                <a16:creationId xmlns:a16="http://schemas.microsoft.com/office/drawing/2014/main" id="{87E521DB-B0A6-C78E-EC96-BEF4890064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2786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35D28C03-DD5F-3F11-F0E6-52D12ECFD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f4563ff73_0_4:notes">
            <a:extLst>
              <a:ext uri="{FF2B5EF4-FFF2-40B4-BE49-F238E27FC236}">
                <a16:creationId xmlns:a16="http://schemas.microsoft.com/office/drawing/2014/main" id="{96EB6A23-40C7-A659-9D5F-0B7A85E659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build custom Kubernetes operators, Infrastructure behavior is explicitly defined, domain-specific</a:t>
            </a:r>
            <a:endParaRPr dirty="0"/>
          </a:p>
        </p:txBody>
      </p:sp>
      <p:sp>
        <p:nvSpPr>
          <p:cNvPr id="90" name="Google Shape;90;g3ef4563ff73_0_4:notes">
            <a:extLst>
              <a:ext uri="{FF2B5EF4-FFF2-40B4-BE49-F238E27FC236}">
                <a16:creationId xmlns:a16="http://schemas.microsoft.com/office/drawing/2014/main" id="{0772893C-02A9-4586-7F28-11A2A20324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0829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AF15ACB3-E2A3-6860-B994-66CBF1161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f4563ff73_0_4:notes">
            <a:extLst>
              <a:ext uri="{FF2B5EF4-FFF2-40B4-BE49-F238E27FC236}">
                <a16:creationId xmlns:a16="http://schemas.microsoft.com/office/drawing/2014/main" id="{C356C650-5882-B701-9D00-DC0BF755BC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/>
              <a:t>Crossplane standardizes multi-resource orchestration; Kubebuilder gives direct control over every reconciliation step.</a:t>
            </a:r>
            <a:endParaRPr b="0" dirty="0"/>
          </a:p>
        </p:txBody>
      </p:sp>
      <p:sp>
        <p:nvSpPr>
          <p:cNvPr id="90" name="Google Shape;90;g3ef4563ff73_0_4:notes">
            <a:extLst>
              <a:ext uri="{FF2B5EF4-FFF2-40B4-BE49-F238E27FC236}">
                <a16:creationId xmlns:a16="http://schemas.microsoft.com/office/drawing/2014/main" id="{83809112-65AC-37FE-F1A1-9B3B46E90E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8060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AF3F9182-3361-2C14-3BA8-288C799E8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f4563ff73_0_4:notes">
            <a:extLst>
              <a:ext uri="{FF2B5EF4-FFF2-40B4-BE49-F238E27FC236}">
                <a16:creationId xmlns:a16="http://schemas.microsoft.com/office/drawing/2014/main" id="{75185A01-A411-A835-4C93-EF78478676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/>
              <a:t>Crossplane standardizes multi-resource orchestration; Kubebuilder gives direct control over every reconciliation step.</a:t>
            </a:r>
            <a:endParaRPr b="0" dirty="0"/>
          </a:p>
        </p:txBody>
      </p:sp>
      <p:sp>
        <p:nvSpPr>
          <p:cNvPr id="90" name="Google Shape;90;g3ef4563ff73_0_4:notes">
            <a:extLst>
              <a:ext uri="{FF2B5EF4-FFF2-40B4-BE49-F238E27FC236}">
                <a16:creationId xmlns:a16="http://schemas.microsoft.com/office/drawing/2014/main" id="{5391DD1C-225D-3609-855D-594411A5DB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7021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132BE6D4-1555-98F0-BB79-290AA29A7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f4563ff73_0_4:notes">
            <a:extLst>
              <a:ext uri="{FF2B5EF4-FFF2-40B4-BE49-F238E27FC236}">
                <a16:creationId xmlns:a16="http://schemas.microsoft.com/office/drawing/2014/main" id="{F546A280-0CAB-4FF8-0848-FE8BF44FF0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/>
              <a:t>Crossplane standardizes multi-resource orchestration; Kubebuilder gives direct control over every reconciliation step.</a:t>
            </a:r>
            <a:endParaRPr b="0" dirty="0"/>
          </a:p>
        </p:txBody>
      </p:sp>
      <p:sp>
        <p:nvSpPr>
          <p:cNvPr id="90" name="Google Shape;90;g3ef4563ff73_0_4:notes">
            <a:extLst>
              <a:ext uri="{FF2B5EF4-FFF2-40B4-BE49-F238E27FC236}">
                <a16:creationId xmlns:a16="http://schemas.microsoft.com/office/drawing/2014/main" id="{BFF49FAA-4432-D6A4-A183-129A3A07C5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5093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13705DD7-BB81-0A0A-415E-05867F3D5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f4563ff73_0_4:notes">
            <a:extLst>
              <a:ext uri="{FF2B5EF4-FFF2-40B4-BE49-F238E27FC236}">
                <a16:creationId xmlns:a16="http://schemas.microsoft.com/office/drawing/2014/main" id="{EA5FB3B6-4079-5519-92A9-E600FCB85F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/>
              <a:t>It depends… </a:t>
            </a:r>
            <a:r>
              <a:rPr lang="en-US" sz="1100" b="1" dirty="0" err="1"/>
              <a:t>obv</a:t>
            </a:r>
            <a:endParaRPr b="0" dirty="0"/>
          </a:p>
        </p:txBody>
      </p:sp>
      <p:sp>
        <p:nvSpPr>
          <p:cNvPr id="90" name="Google Shape;90;g3ef4563ff73_0_4:notes">
            <a:extLst>
              <a:ext uri="{FF2B5EF4-FFF2-40B4-BE49-F238E27FC236}">
                <a16:creationId xmlns:a16="http://schemas.microsoft.com/office/drawing/2014/main" id="{755496AB-0C60-8AB5-E181-CDAD5E64F8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4013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26545070-400A-0F14-6C7B-9DD6880C8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DC072F86-BCB1-B39A-E3E2-E41F7F89A4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66D34413-DD10-9A3F-64F6-C1D8726E91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6572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5EA263A2-4153-56F4-BC92-4A5663D14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f4563ff73_0_4:notes">
            <a:extLst>
              <a:ext uri="{FF2B5EF4-FFF2-40B4-BE49-F238E27FC236}">
                <a16:creationId xmlns:a16="http://schemas.microsoft.com/office/drawing/2014/main" id="{262F23E6-AC52-C82A-D868-1FC39A25AF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Control plane framework, declarative model, composition. Internal Development Platform</a:t>
            </a:r>
            <a:endParaRPr dirty="0"/>
          </a:p>
        </p:txBody>
      </p:sp>
      <p:sp>
        <p:nvSpPr>
          <p:cNvPr id="90" name="Google Shape;90;g3ef4563ff73_0_4:notes">
            <a:extLst>
              <a:ext uri="{FF2B5EF4-FFF2-40B4-BE49-F238E27FC236}">
                <a16:creationId xmlns:a16="http://schemas.microsoft.com/office/drawing/2014/main" id="{9E4B478F-4EC5-8277-FFEF-ABE7B52558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0433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2D291637-66E0-230F-394C-48C409EC6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f4563ff73_0_4:notes">
            <a:extLst>
              <a:ext uri="{FF2B5EF4-FFF2-40B4-BE49-F238E27FC236}">
                <a16:creationId xmlns:a16="http://schemas.microsoft.com/office/drawing/2014/main" id="{0127D84D-12C5-330C-CC9D-20E4BE0D6D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Control plane framework, declarative model, composition. Internal Development Platform</a:t>
            </a:r>
            <a:endParaRPr dirty="0"/>
          </a:p>
        </p:txBody>
      </p:sp>
      <p:sp>
        <p:nvSpPr>
          <p:cNvPr id="90" name="Google Shape;90;g3ef4563ff73_0_4:notes">
            <a:extLst>
              <a:ext uri="{FF2B5EF4-FFF2-40B4-BE49-F238E27FC236}">
                <a16:creationId xmlns:a16="http://schemas.microsoft.com/office/drawing/2014/main" id="{23700625-95C5-B90A-3290-C997D417EF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9303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7B07D2CC-4DF7-7694-015C-67DF3281A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f4563ff73_0_4:notes">
            <a:extLst>
              <a:ext uri="{FF2B5EF4-FFF2-40B4-BE49-F238E27FC236}">
                <a16:creationId xmlns:a16="http://schemas.microsoft.com/office/drawing/2014/main" id="{07D0995C-2301-B3D6-0E43-0E976677B5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Control plane framework, declarative model, composition. Internal Development Platform</a:t>
            </a:r>
            <a:endParaRPr dirty="0"/>
          </a:p>
        </p:txBody>
      </p:sp>
      <p:sp>
        <p:nvSpPr>
          <p:cNvPr id="90" name="Google Shape;90;g3ef4563ff73_0_4:notes">
            <a:extLst>
              <a:ext uri="{FF2B5EF4-FFF2-40B4-BE49-F238E27FC236}">
                <a16:creationId xmlns:a16="http://schemas.microsoft.com/office/drawing/2014/main" id="{79F54305-7D01-A3E8-F0DC-E9831A42EB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1276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5BDD35D3-C64C-4375-0350-DA081E465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f4563ff73_0_4:notes">
            <a:extLst>
              <a:ext uri="{FF2B5EF4-FFF2-40B4-BE49-F238E27FC236}">
                <a16:creationId xmlns:a16="http://schemas.microsoft.com/office/drawing/2014/main" id="{1F3EEAD9-5F3D-6460-BC4A-4FF91D42B2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Control plane framework, declarative model, composition. Internal Development Platform</a:t>
            </a:r>
            <a:endParaRPr dirty="0"/>
          </a:p>
        </p:txBody>
      </p:sp>
      <p:sp>
        <p:nvSpPr>
          <p:cNvPr id="90" name="Google Shape;90;g3ef4563ff73_0_4:notes">
            <a:extLst>
              <a:ext uri="{FF2B5EF4-FFF2-40B4-BE49-F238E27FC236}">
                <a16:creationId xmlns:a16="http://schemas.microsoft.com/office/drawing/2014/main" id="{4B5649AC-E0A8-3B93-0D39-D095A6E770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9636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A0236F17-C1B1-C9CF-8800-146027CF5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f4563ff73_0_4:notes">
            <a:extLst>
              <a:ext uri="{FF2B5EF4-FFF2-40B4-BE49-F238E27FC236}">
                <a16:creationId xmlns:a16="http://schemas.microsoft.com/office/drawing/2014/main" id="{009B6865-6382-0971-56B0-CE25C73AA0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Control plane framework, declarative model, composition. Internal Development Platform</a:t>
            </a:r>
            <a:endParaRPr dirty="0"/>
          </a:p>
        </p:txBody>
      </p:sp>
      <p:sp>
        <p:nvSpPr>
          <p:cNvPr id="90" name="Google Shape;90;g3ef4563ff73_0_4:notes">
            <a:extLst>
              <a:ext uri="{FF2B5EF4-FFF2-40B4-BE49-F238E27FC236}">
                <a16:creationId xmlns:a16="http://schemas.microsoft.com/office/drawing/2014/main" id="{340902E1-B4FB-F313-0575-381FE0A4A8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7741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DF594FA2-3B03-86DC-A5B7-02CA2E514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f4563ff73_0_4:notes">
            <a:extLst>
              <a:ext uri="{FF2B5EF4-FFF2-40B4-BE49-F238E27FC236}">
                <a16:creationId xmlns:a16="http://schemas.microsoft.com/office/drawing/2014/main" id="{9121A567-9923-5524-B9E6-7CBCED8E2D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Control plane framework, declarative model, composition. Internal Development Platform</a:t>
            </a:r>
            <a:endParaRPr dirty="0"/>
          </a:p>
        </p:txBody>
      </p:sp>
      <p:sp>
        <p:nvSpPr>
          <p:cNvPr id="90" name="Google Shape;90;g3ef4563ff73_0_4:notes">
            <a:extLst>
              <a:ext uri="{FF2B5EF4-FFF2-40B4-BE49-F238E27FC236}">
                <a16:creationId xmlns:a16="http://schemas.microsoft.com/office/drawing/2014/main" id="{2ADDEC38-1A9B-9CB1-CB97-C2834EF704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1765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6B46B507-3F20-F699-F80E-CB982326A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f4563ff73_0_78:notes">
            <a:extLst>
              <a:ext uri="{FF2B5EF4-FFF2-40B4-BE49-F238E27FC236}">
                <a16:creationId xmlns:a16="http://schemas.microsoft.com/office/drawing/2014/main" id="{89FE23AD-65A3-9346-E3FB-A761C382B0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g3ef4563ff73_0_78:notes">
            <a:extLst>
              <a:ext uri="{FF2B5EF4-FFF2-40B4-BE49-F238E27FC236}">
                <a16:creationId xmlns:a16="http://schemas.microsoft.com/office/drawing/2014/main" id="{0DE0A408-28D5-9166-C410-A8D79DD38E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0109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f4563ff73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g3ef4563ff73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6869B14A-C006-A937-CB24-C54FDF94D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f4563ff73_0_4:notes">
            <a:extLst>
              <a:ext uri="{FF2B5EF4-FFF2-40B4-BE49-F238E27FC236}">
                <a16:creationId xmlns:a16="http://schemas.microsoft.com/office/drawing/2014/main" id="{3C4E2BAE-B960-5864-7945-38DCB5B51D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g3ef4563ff73_0_4:notes">
            <a:extLst>
              <a:ext uri="{FF2B5EF4-FFF2-40B4-BE49-F238E27FC236}">
                <a16:creationId xmlns:a16="http://schemas.microsoft.com/office/drawing/2014/main" id="{A8376354-BC9E-9CCD-B7CF-4C9B9F6594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154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segmentio/kafka-go" TargetMode="External"/><Relationship Id="rId5" Type="http://schemas.openxmlformats.org/officeDocument/2006/relationships/hyperlink" Target="https://docs.crossplane.io/v2.3" TargetMode="External"/><Relationship Id="rId4" Type="http://schemas.openxmlformats.org/officeDocument/2006/relationships/hyperlink" Target="https://book.kubebuilder.io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305250" y="2660483"/>
            <a:ext cx="115815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6600" b="1" i="1" dirty="0"/>
              <a:t>Crossplane vs Kubebuilder </a:t>
            </a:r>
            <a:endParaRPr sz="6600" b="1" dirty="0">
              <a:solidFill>
                <a:schemeClr val="dk1"/>
              </a:solidFill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0" y="5117440"/>
            <a:ext cx="121920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</a:rPr>
              <a:t>Infrastructures for Cloud Computing and Big Data M</a:t>
            </a:r>
            <a:endParaRPr sz="2000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</a:rPr>
              <a:t>Lorenzo De Luca</a:t>
            </a:r>
            <a:endParaRPr sz="2000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</a:rPr>
              <a:t>0001240461 </a:t>
            </a:r>
            <a:endParaRPr sz="2000" dirty="0">
              <a:solidFill>
                <a:schemeClr val="dk1"/>
              </a:solidFill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305200" y="3860075"/>
            <a:ext cx="75816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/>
            <a:r>
              <a:rPr lang="en-US" dirty="0"/>
              <a:t>paradigms, abstraction, complexity, extensibility and performance comparison with a common use case implementation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55B22E-AE21-74C2-8746-91B386CCDC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273" y="310296"/>
            <a:ext cx="2457454" cy="18177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D3B6F108-FBB4-4684-ABEE-EBB301A8E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title="06_LOGO-Alma-Mater-Studiorum-Universita-di-Bologna.png">
            <a:extLst>
              <a:ext uri="{FF2B5EF4-FFF2-40B4-BE49-F238E27FC236}">
                <a16:creationId xmlns:a16="http://schemas.microsoft.com/office/drawing/2014/main" id="{953C1BFB-DD5E-0DDA-063C-F514F8C1AE4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9175" y="4453350"/>
            <a:ext cx="1841376" cy="1841376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35EE0FE3-3CD9-AA7B-2640-4DF9883331E1}"/>
              </a:ext>
            </a:extLst>
          </p:cNvPr>
          <p:cNvSpPr txBox="1"/>
          <p:nvPr/>
        </p:nvSpPr>
        <p:spPr>
          <a:xfrm>
            <a:off x="243349" y="230500"/>
            <a:ext cx="10997201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sz="4500" b="1" dirty="0">
                <a:solidFill>
                  <a:schemeClr val="dk1"/>
                </a:solidFill>
              </a:rPr>
              <a:t>Crossplane</a:t>
            </a:r>
            <a:endParaRPr sz="4500" b="1" dirty="0">
              <a:solidFill>
                <a:schemeClr val="dk1"/>
              </a:solidFill>
            </a:endParaRPr>
          </a:p>
        </p:txBody>
      </p:sp>
      <p:sp>
        <p:nvSpPr>
          <p:cNvPr id="94" name="Google Shape;94;p14">
            <a:extLst>
              <a:ext uri="{FF2B5EF4-FFF2-40B4-BE49-F238E27FC236}">
                <a16:creationId xmlns:a16="http://schemas.microsoft.com/office/drawing/2014/main" id="{2D1651A3-B8DE-D555-634B-46F770456606}"/>
              </a:ext>
            </a:extLst>
          </p:cNvPr>
          <p:cNvSpPr txBox="1"/>
          <p:nvPr/>
        </p:nvSpPr>
        <p:spPr>
          <a:xfrm>
            <a:off x="772510" y="1146178"/>
            <a:ext cx="11163080" cy="4616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95300" indent="-457200">
              <a:lnSpc>
                <a:spcPct val="150000"/>
              </a:lnSpc>
              <a:buClr>
                <a:schemeClr val="dk1"/>
              </a:buClr>
              <a:buSzPts val="3000"/>
              <a:buFontTx/>
              <a:buChar char="-"/>
            </a:pPr>
            <a:r>
              <a:rPr lang="en-US" sz="3200" dirty="0">
                <a:solidFill>
                  <a:schemeClr val="dk1"/>
                </a:solidFill>
              </a:rPr>
              <a:t>Universal Control Plane</a:t>
            </a:r>
          </a:p>
          <a:p>
            <a:pPr marL="495300" lvl="0" indent="-457200">
              <a:lnSpc>
                <a:spcPct val="150000"/>
              </a:lnSpc>
              <a:buClr>
                <a:schemeClr val="dk1"/>
              </a:buClr>
              <a:buSzPts val="3000"/>
              <a:buFontTx/>
              <a:buChar char="-"/>
            </a:pPr>
            <a:r>
              <a:rPr lang="en-US" sz="3200" dirty="0">
                <a:solidFill>
                  <a:schemeClr val="dk1"/>
                </a:solidFill>
              </a:rPr>
              <a:t>Declarative composition model</a:t>
            </a:r>
          </a:p>
          <a:p>
            <a:pPr marL="495300" lvl="0" indent="-457200">
              <a:lnSpc>
                <a:spcPct val="150000"/>
              </a:lnSpc>
              <a:buClr>
                <a:schemeClr val="dk1"/>
              </a:buClr>
              <a:buSzPts val="3000"/>
              <a:buFontTx/>
              <a:buChar char="-"/>
            </a:pPr>
            <a:r>
              <a:rPr lang="en-US" sz="3200" dirty="0"/>
              <a:t>Strong for composition and platform engineering</a:t>
            </a:r>
          </a:p>
          <a:p>
            <a:pPr marL="495300" lvl="0" indent="-457200">
              <a:lnSpc>
                <a:spcPct val="150000"/>
              </a:lnSpc>
              <a:buClr>
                <a:schemeClr val="dk1"/>
              </a:buClr>
              <a:buSzPts val="3000"/>
              <a:buFontTx/>
              <a:buChar char="-"/>
            </a:pPr>
            <a:r>
              <a:rPr lang="en-US" sz="3200" dirty="0"/>
              <a:t>Logic in YAML + patch/transform functions</a:t>
            </a:r>
          </a:p>
          <a:p>
            <a:pPr marL="495300" lvl="0" indent="-457200">
              <a:lnSpc>
                <a:spcPct val="150000"/>
              </a:lnSpc>
              <a:buClr>
                <a:schemeClr val="dk1"/>
              </a:buClr>
              <a:buSzPts val="3000"/>
              <a:buFontTx/>
              <a:buChar char="-"/>
            </a:pPr>
            <a:r>
              <a:rPr lang="en-US" sz="3200" dirty="0"/>
              <a:t>Strength: consistency and reuse</a:t>
            </a:r>
          </a:p>
          <a:p>
            <a:pPr marL="495300" lvl="0" indent="-457200">
              <a:lnSpc>
                <a:spcPct val="150000"/>
              </a:lnSpc>
              <a:buClr>
                <a:schemeClr val="dk1"/>
              </a:buClr>
              <a:buSzPts val="3000"/>
              <a:buFontTx/>
              <a:buChar char="-"/>
            </a:pPr>
            <a:r>
              <a:rPr lang="en-US" sz="3200" dirty="0"/>
              <a:t>Limitation: less flexible for complex imperative logic</a:t>
            </a:r>
            <a:endParaRPr lang="en-US" sz="3200" dirty="0">
              <a:solidFill>
                <a:schemeClr val="dk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381B71-96FB-4B12-C0B5-D478C9C09E6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17864" y="6294726"/>
            <a:ext cx="1597572" cy="271150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620A1FD-CA56-87ED-AB38-A5B540C7BB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85986"/>
          <a:stretch>
            <a:fillRect/>
          </a:stretch>
        </p:blipFill>
        <p:spPr>
          <a:xfrm>
            <a:off x="11240550" y="201021"/>
            <a:ext cx="951450" cy="1467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479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772CE539-57AD-CD9A-9932-8834BF419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title="06_LOGO-Alma-Mater-Studiorum-Universita-di-Bologna.png">
            <a:extLst>
              <a:ext uri="{FF2B5EF4-FFF2-40B4-BE49-F238E27FC236}">
                <a16:creationId xmlns:a16="http://schemas.microsoft.com/office/drawing/2014/main" id="{5C2E127D-0EB6-BD1D-D691-D048D885C5A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9175" y="4453350"/>
            <a:ext cx="1841376" cy="1841376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8D1D3DED-EB35-046A-1C3E-A45E5B34D382}"/>
              </a:ext>
            </a:extLst>
          </p:cNvPr>
          <p:cNvSpPr txBox="1"/>
          <p:nvPr/>
        </p:nvSpPr>
        <p:spPr>
          <a:xfrm>
            <a:off x="243349" y="230500"/>
            <a:ext cx="10997201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sz="4500" b="1" dirty="0">
                <a:solidFill>
                  <a:schemeClr val="dk1"/>
                </a:solidFill>
              </a:rPr>
              <a:t>Kubebuilder</a:t>
            </a:r>
            <a:endParaRPr sz="4500" b="1" dirty="0">
              <a:solidFill>
                <a:schemeClr val="dk1"/>
              </a:solidFill>
            </a:endParaRPr>
          </a:p>
        </p:txBody>
      </p:sp>
      <p:sp>
        <p:nvSpPr>
          <p:cNvPr id="94" name="Google Shape;94;p14">
            <a:extLst>
              <a:ext uri="{FF2B5EF4-FFF2-40B4-BE49-F238E27FC236}">
                <a16:creationId xmlns:a16="http://schemas.microsoft.com/office/drawing/2014/main" id="{9873D292-F2AE-1D74-7C19-E3E8A5EFF314}"/>
              </a:ext>
            </a:extLst>
          </p:cNvPr>
          <p:cNvSpPr txBox="1"/>
          <p:nvPr/>
        </p:nvSpPr>
        <p:spPr>
          <a:xfrm>
            <a:off x="772510" y="1146178"/>
            <a:ext cx="11163080" cy="4616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95300" lvl="0" indent="-457200">
              <a:lnSpc>
                <a:spcPct val="150000"/>
              </a:lnSpc>
              <a:buClr>
                <a:schemeClr val="dk1"/>
              </a:buClr>
              <a:buSzPts val="3000"/>
              <a:buFontTx/>
              <a:buChar char="-"/>
            </a:pPr>
            <a:r>
              <a:rPr lang="en-US" sz="3200" dirty="0">
                <a:solidFill>
                  <a:schemeClr val="dk1"/>
                </a:solidFill>
              </a:rPr>
              <a:t>Low-level Go SDK</a:t>
            </a:r>
          </a:p>
          <a:p>
            <a:pPr marL="495300" lvl="0" indent="-457200">
              <a:lnSpc>
                <a:spcPct val="150000"/>
              </a:lnSpc>
              <a:buClr>
                <a:schemeClr val="dk1"/>
              </a:buClr>
              <a:buSzPts val="3000"/>
              <a:buFontTx/>
              <a:buChar char="-"/>
            </a:pPr>
            <a:r>
              <a:rPr lang="en-US" sz="3200" dirty="0">
                <a:solidFill>
                  <a:schemeClr val="dk1"/>
                </a:solidFill>
              </a:rPr>
              <a:t>Imperative control model</a:t>
            </a:r>
          </a:p>
          <a:p>
            <a:pPr marL="495300" lvl="0" indent="-457200">
              <a:lnSpc>
                <a:spcPct val="150000"/>
              </a:lnSpc>
              <a:buClr>
                <a:schemeClr val="dk1"/>
              </a:buClr>
              <a:buSzPts val="3000"/>
              <a:buFontTx/>
              <a:buChar char="-"/>
            </a:pPr>
            <a:r>
              <a:rPr lang="en-US" sz="3200" dirty="0"/>
              <a:t>Strong for writing specialized controllers from scratch.</a:t>
            </a:r>
          </a:p>
          <a:p>
            <a:pPr marL="495300" lvl="0" indent="-457200">
              <a:lnSpc>
                <a:spcPct val="150000"/>
              </a:lnSpc>
              <a:buClr>
                <a:schemeClr val="dk1"/>
              </a:buClr>
              <a:buSzPts val="3000"/>
              <a:buFontTx/>
              <a:buChar char="-"/>
            </a:pPr>
            <a:r>
              <a:rPr lang="en-US" sz="3200" dirty="0"/>
              <a:t>Logic in Go</a:t>
            </a:r>
          </a:p>
          <a:p>
            <a:pPr marL="495300" lvl="0" indent="-457200">
              <a:lnSpc>
                <a:spcPct val="150000"/>
              </a:lnSpc>
              <a:buClr>
                <a:schemeClr val="dk1"/>
              </a:buClr>
              <a:buSzPts val="3000"/>
              <a:buFontTx/>
              <a:buChar char="-"/>
            </a:pPr>
            <a:r>
              <a:rPr lang="en-US" sz="3200" dirty="0"/>
              <a:t>Strength: maximum flexibility</a:t>
            </a:r>
          </a:p>
          <a:p>
            <a:pPr marL="495300" lvl="0" indent="-457200">
              <a:lnSpc>
                <a:spcPct val="150000"/>
              </a:lnSpc>
              <a:buClr>
                <a:schemeClr val="dk1"/>
              </a:buClr>
              <a:buSzPts val="3000"/>
              <a:buFontTx/>
              <a:buChar char="-"/>
            </a:pPr>
            <a:r>
              <a:rPr lang="en-US" sz="3200" dirty="0"/>
              <a:t>Limitation: higher coding and maintenance effort</a:t>
            </a:r>
            <a:endParaRPr lang="en-US" sz="3200" dirty="0">
              <a:solidFill>
                <a:schemeClr val="dk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7D586E-CB8F-15DD-51AA-AF437F9BDEF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17864" y="6294726"/>
            <a:ext cx="1597572" cy="271150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C7F9B1-F813-5CA2-74D8-AB50394FCF8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83032"/>
          <a:stretch>
            <a:fillRect/>
          </a:stretch>
        </p:blipFill>
        <p:spPr>
          <a:xfrm>
            <a:off x="10443872" y="160671"/>
            <a:ext cx="1491718" cy="2639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062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29DE1EF3-EF8E-5242-9A95-400755AF1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D9990C09-1C4F-18F1-0F9C-938A7DEF001F}"/>
              </a:ext>
            </a:extLst>
          </p:cNvPr>
          <p:cNvSpPr txBox="1"/>
          <p:nvPr/>
        </p:nvSpPr>
        <p:spPr>
          <a:xfrm>
            <a:off x="243349" y="230500"/>
            <a:ext cx="10997201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4000" b="1" dirty="0"/>
              <a:t>Resource Management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0134A5-2785-AD5D-3453-D6CFECC8849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17864" y="6294726"/>
            <a:ext cx="1597572" cy="271150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CB476F8-212C-DD8A-0F14-C70F8CE893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5986"/>
          <a:stretch>
            <a:fillRect/>
          </a:stretch>
        </p:blipFill>
        <p:spPr>
          <a:xfrm>
            <a:off x="120438" y="1013167"/>
            <a:ext cx="732422" cy="1130044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CE645EE-6476-95AD-3F85-8407C660AC3C}"/>
              </a:ext>
            </a:extLst>
          </p:cNvPr>
          <p:cNvCxnSpPr>
            <a:cxnSpLocks/>
          </p:cNvCxnSpPr>
          <p:nvPr/>
        </p:nvCxnSpPr>
        <p:spPr>
          <a:xfrm>
            <a:off x="5785945" y="1423104"/>
            <a:ext cx="0" cy="39844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E55DB91-9A64-E528-0E86-0A9BD8610B83}"/>
              </a:ext>
            </a:extLst>
          </p:cNvPr>
          <p:cNvSpPr txBox="1"/>
          <p:nvPr/>
        </p:nvSpPr>
        <p:spPr>
          <a:xfrm>
            <a:off x="1" y="955802"/>
            <a:ext cx="57708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4000" b="1" dirty="0">
                <a:solidFill>
                  <a:schemeClr val="dk1"/>
                </a:solidFill>
              </a:rPr>
              <a:t>Crossplane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27E14B-2B9F-28DE-9A33-78F3753A73C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83032"/>
          <a:stretch>
            <a:fillRect/>
          </a:stretch>
        </p:blipFill>
        <p:spPr>
          <a:xfrm>
            <a:off x="11323478" y="807900"/>
            <a:ext cx="625173" cy="1106034"/>
          </a:xfrm>
          <a:prstGeom prst="rect">
            <a:avLst/>
          </a:prstGeom>
        </p:spPr>
      </p:pic>
      <p:sp>
        <p:nvSpPr>
          <p:cNvPr id="13" name="Google Shape;93;p14">
            <a:extLst>
              <a:ext uri="{FF2B5EF4-FFF2-40B4-BE49-F238E27FC236}">
                <a16:creationId xmlns:a16="http://schemas.microsoft.com/office/drawing/2014/main" id="{70A249BE-572F-48DB-902B-03FAF51811C2}"/>
              </a:ext>
            </a:extLst>
          </p:cNvPr>
          <p:cNvSpPr txBox="1"/>
          <p:nvPr/>
        </p:nvSpPr>
        <p:spPr>
          <a:xfrm>
            <a:off x="5785946" y="900806"/>
            <a:ext cx="6406053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/>
            <a:r>
              <a:rPr lang="en-US" sz="4000" b="1" dirty="0">
                <a:solidFill>
                  <a:schemeClr val="dk1"/>
                </a:solidFill>
              </a:rPr>
              <a:t>Kubebuilder</a:t>
            </a:r>
            <a:endParaRPr sz="4000" b="1" dirty="0">
              <a:solidFill>
                <a:schemeClr val="dk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70FF0A-93C0-B7CE-35B1-C4C64CC2CDBE}"/>
              </a:ext>
            </a:extLst>
          </p:cNvPr>
          <p:cNvSpPr txBox="1"/>
          <p:nvPr/>
        </p:nvSpPr>
        <p:spPr>
          <a:xfrm>
            <a:off x="528089" y="3578553"/>
            <a:ext cx="4925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Providers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E5D63B-DE24-F868-6E3A-2880CE22DB2A}"/>
              </a:ext>
            </a:extLst>
          </p:cNvPr>
          <p:cNvSpPr txBox="1"/>
          <p:nvPr/>
        </p:nvSpPr>
        <p:spPr>
          <a:xfrm>
            <a:off x="528089" y="3885697"/>
            <a:ext cx="49258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Providers manage external or K8s resources through standard interfaces. They handle authentication, external </a:t>
            </a:r>
            <a:r>
              <a:rPr lang="en-US" sz="1600" dirty="0" err="1"/>
              <a:t>api</a:t>
            </a:r>
            <a:r>
              <a:rPr lang="en-US" sz="1600" dirty="0"/>
              <a:t> calls and controller logic.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50308E-D702-2153-6754-ABE81D3367BD}"/>
              </a:ext>
            </a:extLst>
          </p:cNvPr>
          <p:cNvSpPr txBox="1"/>
          <p:nvPr/>
        </p:nvSpPr>
        <p:spPr>
          <a:xfrm>
            <a:off x="6091809" y="1900920"/>
            <a:ext cx="4925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Direct control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5FAB5F8-98E7-AADA-4669-822A13564C91}"/>
              </a:ext>
            </a:extLst>
          </p:cNvPr>
          <p:cNvSpPr txBox="1"/>
          <p:nvPr/>
        </p:nvSpPr>
        <p:spPr>
          <a:xfrm>
            <a:off x="6091801" y="2211522"/>
            <a:ext cx="49258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controller directly reconciles the Custom Resource and target resources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4056666-20D5-727E-3532-0386B617A5E2}"/>
              </a:ext>
            </a:extLst>
          </p:cNvPr>
          <p:cNvSpPr txBox="1"/>
          <p:nvPr/>
        </p:nvSpPr>
        <p:spPr>
          <a:xfrm>
            <a:off x="528073" y="1853886"/>
            <a:ext cx="4925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Layered model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9DA310-78FB-819B-110D-603D140FC581}"/>
              </a:ext>
            </a:extLst>
          </p:cNvPr>
          <p:cNvSpPr txBox="1"/>
          <p:nvPr/>
        </p:nvSpPr>
        <p:spPr>
          <a:xfrm>
            <a:off x="528073" y="2117597"/>
            <a:ext cx="49258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user creates a high-level custom resource describing the desired service. Crossplane uses a Composition to generate composed resources, while providers reconcile those resources against Kubernetes or external systems.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A418CD4-3C1C-3932-BD40-8343799BD2A4}"/>
              </a:ext>
            </a:extLst>
          </p:cNvPr>
          <p:cNvSpPr txBox="1"/>
          <p:nvPr/>
        </p:nvSpPr>
        <p:spPr>
          <a:xfrm>
            <a:off x="6117973" y="3642491"/>
            <a:ext cx="4925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Custom logic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71CFE7E-580B-B074-EFB2-DF681F72D84B}"/>
              </a:ext>
            </a:extLst>
          </p:cNvPr>
          <p:cNvSpPr txBox="1"/>
          <p:nvPr/>
        </p:nvSpPr>
        <p:spPr>
          <a:xfrm>
            <a:off x="6117973" y="3906202"/>
            <a:ext cx="49258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reconciler can use any Kubernetes client or external API client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63B930-B3A3-90D9-6BFC-19C3389C613B}"/>
              </a:ext>
            </a:extLst>
          </p:cNvPr>
          <p:cNvSpPr txBox="1"/>
          <p:nvPr/>
        </p:nvSpPr>
        <p:spPr>
          <a:xfrm>
            <a:off x="528081" y="5023883"/>
            <a:ext cx="4925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Status managed through Crossplane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FDFF16-3AA7-FCFB-BDA0-5BB347D4AF48}"/>
              </a:ext>
            </a:extLst>
          </p:cNvPr>
          <p:cNvSpPr txBox="1"/>
          <p:nvPr/>
        </p:nvSpPr>
        <p:spPr>
          <a:xfrm>
            <a:off x="528081" y="5331027"/>
            <a:ext cx="49258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Ownerships and status aggregation are managed through Crossplane mechanisms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4931C3-E44F-6A9E-9E78-B075B6DB1810}"/>
              </a:ext>
            </a:extLst>
          </p:cNvPr>
          <p:cNvSpPr txBox="1"/>
          <p:nvPr/>
        </p:nvSpPr>
        <p:spPr>
          <a:xfrm>
            <a:off x="6091801" y="4973083"/>
            <a:ext cx="4925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Status managed in code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08B481-BD4F-A41E-74E0-2734162D00AE}"/>
              </a:ext>
            </a:extLst>
          </p:cNvPr>
          <p:cNvSpPr txBox="1"/>
          <p:nvPr/>
        </p:nvSpPr>
        <p:spPr>
          <a:xfrm>
            <a:off x="6091801" y="5236794"/>
            <a:ext cx="49258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Ownership references, status conditions, and lifecycle logic are managed in code</a:t>
            </a:r>
          </a:p>
        </p:txBody>
      </p:sp>
      <p:pic>
        <p:nvPicPr>
          <p:cNvPr id="19" name="Google Shape;92;p14" title="06_LOGO-Alma-Mater-Studiorum-Universita-di-Bologna.png">
            <a:extLst>
              <a:ext uri="{FF2B5EF4-FFF2-40B4-BE49-F238E27FC236}">
                <a16:creationId xmlns:a16="http://schemas.microsoft.com/office/drawing/2014/main" id="{2A55E1DE-D424-4E99-7A58-B0D43BA7F06D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99175" y="4453350"/>
            <a:ext cx="1841376" cy="18413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85471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D1B2AFFA-A957-EA93-0065-71F4E9D1E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title="06_LOGO-Alma-Mater-Studiorum-Universita-di-Bologna.png">
            <a:extLst>
              <a:ext uri="{FF2B5EF4-FFF2-40B4-BE49-F238E27FC236}">
                <a16:creationId xmlns:a16="http://schemas.microsoft.com/office/drawing/2014/main" id="{97346CB5-D93F-91B9-BD46-EC28C65E94F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89100" y="5399476"/>
            <a:ext cx="1166384" cy="11664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D154E936-5FAD-9A1B-0336-C5157D973B9A}"/>
              </a:ext>
            </a:extLst>
          </p:cNvPr>
          <p:cNvSpPr txBox="1"/>
          <p:nvPr/>
        </p:nvSpPr>
        <p:spPr>
          <a:xfrm>
            <a:off x="243349" y="230500"/>
            <a:ext cx="10997201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4000" b="1" dirty="0"/>
              <a:t>Abstraction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547F60-14A3-7793-5537-78CA280AE1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17864" y="6294726"/>
            <a:ext cx="1597572" cy="271150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2370DEF-A55E-A15C-7BED-83A951BD97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85986"/>
          <a:stretch>
            <a:fillRect/>
          </a:stretch>
        </p:blipFill>
        <p:spPr>
          <a:xfrm>
            <a:off x="120438" y="1013167"/>
            <a:ext cx="732422" cy="1130044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40EAEE4-AF11-C14E-F64D-D6A81CC553F5}"/>
              </a:ext>
            </a:extLst>
          </p:cNvPr>
          <p:cNvCxnSpPr>
            <a:cxnSpLocks/>
          </p:cNvCxnSpPr>
          <p:nvPr/>
        </p:nvCxnSpPr>
        <p:spPr>
          <a:xfrm>
            <a:off x="5785945" y="1423104"/>
            <a:ext cx="0" cy="39844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3498C76-BEA2-1823-4440-036A98238328}"/>
              </a:ext>
            </a:extLst>
          </p:cNvPr>
          <p:cNvSpPr txBox="1"/>
          <p:nvPr/>
        </p:nvSpPr>
        <p:spPr>
          <a:xfrm>
            <a:off x="1" y="968502"/>
            <a:ext cx="5770898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4500" b="1" dirty="0">
                <a:solidFill>
                  <a:schemeClr val="dk1"/>
                </a:solidFill>
              </a:rPr>
              <a:t>Crossplane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9831BC-5B54-CD19-211E-4E3AFFFAD9F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83032"/>
          <a:stretch>
            <a:fillRect/>
          </a:stretch>
        </p:blipFill>
        <p:spPr>
          <a:xfrm>
            <a:off x="11323478" y="807900"/>
            <a:ext cx="625173" cy="1106034"/>
          </a:xfrm>
          <a:prstGeom prst="rect">
            <a:avLst/>
          </a:prstGeom>
        </p:spPr>
      </p:pic>
      <p:sp>
        <p:nvSpPr>
          <p:cNvPr id="13" name="Google Shape;93;p14">
            <a:extLst>
              <a:ext uri="{FF2B5EF4-FFF2-40B4-BE49-F238E27FC236}">
                <a16:creationId xmlns:a16="http://schemas.microsoft.com/office/drawing/2014/main" id="{8BEADE79-659A-A0CD-920F-E45AEE3AF9A4}"/>
              </a:ext>
            </a:extLst>
          </p:cNvPr>
          <p:cNvSpPr txBox="1"/>
          <p:nvPr/>
        </p:nvSpPr>
        <p:spPr>
          <a:xfrm>
            <a:off x="5785946" y="926206"/>
            <a:ext cx="6406053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/>
            <a:r>
              <a:rPr lang="en-US" sz="4500" b="1" dirty="0">
                <a:solidFill>
                  <a:schemeClr val="dk1"/>
                </a:solidFill>
              </a:rPr>
              <a:t>Kubebuilder</a:t>
            </a:r>
            <a:endParaRPr sz="4500" b="1" dirty="0">
              <a:solidFill>
                <a:schemeClr val="dk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687CC5-325E-8508-D8D0-6A99E3E529D8}"/>
              </a:ext>
            </a:extLst>
          </p:cNvPr>
          <p:cNvSpPr txBox="1"/>
          <p:nvPr/>
        </p:nvSpPr>
        <p:spPr>
          <a:xfrm>
            <a:off x="803638" y="4008153"/>
            <a:ext cx="4925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Declare the desired infrastructure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AD69B7C-DB99-5521-6EDA-6EA61BED19E8}"/>
              </a:ext>
            </a:extLst>
          </p:cNvPr>
          <p:cNvSpPr txBox="1"/>
          <p:nvPr/>
        </p:nvSpPr>
        <p:spPr>
          <a:xfrm>
            <a:off x="6314737" y="2481800"/>
            <a:ext cx="4925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Low-level framework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042155-4E0D-BFE6-4ECA-2FAB8FC9368F}"/>
              </a:ext>
            </a:extLst>
          </p:cNvPr>
          <p:cNvSpPr txBox="1"/>
          <p:nvPr/>
        </p:nvSpPr>
        <p:spPr>
          <a:xfrm>
            <a:off x="845086" y="2491334"/>
            <a:ext cx="4925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High-level Abstraction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21185A2-3C80-5015-5A03-BAF582B96961}"/>
              </a:ext>
            </a:extLst>
          </p:cNvPr>
          <p:cNvSpPr txBox="1"/>
          <p:nvPr/>
        </p:nvSpPr>
        <p:spPr>
          <a:xfrm>
            <a:off x="6288569" y="4040322"/>
            <a:ext cx="4925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Explicit control over lifecycle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B5FCC4-2009-65E6-7CFA-6983E396B01D}"/>
              </a:ext>
            </a:extLst>
          </p:cNvPr>
          <p:cNvSpPr txBox="1"/>
          <p:nvPr/>
        </p:nvSpPr>
        <p:spPr>
          <a:xfrm>
            <a:off x="831877" y="2767671"/>
            <a:ext cx="49258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User declares the desired state using a custom API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CA9DF3-D636-63D2-CB1D-2E06CF8D0FDB}"/>
              </a:ext>
            </a:extLst>
          </p:cNvPr>
          <p:cNvSpPr txBox="1"/>
          <p:nvPr/>
        </p:nvSpPr>
        <p:spPr>
          <a:xfrm>
            <a:off x="795107" y="4326685"/>
            <a:ext cx="49258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user only creates a high-level custom resource, the internal resources are generated by the Composition.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6A80B4-BCD0-083B-2275-38691CFC68DE}"/>
              </a:ext>
            </a:extLst>
          </p:cNvPr>
          <p:cNvSpPr txBox="1"/>
          <p:nvPr/>
        </p:nvSpPr>
        <p:spPr>
          <a:xfrm>
            <a:off x="6314729" y="2810151"/>
            <a:ext cx="49258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Developer defines how the desired state is reached.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597276-13C7-3EF3-D6B6-062EA8D3A976}"/>
              </a:ext>
            </a:extLst>
          </p:cNvPr>
          <p:cNvSpPr txBox="1"/>
          <p:nvPr/>
        </p:nvSpPr>
        <p:spPr>
          <a:xfrm>
            <a:off x="6288569" y="4409654"/>
            <a:ext cx="45826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The controller directly manages the resources, status updates and error handling.</a:t>
            </a:r>
          </a:p>
        </p:txBody>
      </p:sp>
    </p:spTree>
    <p:extLst>
      <p:ext uri="{BB962C8B-B14F-4D97-AF65-F5344CB8AC3E}">
        <p14:creationId xmlns:p14="http://schemas.microsoft.com/office/powerpoint/2010/main" val="1842256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77B19BFA-B109-D6D0-12C3-49DB94354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B28D684B-926E-4942-0580-ECE4F4510590}"/>
              </a:ext>
            </a:extLst>
          </p:cNvPr>
          <p:cNvSpPr txBox="1"/>
          <p:nvPr/>
        </p:nvSpPr>
        <p:spPr>
          <a:xfrm>
            <a:off x="243349" y="230500"/>
            <a:ext cx="10997201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4000" b="1" dirty="0"/>
              <a:t>Extensibility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58FBAC-CE16-D562-FB74-BC6E124651C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17864" y="6294726"/>
            <a:ext cx="1597572" cy="271150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B008B18-51F1-5780-DF25-D52AB12630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5986"/>
          <a:stretch>
            <a:fillRect/>
          </a:stretch>
        </p:blipFill>
        <p:spPr>
          <a:xfrm>
            <a:off x="120438" y="1013167"/>
            <a:ext cx="732422" cy="1130044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698C6BA-E6C8-6CA3-268F-4DD8E7242242}"/>
              </a:ext>
            </a:extLst>
          </p:cNvPr>
          <p:cNvCxnSpPr>
            <a:cxnSpLocks/>
          </p:cNvCxnSpPr>
          <p:nvPr/>
        </p:nvCxnSpPr>
        <p:spPr>
          <a:xfrm>
            <a:off x="5785945" y="1423104"/>
            <a:ext cx="0" cy="39844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0BBD712-2CFC-2494-7F9C-159B209307CB}"/>
              </a:ext>
            </a:extLst>
          </p:cNvPr>
          <p:cNvSpPr txBox="1"/>
          <p:nvPr/>
        </p:nvSpPr>
        <p:spPr>
          <a:xfrm>
            <a:off x="1" y="968502"/>
            <a:ext cx="5770898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4500" b="1" dirty="0">
                <a:solidFill>
                  <a:schemeClr val="dk1"/>
                </a:solidFill>
              </a:rPr>
              <a:t>Crossplane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E52FFDE-5C15-EDBD-B067-8D4AC40C8E3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83032"/>
          <a:stretch>
            <a:fillRect/>
          </a:stretch>
        </p:blipFill>
        <p:spPr>
          <a:xfrm>
            <a:off x="11323478" y="807900"/>
            <a:ext cx="625173" cy="1106034"/>
          </a:xfrm>
          <a:prstGeom prst="rect">
            <a:avLst/>
          </a:prstGeom>
        </p:spPr>
      </p:pic>
      <p:sp>
        <p:nvSpPr>
          <p:cNvPr id="13" name="Google Shape;93;p14">
            <a:extLst>
              <a:ext uri="{FF2B5EF4-FFF2-40B4-BE49-F238E27FC236}">
                <a16:creationId xmlns:a16="http://schemas.microsoft.com/office/drawing/2014/main" id="{4A55E554-6113-DBDC-D813-0C84C08CE483}"/>
              </a:ext>
            </a:extLst>
          </p:cNvPr>
          <p:cNvSpPr txBox="1"/>
          <p:nvPr/>
        </p:nvSpPr>
        <p:spPr>
          <a:xfrm>
            <a:off x="5785946" y="926206"/>
            <a:ext cx="6406053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/>
            <a:r>
              <a:rPr lang="en-US" sz="4500" b="1" dirty="0">
                <a:solidFill>
                  <a:schemeClr val="dk1"/>
                </a:solidFill>
              </a:rPr>
              <a:t>Kubebuilder</a:t>
            </a:r>
            <a:endParaRPr sz="4500" b="1" dirty="0">
              <a:solidFill>
                <a:schemeClr val="dk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1E748E-898B-0E88-906F-7F7F4C5A843C}"/>
              </a:ext>
            </a:extLst>
          </p:cNvPr>
          <p:cNvSpPr txBox="1"/>
          <p:nvPr/>
        </p:nvSpPr>
        <p:spPr>
          <a:xfrm>
            <a:off x="528089" y="3426153"/>
            <a:ext cx="4925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Optimized for reusability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E8C5F3-EAAA-ED36-E9D8-9B5571C603A8}"/>
              </a:ext>
            </a:extLst>
          </p:cNvPr>
          <p:cNvSpPr txBox="1"/>
          <p:nvPr/>
        </p:nvSpPr>
        <p:spPr>
          <a:xfrm>
            <a:off x="528089" y="3733297"/>
            <a:ext cx="49258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Encourages API standardization across teams. Ideal for creating Internal Development Platforms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310BC8-5A49-E276-8672-AF006019039E}"/>
              </a:ext>
            </a:extLst>
          </p:cNvPr>
          <p:cNvSpPr txBox="1"/>
          <p:nvPr/>
        </p:nvSpPr>
        <p:spPr>
          <a:xfrm>
            <a:off x="6117973" y="2179401"/>
            <a:ext cx="5257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Extensible through coding and external libs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C076EEA-78FD-3B07-74B2-BCD9FBA86F53}"/>
              </a:ext>
            </a:extLst>
          </p:cNvPr>
          <p:cNvSpPr txBox="1"/>
          <p:nvPr/>
        </p:nvSpPr>
        <p:spPr>
          <a:xfrm>
            <a:off x="6117965" y="2490003"/>
            <a:ext cx="49258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Extensible through arbitrary Go code and external libraries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A229B50-68B0-3281-D9F8-54193C5E79E2}"/>
              </a:ext>
            </a:extLst>
          </p:cNvPr>
          <p:cNvSpPr txBox="1"/>
          <p:nvPr/>
        </p:nvSpPr>
        <p:spPr>
          <a:xfrm>
            <a:off x="528097" y="2174876"/>
            <a:ext cx="4925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Extensible through components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9890B8-BDC8-4359-3115-F9A3C0F8349B}"/>
              </a:ext>
            </a:extLst>
          </p:cNvPr>
          <p:cNvSpPr txBox="1"/>
          <p:nvPr/>
        </p:nvSpPr>
        <p:spPr>
          <a:xfrm>
            <a:off x="528097" y="2438587"/>
            <a:ext cx="49258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Extensible through Providers, Functions, patching, and transformations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031613B-8369-5568-42A7-07BAF9237753}"/>
              </a:ext>
            </a:extLst>
          </p:cNvPr>
          <p:cNvSpPr txBox="1"/>
          <p:nvPr/>
        </p:nvSpPr>
        <p:spPr>
          <a:xfrm>
            <a:off x="6117973" y="3413891"/>
            <a:ext cx="4925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Optimized for specific domains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C96947B-D92B-B1A6-49FF-898D78558FEE}"/>
              </a:ext>
            </a:extLst>
          </p:cNvPr>
          <p:cNvSpPr txBox="1"/>
          <p:nvPr/>
        </p:nvSpPr>
        <p:spPr>
          <a:xfrm>
            <a:off x="6117973" y="3677602"/>
            <a:ext cx="49258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Best for complex, conditional, or stateful workflows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999208-3FF0-6EE3-5D2D-AAA06001B452}"/>
              </a:ext>
            </a:extLst>
          </p:cNvPr>
          <p:cNvSpPr txBox="1"/>
          <p:nvPr/>
        </p:nvSpPr>
        <p:spPr>
          <a:xfrm>
            <a:off x="528089" y="4763938"/>
            <a:ext cx="4925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Easier for standard composition scenarios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55D0385-933C-9F25-C4C4-699FB919A867}"/>
              </a:ext>
            </a:extLst>
          </p:cNvPr>
          <p:cNvSpPr txBox="1"/>
          <p:nvPr/>
        </p:nvSpPr>
        <p:spPr>
          <a:xfrm>
            <a:off x="528089" y="5043978"/>
            <a:ext cx="49258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standardized composition model makes it easy to define new platform APIs without writing a dedicated controller.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04D428A-58CC-96BB-59FE-14E1F589E2FC}"/>
              </a:ext>
            </a:extLst>
          </p:cNvPr>
          <p:cNvSpPr txBox="1"/>
          <p:nvPr/>
        </p:nvSpPr>
        <p:spPr>
          <a:xfrm>
            <a:off x="6086149" y="4752713"/>
            <a:ext cx="4925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Easier for custom logic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CAB9CDA-1159-3962-1DBE-D2CAE27002AD}"/>
              </a:ext>
            </a:extLst>
          </p:cNvPr>
          <p:cNvSpPr txBox="1"/>
          <p:nvPr/>
        </p:nvSpPr>
        <p:spPr>
          <a:xfrm>
            <a:off x="6086149" y="5032753"/>
            <a:ext cx="49258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Better debuggability in Go due to the concentrated logic. </a:t>
            </a:r>
          </a:p>
        </p:txBody>
      </p:sp>
      <p:pic>
        <p:nvPicPr>
          <p:cNvPr id="33" name="Google Shape;92;p14" title="06_LOGO-Alma-Mater-Studiorum-Universita-di-Bologna.png">
            <a:extLst>
              <a:ext uri="{FF2B5EF4-FFF2-40B4-BE49-F238E27FC236}">
                <a16:creationId xmlns:a16="http://schemas.microsoft.com/office/drawing/2014/main" id="{A94CAD8F-5330-EE61-7091-B99BD205B57B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99175" y="4453350"/>
            <a:ext cx="1841376" cy="18413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9753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3393A62E-B2CD-E29F-8FF2-13C51D83E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9A059039-86A5-9257-45C3-93640E4355BD}"/>
              </a:ext>
            </a:extLst>
          </p:cNvPr>
          <p:cNvSpPr txBox="1"/>
          <p:nvPr/>
        </p:nvSpPr>
        <p:spPr>
          <a:xfrm>
            <a:off x="243349" y="230500"/>
            <a:ext cx="10997201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4000" b="1" dirty="0"/>
              <a:t>Which one is better? It depends…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E7C344-BF6E-54E3-2B8C-F3FCD02C537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17864" y="6294726"/>
            <a:ext cx="1597572" cy="271150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452CC27-26D7-5403-A982-AA4F4F7FA3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6751144"/>
              </p:ext>
            </p:extLst>
          </p:nvPr>
        </p:nvGraphicFramePr>
        <p:xfrm>
          <a:off x="838199" y="1293706"/>
          <a:ext cx="10617285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9095">
                  <a:extLst>
                    <a:ext uri="{9D8B030D-6E8A-4147-A177-3AD203B41FA5}">
                      <a16:colId xmlns:a16="http://schemas.microsoft.com/office/drawing/2014/main" val="550325215"/>
                    </a:ext>
                  </a:extLst>
                </a:gridCol>
                <a:gridCol w="4088762">
                  <a:extLst>
                    <a:ext uri="{9D8B030D-6E8A-4147-A177-3AD203B41FA5}">
                      <a16:colId xmlns:a16="http://schemas.microsoft.com/office/drawing/2014/main" val="2557590795"/>
                    </a:ext>
                  </a:extLst>
                </a:gridCol>
                <a:gridCol w="2989428">
                  <a:extLst>
                    <a:ext uri="{9D8B030D-6E8A-4147-A177-3AD203B41FA5}">
                      <a16:colId xmlns:a16="http://schemas.microsoft.com/office/drawing/2014/main" val="36086651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Scenario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Better choice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Reason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233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Standard infrastructure composition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Crossplane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Declarative and reusable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943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Internal Developer Platform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Crossplane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User-friendly claims and abstractions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6879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Multi-resource self-service APIs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Crossplane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Composition model fits well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1687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Complex conditional logic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Kubebuilder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Full control in Go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8509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Custom external API integration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Kubebuilder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Any Go library can be used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609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Fine-grained lifecycle control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Kubebuilder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Reconciliation is fully programmable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581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Provisioning latency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Kubebuilder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Fewer controller layers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3260371"/>
                  </a:ext>
                </a:extLst>
              </a:tr>
              <a:tr h="29633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Debuggability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Kubebuilder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Less layers, more control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6798811"/>
                  </a:ext>
                </a:extLst>
              </a:tr>
            </a:tbl>
          </a:graphicData>
        </a:graphic>
      </p:graphicFrame>
      <p:pic>
        <p:nvPicPr>
          <p:cNvPr id="12" name="Google Shape;92;p14" title="06_LOGO-Alma-Mater-Studiorum-Universita-di-Bologna.png">
            <a:extLst>
              <a:ext uri="{FF2B5EF4-FFF2-40B4-BE49-F238E27FC236}">
                <a16:creationId xmlns:a16="http://schemas.microsoft.com/office/drawing/2014/main" id="{25F69D0D-2A57-B490-BF9C-E202DAD8121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9175" y="4453350"/>
            <a:ext cx="1841376" cy="18413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8911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6322B3F2-7BF0-AA03-CE52-CFE9AA5D1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>
            <a:extLst>
              <a:ext uri="{FF2B5EF4-FFF2-40B4-BE49-F238E27FC236}">
                <a16:creationId xmlns:a16="http://schemas.microsoft.com/office/drawing/2014/main" id="{5A27422B-4741-5789-E041-670EEFB9AAFC}"/>
              </a:ext>
            </a:extLst>
          </p:cNvPr>
          <p:cNvSpPr txBox="1"/>
          <p:nvPr/>
        </p:nvSpPr>
        <p:spPr>
          <a:xfrm>
            <a:off x="305250" y="2660483"/>
            <a:ext cx="115815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6600" b="1" i="1" dirty="0">
                <a:solidFill>
                  <a:schemeClr val="dk1"/>
                </a:solidFill>
              </a:rPr>
              <a:t>Kafka Topic Self-Service</a:t>
            </a:r>
            <a:endParaRPr sz="6600" b="1" dirty="0">
              <a:solidFill>
                <a:schemeClr val="dk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AE49C0-C479-BDC8-E65C-B48F18EA388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17864" y="6294726"/>
            <a:ext cx="1597572" cy="271150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AFFE5A-FDC9-91C6-1870-E05CFD3E3AA6}"/>
              </a:ext>
            </a:extLst>
          </p:cNvPr>
          <p:cNvSpPr txBox="1"/>
          <p:nvPr/>
        </p:nvSpPr>
        <p:spPr>
          <a:xfrm>
            <a:off x="3049314" y="6140837"/>
            <a:ext cx="60933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https://github.com/lorenzodeluca/kafka-operator-clash</a:t>
            </a:r>
          </a:p>
        </p:txBody>
      </p:sp>
    </p:spTree>
    <p:extLst>
      <p:ext uri="{BB962C8B-B14F-4D97-AF65-F5344CB8AC3E}">
        <p14:creationId xmlns:p14="http://schemas.microsoft.com/office/powerpoint/2010/main" val="3368500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50A00353-7BBD-B27F-2D9E-7862D42BC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title="06_LOGO-Alma-Mater-Studiorum-Universita-di-Bologna.png">
            <a:extLst>
              <a:ext uri="{FF2B5EF4-FFF2-40B4-BE49-F238E27FC236}">
                <a16:creationId xmlns:a16="http://schemas.microsoft.com/office/drawing/2014/main" id="{F8361B3E-68D2-9AED-3C93-9B2190A6991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9175" y="4453350"/>
            <a:ext cx="1841376" cy="1841376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392ADF07-A51D-D14B-9A34-91986EA04BDD}"/>
              </a:ext>
            </a:extLst>
          </p:cNvPr>
          <p:cNvSpPr txBox="1"/>
          <p:nvPr/>
        </p:nvSpPr>
        <p:spPr>
          <a:xfrm>
            <a:off x="243349" y="230500"/>
            <a:ext cx="10997201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sz="4500" b="1" dirty="0">
                <a:solidFill>
                  <a:schemeClr val="dk1"/>
                </a:solidFill>
              </a:rPr>
              <a:t>Common goal</a:t>
            </a:r>
            <a:endParaRPr sz="4500" b="1" dirty="0">
              <a:solidFill>
                <a:schemeClr val="dk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70095A-5161-1518-27CC-6E735137CFC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17864" y="6294726"/>
            <a:ext cx="1597572" cy="271150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C5FA651-1BBE-25C4-16A3-F93F0A0933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85986"/>
          <a:stretch>
            <a:fillRect/>
          </a:stretch>
        </p:blipFill>
        <p:spPr>
          <a:xfrm>
            <a:off x="11240550" y="201021"/>
            <a:ext cx="951450" cy="146798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EFD2E8A-24D3-EB80-332A-B15AE5B4A531}"/>
              </a:ext>
            </a:extLst>
          </p:cNvPr>
          <p:cNvSpPr txBox="1"/>
          <p:nvPr/>
        </p:nvSpPr>
        <p:spPr>
          <a:xfrm>
            <a:off x="654222" y="1539952"/>
            <a:ext cx="874495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The goal for the implemented operators is to create a new Kafka topic. Instead of manually creating all required resources, the user declares a single object called </a:t>
            </a:r>
            <a:r>
              <a:rPr lang="en-US" sz="1800" i="1" dirty="0"/>
              <a:t>DataStream</a:t>
            </a:r>
            <a:r>
              <a:rPr lang="en-US" sz="1800" dirty="0"/>
              <a:t>.</a:t>
            </a:r>
          </a:p>
          <a:p>
            <a:endParaRPr lang="en-US" sz="1800" dirty="0"/>
          </a:p>
          <a:p>
            <a:r>
              <a:rPr lang="en-US" sz="1800" dirty="0"/>
              <a:t>When a </a:t>
            </a:r>
            <a:r>
              <a:rPr lang="en-US" sz="1800" i="1" dirty="0"/>
              <a:t>DataStream</a:t>
            </a:r>
            <a:r>
              <a:rPr lang="en-US" sz="1800" dirty="0"/>
              <a:t> is created, the operator must automatically provision and reconcile a ready-to-use data pipeline: a Kafka topic where data can flow, a configuration file with the connection details, and a small consumer application that reads the connection details generated by the operator.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29940EC-20FB-CB41-B2A9-9EF515B585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8255" y="4421343"/>
            <a:ext cx="5161840" cy="214453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E342213-3296-EC48-5A80-7EC345A6DC6A}"/>
              </a:ext>
            </a:extLst>
          </p:cNvPr>
          <p:cNvSpPr txBox="1"/>
          <p:nvPr/>
        </p:nvSpPr>
        <p:spPr>
          <a:xfrm>
            <a:off x="6818255" y="4052011"/>
            <a:ext cx="8744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DataStream example:</a:t>
            </a:r>
          </a:p>
        </p:txBody>
      </p:sp>
    </p:spTree>
    <p:extLst>
      <p:ext uri="{BB962C8B-B14F-4D97-AF65-F5344CB8AC3E}">
        <p14:creationId xmlns:p14="http://schemas.microsoft.com/office/powerpoint/2010/main" val="2676927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88A42EBA-8FF3-E951-51CD-363E97D91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title="06_LOGO-Alma-Mater-Studiorum-Universita-di-Bologna.png">
            <a:extLst>
              <a:ext uri="{FF2B5EF4-FFF2-40B4-BE49-F238E27FC236}">
                <a16:creationId xmlns:a16="http://schemas.microsoft.com/office/drawing/2014/main" id="{F0C28A2E-C944-F2E4-8AAE-254062FF1F5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9175" y="4453350"/>
            <a:ext cx="1841376" cy="1841376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DA7A4356-CC9C-9BE5-CCEF-E8CE44412C80}"/>
              </a:ext>
            </a:extLst>
          </p:cNvPr>
          <p:cNvSpPr txBox="1"/>
          <p:nvPr/>
        </p:nvSpPr>
        <p:spPr>
          <a:xfrm>
            <a:off x="243349" y="230500"/>
            <a:ext cx="10997201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sz="4500" b="1" dirty="0">
                <a:solidFill>
                  <a:schemeClr val="dk1"/>
                </a:solidFill>
              </a:rPr>
              <a:t>Crossplane implementation</a:t>
            </a:r>
            <a:endParaRPr sz="4500" b="1" dirty="0">
              <a:solidFill>
                <a:schemeClr val="dk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58BC11-2F64-7E28-913A-D23EF75CDCC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17864" y="6294726"/>
            <a:ext cx="1597572" cy="271150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8E6E197-4528-DE6D-EE3F-183E98D9FC27}"/>
              </a:ext>
            </a:extLst>
          </p:cNvPr>
          <p:cNvSpPr/>
          <p:nvPr/>
        </p:nvSpPr>
        <p:spPr>
          <a:xfrm>
            <a:off x="243349" y="1230434"/>
            <a:ext cx="1430346" cy="877133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/>
              <a:t>USER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63B2E7A-6290-27BD-8C46-871DC8771C02}"/>
              </a:ext>
            </a:extLst>
          </p:cNvPr>
          <p:cNvSpPr/>
          <p:nvPr/>
        </p:nvSpPr>
        <p:spPr>
          <a:xfrm>
            <a:off x="3273453" y="1248720"/>
            <a:ext cx="1924331" cy="877133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/>
              <a:t>CROSSPLANE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0A005B9-8634-A42E-A35A-1139AD592F17}"/>
              </a:ext>
            </a:extLst>
          </p:cNvPr>
          <p:cNvCxnSpPr>
            <a:cxnSpLocks/>
          </p:cNvCxnSpPr>
          <p:nvPr/>
        </p:nvCxnSpPr>
        <p:spPr>
          <a:xfrm>
            <a:off x="1763184" y="1669000"/>
            <a:ext cx="14462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A4FCC90-0315-D4E2-7CDA-A4704CCD43A1}"/>
              </a:ext>
            </a:extLst>
          </p:cNvPr>
          <p:cNvSpPr txBox="1"/>
          <p:nvPr/>
        </p:nvSpPr>
        <p:spPr>
          <a:xfrm>
            <a:off x="2011361" y="1361223"/>
            <a:ext cx="1140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DataStream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AA22AD-9D60-27B5-C205-24B2717ED8C3}"/>
              </a:ext>
            </a:extLst>
          </p:cNvPr>
          <p:cNvSpPr txBox="1"/>
          <p:nvPr/>
        </p:nvSpPr>
        <p:spPr>
          <a:xfrm>
            <a:off x="2205473" y="1768701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(Claim)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B1BA7E5-DDB1-773B-88E5-D00E09C48E6B}"/>
              </a:ext>
            </a:extLst>
          </p:cNvPr>
          <p:cNvCxnSpPr/>
          <p:nvPr/>
        </p:nvCxnSpPr>
        <p:spPr>
          <a:xfrm>
            <a:off x="5319989" y="1687286"/>
            <a:ext cx="17525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869FBBE-0214-19B2-E3F4-E8E2ED356806}"/>
              </a:ext>
            </a:extLst>
          </p:cNvPr>
          <p:cNvSpPr txBox="1"/>
          <p:nvPr/>
        </p:nvSpPr>
        <p:spPr>
          <a:xfrm>
            <a:off x="5626222" y="1379509"/>
            <a:ext cx="12602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XDataStream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EBB387-B1AA-5052-37C3-AD6B2061FFD7}"/>
              </a:ext>
            </a:extLst>
          </p:cNvPr>
          <p:cNvSpPr txBox="1"/>
          <p:nvPr/>
        </p:nvSpPr>
        <p:spPr>
          <a:xfrm>
            <a:off x="5932271" y="1759401"/>
            <a:ext cx="55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(XR)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757EBA2-099C-81F8-BB05-32601F700467}"/>
              </a:ext>
            </a:extLst>
          </p:cNvPr>
          <p:cNvSpPr/>
          <p:nvPr/>
        </p:nvSpPr>
        <p:spPr>
          <a:xfrm>
            <a:off x="7139195" y="1230433"/>
            <a:ext cx="2113044" cy="877133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/>
              <a:t>Composition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93684C0-2ECF-3E33-F1D5-865EC033D17E}"/>
              </a:ext>
            </a:extLst>
          </p:cNvPr>
          <p:cNvCxnSpPr/>
          <p:nvPr/>
        </p:nvCxnSpPr>
        <p:spPr>
          <a:xfrm>
            <a:off x="9370055" y="1687286"/>
            <a:ext cx="17525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6FD4FA4-F0AE-807E-D10B-9120F735E20C}"/>
              </a:ext>
            </a:extLst>
          </p:cNvPr>
          <p:cNvSpPr txBox="1"/>
          <p:nvPr/>
        </p:nvSpPr>
        <p:spPr>
          <a:xfrm>
            <a:off x="9689722" y="810513"/>
            <a:ext cx="149912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Kafka Topic</a:t>
            </a:r>
          </a:p>
          <a:p>
            <a:r>
              <a:rPr lang="en-US" dirty="0"/>
              <a:t>K8s </a:t>
            </a:r>
            <a:r>
              <a:rPr lang="en-US" dirty="0" err="1"/>
              <a:t>ConfigMap</a:t>
            </a:r>
            <a:endParaRPr lang="en-US" dirty="0"/>
          </a:p>
          <a:p>
            <a:r>
              <a:rPr lang="en-US" dirty="0"/>
              <a:t>K8s Deployment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0FA16F5-5C56-3337-F56E-A65F9A9F8FD1}"/>
              </a:ext>
            </a:extLst>
          </p:cNvPr>
          <p:cNvSpPr txBox="1"/>
          <p:nvPr/>
        </p:nvSpPr>
        <p:spPr>
          <a:xfrm>
            <a:off x="9399175" y="1768701"/>
            <a:ext cx="19543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(Managed Resources)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D1C2FE3-85C2-98F1-93E7-0AD8FCF67428}"/>
              </a:ext>
            </a:extLst>
          </p:cNvPr>
          <p:cNvCxnSpPr>
            <a:cxnSpLocks/>
          </p:cNvCxnSpPr>
          <p:nvPr/>
        </p:nvCxnSpPr>
        <p:spPr>
          <a:xfrm flipV="1">
            <a:off x="455266" y="3878970"/>
            <a:ext cx="1307918" cy="5215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48A31CDF-38C7-E8C7-7D86-F16EDBD1F04D}"/>
              </a:ext>
            </a:extLst>
          </p:cNvPr>
          <p:cNvSpPr/>
          <p:nvPr/>
        </p:nvSpPr>
        <p:spPr>
          <a:xfrm>
            <a:off x="1919780" y="3001837"/>
            <a:ext cx="1924331" cy="877133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/>
              <a:t>Kafka provider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E1DBDAC-F01B-F9C7-EA55-D09F33D590F2}"/>
              </a:ext>
            </a:extLst>
          </p:cNvPr>
          <p:cNvSpPr txBox="1"/>
          <p:nvPr/>
        </p:nvSpPr>
        <p:spPr>
          <a:xfrm>
            <a:off x="246085" y="3538718"/>
            <a:ext cx="14462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Kafka Topic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5FFA8B1-A226-75F3-708F-3B4401B0830E}"/>
              </a:ext>
            </a:extLst>
          </p:cNvPr>
          <p:cNvCxnSpPr>
            <a:cxnSpLocks/>
          </p:cNvCxnSpPr>
          <p:nvPr/>
        </p:nvCxnSpPr>
        <p:spPr>
          <a:xfrm>
            <a:off x="455266" y="4400522"/>
            <a:ext cx="1307918" cy="582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023E0BDA-786B-CA07-E804-A42C38CDCE3A}"/>
              </a:ext>
            </a:extLst>
          </p:cNvPr>
          <p:cNvSpPr/>
          <p:nvPr/>
        </p:nvSpPr>
        <p:spPr>
          <a:xfrm>
            <a:off x="1919779" y="5041182"/>
            <a:ext cx="1924331" cy="877133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/>
              <a:t>K8s provider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E89030C-3FA3-4D01-3414-8A60ECC67ABE}"/>
              </a:ext>
            </a:extLst>
          </p:cNvPr>
          <p:cNvSpPr txBox="1"/>
          <p:nvPr/>
        </p:nvSpPr>
        <p:spPr>
          <a:xfrm>
            <a:off x="226285" y="4973557"/>
            <a:ext cx="14303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/>
              <a:t>ConfigMap</a:t>
            </a:r>
            <a:endParaRPr lang="en-US" sz="1400" dirty="0"/>
          </a:p>
          <a:p>
            <a:r>
              <a:rPr lang="en-US" sz="1400" dirty="0"/>
              <a:t>Deployment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926D3030-B1CD-B7B8-8EC5-CD76208E14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1048" y="2679364"/>
            <a:ext cx="2770909" cy="4094425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98799581-3BDC-FF18-3066-5A41AAAE7B28}"/>
              </a:ext>
            </a:extLst>
          </p:cNvPr>
          <p:cNvSpPr txBox="1"/>
          <p:nvPr/>
        </p:nvSpPr>
        <p:spPr>
          <a:xfrm>
            <a:off x="5501049" y="2296002"/>
            <a:ext cx="87449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api</a:t>
            </a:r>
            <a:r>
              <a:rPr lang="en-US" sz="1600" dirty="0"/>
              <a:t>/</a:t>
            </a:r>
            <a:r>
              <a:rPr lang="en-US" sz="1600" dirty="0" err="1"/>
              <a:t>datastream_xrd.yaml</a:t>
            </a:r>
            <a:r>
              <a:rPr lang="en-US" sz="16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568417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44C95DF8-56A7-3104-A666-369B82265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title="06_LOGO-Alma-Mater-Studiorum-Universita-di-Bologna.png">
            <a:extLst>
              <a:ext uri="{FF2B5EF4-FFF2-40B4-BE49-F238E27FC236}">
                <a16:creationId xmlns:a16="http://schemas.microsoft.com/office/drawing/2014/main" id="{27A40B33-302B-4604-16C1-735D3EB4BC5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9175" y="4453350"/>
            <a:ext cx="1841376" cy="184137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150C2E-7829-B132-63BF-A3B7736ABDD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17864" y="6294726"/>
            <a:ext cx="1597572" cy="271150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lang="en-US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7335922-FC45-594B-07E0-7CCD4A133B10}"/>
              </a:ext>
            </a:extLst>
          </p:cNvPr>
          <p:cNvCxnSpPr>
            <a:cxnSpLocks/>
          </p:cNvCxnSpPr>
          <p:nvPr/>
        </p:nvCxnSpPr>
        <p:spPr>
          <a:xfrm flipV="1">
            <a:off x="442578" y="4723628"/>
            <a:ext cx="1307918" cy="5215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BCB69F80-8698-1850-EABE-FFDDFC233B53}"/>
              </a:ext>
            </a:extLst>
          </p:cNvPr>
          <p:cNvSpPr/>
          <p:nvPr/>
        </p:nvSpPr>
        <p:spPr>
          <a:xfrm>
            <a:off x="1912568" y="4269310"/>
            <a:ext cx="1924331" cy="877133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/>
              <a:t>Kafka provider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559F5A6-8FE9-8B8F-2686-CF41A9FE9CDC}"/>
              </a:ext>
            </a:extLst>
          </p:cNvPr>
          <p:cNvSpPr txBox="1"/>
          <p:nvPr/>
        </p:nvSpPr>
        <p:spPr>
          <a:xfrm>
            <a:off x="50005" y="4650195"/>
            <a:ext cx="14462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Kafka Topic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5441BCD-1012-5176-B9B0-0EFCB82799C6}"/>
              </a:ext>
            </a:extLst>
          </p:cNvPr>
          <p:cNvCxnSpPr>
            <a:cxnSpLocks/>
          </p:cNvCxnSpPr>
          <p:nvPr/>
        </p:nvCxnSpPr>
        <p:spPr>
          <a:xfrm>
            <a:off x="442578" y="5242650"/>
            <a:ext cx="1307918" cy="582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60754223-11AE-F50E-6E38-88CD052DEABB}"/>
              </a:ext>
            </a:extLst>
          </p:cNvPr>
          <p:cNvSpPr/>
          <p:nvPr/>
        </p:nvSpPr>
        <p:spPr>
          <a:xfrm>
            <a:off x="1912568" y="5417593"/>
            <a:ext cx="1924331" cy="877133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/>
              <a:t>K8s provider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43F77CB-FC3C-A1F8-F084-AD641F89FD97}"/>
              </a:ext>
            </a:extLst>
          </p:cNvPr>
          <p:cNvSpPr txBox="1"/>
          <p:nvPr/>
        </p:nvSpPr>
        <p:spPr>
          <a:xfrm>
            <a:off x="236276" y="5563490"/>
            <a:ext cx="14303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/>
              <a:t>ConfigMap</a:t>
            </a:r>
            <a:endParaRPr lang="en-US" sz="1400" dirty="0"/>
          </a:p>
          <a:p>
            <a:r>
              <a:rPr lang="en-US" sz="1400" dirty="0"/>
              <a:t>Deployment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B3304B-B4F6-B33E-0B3F-84F3E72A7E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149" y="1106481"/>
            <a:ext cx="2835199" cy="269320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4A86AD9-AB25-6C01-7B16-2BF7EBF1B5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2109" y="1106481"/>
            <a:ext cx="3527626" cy="344985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778995B-40B9-F8AB-DC58-A92826ABA68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40833"/>
          <a:stretch>
            <a:fillRect/>
          </a:stretch>
        </p:blipFill>
        <p:spPr>
          <a:xfrm>
            <a:off x="7834945" y="224542"/>
            <a:ext cx="4240941" cy="5833334"/>
          </a:xfrm>
          <a:prstGeom prst="rect">
            <a:avLst/>
          </a:prstGeom>
        </p:spPr>
      </p:pic>
      <p:sp>
        <p:nvSpPr>
          <p:cNvPr id="17" name="Google Shape;93;p14">
            <a:extLst>
              <a:ext uri="{FF2B5EF4-FFF2-40B4-BE49-F238E27FC236}">
                <a16:creationId xmlns:a16="http://schemas.microsoft.com/office/drawing/2014/main" id="{EF38CC7B-90CB-EF57-D8A8-AB19C185AC26}"/>
              </a:ext>
            </a:extLst>
          </p:cNvPr>
          <p:cNvSpPr txBox="1"/>
          <p:nvPr/>
        </p:nvSpPr>
        <p:spPr>
          <a:xfrm>
            <a:off x="243349" y="230500"/>
            <a:ext cx="10997201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sz="4500" b="1" dirty="0">
                <a:solidFill>
                  <a:schemeClr val="dk1"/>
                </a:solidFill>
              </a:rPr>
              <a:t>Crossplane – composition</a:t>
            </a:r>
            <a:endParaRPr sz="4500" b="1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2676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38E41B01-06A0-D3A0-98B1-849B549B9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title="06_LOGO-Alma-Mater-Studiorum-Universita-di-Bologna.png">
            <a:extLst>
              <a:ext uri="{FF2B5EF4-FFF2-40B4-BE49-F238E27FC236}">
                <a16:creationId xmlns:a16="http://schemas.microsoft.com/office/drawing/2014/main" id="{8863E8DD-BC8D-5570-057F-EDFDBB24222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9175" y="4453350"/>
            <a:ext cx="1841376" cy="1841376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5086BED3-3613-7004-B02F-45315BD6726D}"/>
              </a:ext>
            </a:extLst>
          </p:cNvPr>
          <p:cNvSpPr txBox="1"/>
          <p:nvPr/>
        </p:nvSpPr>
        <p:spPr>
          <a:xfrm>
            <a:off x="243349" y="230500"/>
            <a:ext cx="10997201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sz="4500" b="1" dirty="0">
                <a:solidFill>
                  <a:schemeClr val="dk1"/>
                </a:solidFill>
              </a:rPr>
              <a:t>Kubebuilder implementation</a:t>
            </a:r>
            <a:endParaRPr sz="4500" b="1" dirty="0">
              <a:solidFill>
                <a:schemeClr val="dk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4927DD-0C70-CFC6-6049-95332020172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17864" y="6294726"/>
            <a:ext cx="1597572" cy="271150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78DB203-2CF8-59D0-275D-883C9FA37A14}"/>
              </a:ext>
            </a:extLst>
          </p:cNvPr>
          <p:cNvSpPr/>
          <p:nvPr/>
        </p:nvSpPr>
        <p:spPr>
          <a:xfrm>
            <a:off x="3317522" y="1152441"/>
            <a:ext cx="1430346" cy="877133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/>
              <a:t>USER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F2B4C53-9584-8BE2-FA88-E0AC1576F00A}"/>
              </a:ext>
            </a:extLst>
          </p:cNvPr>
          <p:cNvSpPr/>
          <p:nvPr/>
        </p:nvSpPr>
        <p:spPr>
          <a:xfrm>
            <a:off x="6347626" y="1170727"/>
            <a:ext cx="1924331" cy="877133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/>
              <a:t>Kubebuilder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A25E455-C54C-AC2E-C94E-729ABDF5E813}"/>
              </a:ext>
            </a:extLst>
          </p:cNvPr>
          <p:cNvCxnSpPr>
            <a:cxnSpLocks/>
          </p:cNvCxnSpPr>
          <p:nvPr/>
        </p:nvCxnSpPr>
        <p:spPr>
          <a:xfrm>
            <a:off x="4837357" y="1591007"/>
            <a:ext cx="14462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BB97785-FD73-02A0-1F14-2051C8224E1F}"/>
              </a:ext>
            </a:extLst>
          </p:cNvPr>
          <p:cNvSpPr txBox="1"/>
          <p:nvPr/>
        </p:nvSpPr>
        <p:spPr>
          <a:xfrm>
            <a:off x="5027478" y="1283230"/>
            <a:ext cx="1140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DataStream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A3CBF6-8C6C-37A5-3AC2-B1DB655E146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2697"/>
          <a:stretch>
            <a:fillRect/>
          </a:stretch>
        </p:blipFill>
        <p:spPr>
          <a:xfrm>
            <a:off x="124508" y="2512948"/>
            <a:ext cx="5435993" cy="36250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C79353-DF8A-E0C7-BAB9-CBF703C8F48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6909"/>
          <a:stretch>
            <a:fillRect/>
          </a:stretch>
        </p:blipFill>
        <p:spPr>
          <a:xfrm>
            <a:off x="6013797" y="2103535"/>
            <a:ext cx="3836211" cy="432676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6122D57-1AFA-D2AE-7E2D-D84C5C68C785}"/>
              </a:ext>
            </a:extLst>
          </p:cNvPr>
          <p:cNvSpPr txBox="1"/>
          <p:nvPr/>
        </p:nvSpPr>
        <p:spPr>
          <a:xfrm>
            <a:off x="265894" y="2177333"/>
            <a:ext cx="61032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datastream_types.go</a:t>
            </a:r>
            <a:r>
              <a:rPr lang="en-US" dirty="0"/>
              <a:t>: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324BD09-7B03-BEB8-257A-633FE5D1EADC}"/>
              </a:ext>
            </a:extLst>
          </p:cNvPr>
          <p:cNvCxnSpPr/>
          <p:nvPr/>
        </p:nvCxnSpPr>
        <p:spPr>
          <a:xfrm>
            <a:off x="8335937" y="1591007"/>
            <a:ext cx="17525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CBA62B5-B420-E525-05F3-CB250608C2A1}"/>
              </a:ext>
            </a:extLst>
          </p:cNvPr>
          <p:cNvSpPr txBox="1"/>
          <p:nvPr/>
        </p:nvSpPr>
        <p:spPr>
          <a:xfrm>
            <a:off x="8655604" y="714234"/>
            <a:ext cx="149912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Kafka Topic</a:t>
            </a:r>
          </a:p>
          <a:p>
            <a:r>
              <a:rPr lang="en-US" dirty="0"/>
              <a:t>K8s </a:t>
            </a:r>
            <a:r>
              <a:rPr lang="en-US" dirty="0" err="1"/>
              <a:t>ConfigMap</a:t>
            </a:r>
            <a:endParaRPr lang="en-US" dirty="0"/>
          </a:p>
          <a:p>
            <a:r>
              <a:rPr lang="en-US" dirty="0"/>
              <a:t>K8s Deployment</a:t>
            </a:r>
          </a:p>
        </p:txBody>
      </p:sp>
    </p:spTree>
    <p:extLst>
      <p:ext uri="{BB962C8B-B14F-4D97-AF65-F5344CB8AC3E}">
        <p14:creationId xmlns:p14="http://schemas.microsoft.com/office/powerpoint/2010/main" val="9795249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0E5E7A41-B7D7-4443-03B2-EEE22C694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title="06_LOGO-Alma-Mater-Studiorum-Universita-di-Bologna.png">
            <a:extLst>
              <a:ext uri="{FF2B5EF4-FFF2-40B4-BE49-F238E27FC236}">
                <a16:creationId xmlns:a16="http://schemas.microsoft.com/office/drawing/2014/main" id="{FBAC122B-3B91-81B1-B114-1F9133885FE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9175" y="4453350"/>
            <a:ext cx="1841376" cy="1841376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5AD214F5-DF90-09A2-D098-0EA8887871CF}"/>
              </a:ext>
            </a:extLst>
          </p:cNvPr>
          <p:cNvSpPr txBox="1"/>
          <p:nvPr/>
        </p:nvSpPr>
        <p:spPr>
          <a:xfrm>
            <a:off x="243349" y="230500"/>
            <a:ext cx="10997201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sz="4500" b="1" dirty="0">
                <a:solidFill>
                  <a:schemeClr val="dk1"/>
                </a:solidFill>
              </a:rPr>
              <a:t>Kubebuilder – Kafka topic creation</a:t>
            </a:r>
            <a:endParaRPr sz="4500" b="1" dirty="0">
              <a:solidFill>
                <a:schemeClr val="dk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1F6968-E35E-40C3-E35D-D926EA4498D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17864" y="6294726"/>
            <a:ext cx="1597572" cy="271150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BAF968-57D7-2515-D0EC-D3AE9117399F}"/>
              </a:ext>
            </a:extLst>
          </p:cNvPr>
          <p:cNvSpPr txBox="1"/>
          <p:nvPr/>
        </p:nvSpPr>
        <p:spPr>
          <a:xfrm>
            <a:off x="824264" y="1309865"/>
            <a:ext cx="61032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datastream_controller.go</a:t>
            </a:r>
            <a:r>
              <a:rPr lang="en-US" dirty="0"/>
              <a:t>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042CE4-ABE9-C7DE-01C9-671C18A246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449" y="1617642"/>
            <a:ext cx="7087836" cy="4799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8222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55C0C565-BA75-2330-84BA-86081B07A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title="06_LOGO-Alma-Mater-Studiorum-Universita-di-Bologna.png">
            <a:extLst>
              <a:ext uri="{FF2B5EF4-FFF2-40B4-BE49-F238E27FC236}">
                <a16:creationId xmlns:a16="http://schemas.microsoft.com/office/drawing/2014/main" id="{CC8EE075-5231-70E6-4627-A32649C5E8D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9175" y="4453350"/>
            <a:ext cx="1841376" cy="1841376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73B49CE4-5622-C427-1617-BF5741FD42A9}"/>
              </a:ext>
            </a:extLst>
          </p:cNvPr>
          <p:cNvSpPr txBox="1"/>
          <p:nvPr/>
        </p:nvSpPr>
        <p:spPr>
          <a:xfrm>
            <a:off x="417864" y="102580"/>
            <a:ext cx="11530787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4800" b="1" dirty="0"/>
              <a:t>Performance results</a:t>
            </a:r>
            <a:endParaRPr sz="4500" b="1" dirty="0">
              <a:solidFill>
                <a:schemeClr val="dk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972F5B-3CE2-13BF-D5EA-4661EAFDD69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17864" y="6294726"/>
            <a:ext cx="1597572" cy="271150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586428B-6B46-0467-8EE4-70B8929316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892392"/>
              </p:ext>
            </p:extLst>
          </p:nvPr>
        </p:nvGraphicFramePr>
        <p:xfrm>
          <a:off x="1338580" y="1204806"/>
          <a:ext cx="941832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9440">
                  <a:extLst>
                    <a:ext uri="{9D8B030D-6E8A-4147-A177-3AD203B41FA5}">
                      <a16:colId xmlns:a16="http://schemas.microsoft.com/office/drawing/2014/main" val="550325215"/>
                    </a:ext>
                  </a:extLst>
                </a:gridCol>
                <a:gridCol w="3627035">
                  <a:extLst>
                    <a:ext uri="{9D8B030D-6E8A-4147-A177-3AD203B41FA5}">
                      <a16:colId xmlns:a16="http://schemas.microsoft.com/office/drawing/2014/main" val="2557590795"/>
                    </a:ext>
                  </a:extLst>
                </a:gridCol>
                <a:gridCol w="2651845">
                  <a:extLst>
                    <a:ext uri="{9D8B030D-6E8A-4147-A177-3AD203B41FA5}">
                      <a16:colId xmlns:a16="http://schemas.microsoft.com/office/drawing/2014/main" val="36086651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Metric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Crossplane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Kubebuilder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233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Lines of code written*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165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270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943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Edited files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6879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Avg time to ready state (seconds)**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168787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85F7518-80E1-DE74-E42D-94697D71DB37}"/>
              </a:ext>
            </a:extLst>
          </p:cNvPr>
          <p:cNvSpPr txBox="1"/>
          <p:nvPr/>
        </p:nvSpPr>
        <p:spPr>
          <a:xfrm>
            <a:off x="1338580" y="2845579"/>
            <a:ext cx="1018099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Excluding generated code and provider installation/configuration manifests.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** The measured time is the elapsed time between applying the DataStream resource and observing the expected ready state.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E27323-D7BF-C812-F7A4-B9797EA4F2B0}"/>
              </a:ext>
            </a:extLst>
          </p:cNvPr>
          <p:cNvSpPr txBox="1"/>
          <p:nvPr/>
        </p:nvSpPr>
        <p:spPr>
          <a:xfrm>
            <a:off x="736600" y="4453350"/>
            <a:ext cx="85217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Environment:</a:t>
            </a:r>
          </a:p>
          <a:p>
            <a:pPr marL="285750" indent="-285750">
              <a:buFontTx/>
              <a:buChar char="-"/>
            </a:pPr>
            <a:r>
              <a:rPr lang="en-US" dirty="0"/>
              <a:t>Debian </a:t>
            </a:r>
            <a:r>
              <a:rPr lang="en-US" dirty="0" err="1"/>
              <a:t>vps</a:t>
            </a:r>
            <a:r>
              <a:rPr lang="en-US" dirty="0"/>
              <a:t> with 8 cores </a:t>
            </a:r>
            <a:r>
              <a:rPr lang="en-US" dirty="0" err="1"/>
              <a:t>cpu</a:t>
            </a:r>
            <a:r>
              <a:rPr lang="en-US" dirty="0"/>
              <a:t>, 8Gb ram, 75Gb </a:t>
            </a:r>
            <a:r>
              <a:rPr lang="en-US" dirty="0" err="1"/>
              <a:t>ssd</a:t>
            </a:r>
            <a:r>
              <a:rPr lang="en-US" dirty="0"/>
              <a:t> </a:t>
            </a:r>
          </a:p>
          <a:p>
            <a:pPr marL="285750" indent="-285750">
              <a:buFontTx/>
              <a:buChar char="-"/>
            </a:pPr>
            <a:r>
              <a:rPr lang="en-US" dirty="0"/>
              <a:t>Local k3s cluster</a:t>
            </a:r>
          </a:p>
          <a:p>
            <a:pPr marL="285750" indent="-285750">
              <a:buFontTx/>
              <a:buChar char="-"/>
            </a:pPr>
            <a:r>
              <a:rPr lang="en-US" dirty="0"/>
              <a:t>Single Kafka broker</a:t>
            </a:r>
          </a:p>
          <a:p>
            <a:pPr marL="285750" indent="-285750">
              <a:buFontTx/>
              <a:buChar char="-"/>
            </a:pPr>
            <a:r>
              <a:rPr lang="en-US" dirty="0"/>
              <a:t>One DataStream resource per run</a:t>
            </a:r>
          </a:p>
          <a:p>
            <a:pPr marL="285750" indent="-285750">
              <a:buFontTx/>
              <a:buChar char="-"/>
            </a:pPr>
            <a:r>
              <a:rPr lang="en-US" dirty="0"/>
              <a:t>Controllers/providers already running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6202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82445E98-3582-F1B6-B0D5-859D6C5AD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21" title="06_LOGO-Alma-Mater-Studiorum-Universita-di-Bologna.png">
            <a:extLst>
              <a:ext uri="{FF2B5EF4-FFF2-40B4-BE49-F238E27FC236}">
                <a16:creationId xmlns:a16="http://schemas.microsoft.com/office/drawing/2014/main" id="{7ADFF05B-F270-192D-0F54-E1214E3351D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9175" y="4453350"/>
            <a:ext cx="1841376" cy="184137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46;p20">
            <a:extLst>
              <a:ext uri="{FF2B5EF4-FFF2-40B4-BE49-F238E27FC236}">
                <a16:creationId xmlns:a16="http://schemas.microsoft.com/office/drawing/2014/main" id="{E9075AD8-F07A-5BD9-08C4-17A4776A314A}"/>
              </a:ext>
            </a:extLst>
          </p:cNvPr>
          <p:cNvSpPr txBox="1"/>
          <p:nvPr/>
        </p:nvSpPr>
        <p:spPr>
          <a:xfrm>
            <a:off x="243350" y="230500"/>
            <a:ext cx="11564400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 sz="4500" b="1" dirty="0">
                <a:solidFill>
                  <a:schemeClr val="dk1"/>
                </a:solidFill>
              </a:rPr>
              <a:t>REFERENCES</a:t>
            </a:r>
            <a:endParaRPr sz="4500" b="1" dirty="0">
              <a:solidFill>
                <a:schemeClr val="dk1"/>
              </a:solidFill>
            </a:endParaRPr>
          </a:p>
        </p:txBody>
      </p:sp>
      <p:sp>
        <p:nvSpPr>
          <p:cNvPr id="6" name="Google Shape;147;p20">
            <a:extLst>
              <a:ext uri="{FF2B5EF4-FFF2-40B4-BE49-F238E27FC236}">
                <a16:creationId xmlns:a16="http://schemas.microsoft.com/office/drawing/2014/main" id="{11EC7FAB-0D33-A444-681C-11BFCACB9FD8}"/>
              </a:ext>
            </a:extLst>
          </p:cNvPr>
          <p:cNvSpPr txBox="1"/>
          <p:nvPr/>
        </p:nvSpPr>
        <p:spPr>
          <a:xfrm>
            <a:off x="243350" y="1107633"/>
            <a:ext cx="11705300" cy="156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19100">
              <a:lnSpc>
                <a:spcPct val="150000"/>
              </a:lnSpc>
              <a:buClr>
                <a:schemeClr val="dk1"/>
              </a:buClr>
              <a:buSzPts val="3000"/>
              <a:buChar char="-"/>
            </a:pPr>
            <a:r>
              <a:rPr lang="en-US" sz="2000" dirty="0">
                <a:solidFill>
                  <a:schemeClr val="dk1"/>
                </a:solidFill>
              </a:rPr>
              <a:t>The Kubebuilder Book, </a:t>
            </a:r>
            <a:r>
              <a:rPr lang="en-US" sz="2000" dirty="0">
                <a:solidFill>
                  <a:schemeClr val="dk1"/>
                </a:solidFill>
                <a:hlinkClick r:id="rId4"/>
              </a:rPr>
              <a:t>https://book.kubebuilder.io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</a:p>
          <a:p>
            <a:pPr marL="457200" lvl="0" indent="-419100">
              <a:lnSpc>
                <a:spcPct val="150000"/>
              </a:lnSpc>
              <a:buClr>
                <a:schemeClr val="dk1"/>
              </a:buClr>
              <a:buSzPts val="3000"/>
              <a:buChar char="-"/>
            </a:pPr>
            <a:r>
              <a:rPr lang="en-US" sz="2000" dirty="0">
                <a:solidFill>
                  <a:schemeClr val="dk1"/>
                </a:solidFill>
              </a:rPr>
              <a:t>Crossplane </a:t>
            </a:r>
            <a:r>
              <a:rPr lang="en-US" sz="2000" dirty="0"/>
              <a:t>documentation, </a:t>
            </a:r>
            <a:r>
              <a:rPr lang="en-US" sz="2000" dirty="0">
                <a:hlinkClick r:id="rId5"/>
              </a:rPr>
              <a:t>https://docs.crossplane.io/v2.3</a:t>
            </a:r>
            <a:r>
              <a:rPr lang="en-US" sz="2000" dirty="0"/>
              <a:t> </a:t>
            </a:r>
          </a:p>
          <a:p>
            <a:pPr marL="457200" lvl="0" indent="-419100">
              <a:lnSpc>
                <a:spcPct val="150000"/>
              </a:lnSpc>
              <a:buClr>
                <a:schemeClr val="dk1"/>
              </a:buClr>
              <a:buSzPts val="3000"/>
              <a:buChar char="-"/>
            </a:pPr>
            <a:r>
              <a:rPr lang="en-US" sz="2000" dirty="0" err="1"/>
              <a:t>kafka</a:t>
            </a:r>
            <a:r>
              <a:rPr lang="en-US" sz="2000" dirty="0"/>
              <a:t>-go, </a:t>
            </a:r>
            <a:r>
              <a:rPr lang="en-US" sz="2000" dirty="0">
                <a:hlinkClick r:id="rId6"/>
              </a:rPr>
              <a:t>https://github.com/segmentio/kafka-go</a:t>
            </a:r>
            <a:endParaRPr lang="en-US" sz="2000" dirty="0">
              <a:solidFill>
                <a:schemeClr val="dk1"/>
              </a:solidFill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D134595A-E608-F6CF-9C2B-5A87DBB3D7A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17864" y="6294726"/>
            <a:ext cx="1597572" cy="271150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2540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21" title="06_LOGO-Alma-Mater-Studiorum-Universita-di-Bologn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9175" y="4453350"/>
            <a:ext cx="1841376" cy="1841376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1"/>
          <p:cNvSpPr txBox="1"/>
          <p:nvPr/>
        </p:nvSpPr>
        <p:spPr>
          <a:xfrm>
            <a:off x="3865800" y="2573750"/>
            <a:ext cx="44604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/>
            <a:r>
              <a:rPr lang="en-US" sz="2800" b="1" dirty="0"/>
              <a:t>Questions?</a:t>
            </a:r>
            <a:endParaRPr sz="2500" dirty="0">
              <a:solidFill>
                <a:schemeClr val="dk1"/>
              </a:solidFill>
            </a:endParaRPr>
          </a:p>
        </p:txBody>
      </p:sp>
      <p:sp>
        <p:nvSpPr>
          <p:cNvPr id="6" name="Google Shape;154;p21">
            <a:extLst>
              <a:ext uri="{FF2B5EF4-FFF2-40B4-BE49-F238E27FC236}">
                <a16:creationId xmlns:a16="http://schemas.microsoft.com/office/drawing/2014/main" id="{39B35F75-A7A6-6C01-40F4-7E5D146DEAFD}"/>
              </a:ext>
            </a:extLst>
          </p:cNvPr>
          <p:cNvSpPr txBox="1"/>
          <p:nvPr/>
        </p:nvSpPr>
        <p:spPr>
          <a:xfrm>
            <a:off x="3594100" y="5278850"/>
            <a:ext cx="50038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/>
            <a:r>
              <a:rPr lang="en-US" b="1" dirty="0"/>
              <a:t>Thank you for your attention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CF4562BA-FAEA-BC93-353F-78F785E90B3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17864" y="6294726"/>
            <a:ext cx="1597572" cy="271150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E1A3390E-4165-6826-468E-8A097C252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title="06_LOGO-Alma-Mater-Studiorum-Universita-di-Bologna.png">
            <a:extLst>
              <a:ext uri="{FF2B5EF4-FFF2-40B4-BE49-F238E27FC236}">
                <a16:creationId xmlns:a16="http://schemas.microsoft.com/office/drawing/2014/main" id="{991C82D7-96D4-6079-570A-0A43D3B9ED7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89100" y="5399476"/>
            <a:ext cx="1166384" cy="11664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6E7B9166-7DD3-9B15-DD7B-08B9D14FD88E}"/>
              </a:ext>
            </a:extLst>
          </p:cNvPr>
          <p:cNvSpPr txBox="1"/>
          <p:nvPr/>
        </p:nvSpPr>
        <p:spPr>
          <a:xfrm>
            <a:off x="243349" y="230500"/>
            <a:ext cx="10997201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sz="4000" b="1" dirty="0">
                <a:solidFill>
                  <a:schemeClr val="dk1"/>
                </a:solidFill>
              </a:rPr>
              <a:t>Developer Interface</a:t>
            </a:r>
            <a:endParaRPr sz="4000" b="1" dirty="0">
              <a:solidFill>
                <a:schemeClr val="dk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157A0A-19D3-2B28-56AE-CC8557812D7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17864" y="6294726"/>
            <a:ext cx="1597572" cy="271150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17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CFABCFA-19AF-1464-76DD-9B042CE8BD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85986"/>
          <a:stretch>
            <a:fillRect/>
          </a:stretch>
        </p:blipFill>
        <p:spPr>
          <a:xfrm>
            <a:off x="120438" y="1013167"/>
            <a:ext cx="732422" cy="1130044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F4092DF-40EF-0345-A71E-451ABD6B5C8D}"/>
              </a:ext>
            </a:extLst>
          </p:cNvPr>
          <p:cNvCxnSpPr>
            <a:cxnSpLocks/>
          </p:cNvCxnSpPr>
          <p:nvPr/>
        </p:nvCxnSpPr>
        <p:spPr>
          <a:xfrm>
            <a:off x="5785945" y="1423104"/>
            <a:ext cx="0" cy="39844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049D979-FCB1-0F77-7FF8-C2A683E7ECE9}"/>
              </a:ext>
            </a:extLst>
          </p:cNvPr>
          <p:cNvSpPr txBox="1"/>
          <p:nvPr/>
        </p:nvSpPr>
        <p:spPr>
          <a:xfrm>
            <a:off x="1" y="968502"/>
            <a:ext cx="5770898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4500" b="1" dirty="0">
                <a:solidFill>
                  <a:schemeClr val="dk1"/>
                </a:solidFill>
              </a:rPr>
              <a:t>Crossplane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7A23C3-D3A1-1F9E-A3E1-CEF4489DE85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83032"/>
          <a:stretch>
            <a:fillRect/>
          </a:stretch>
        </p:blipFill>
        <p:spPr>
          <a:xfrm>
            <a:off x="11323478" y="807900"/>
            <a:ext cx="625173" cy="1106034"/>
          </a:xfrm>
          <a:prstGeom prst="rect">
            <a:avLst/>
          </a:prstGeom>
        </p:spPr>
      </p:pic>
      <p:sp>
        <p:nvSpPr>
          <p:cNvPr id="13" name="Google Shape;93;p14">
            <a:extLst>
              <a:ext uri="{FF2B5EF4-FFF2-40B4-BE49-F238E27FC236}">
                <a16:creationId xmlns:a16="http://schemas.microsoft.com/office/drawing/2014/main" id="{FEF0628A-78BC-1456-258B-22E26890448C}"/>
              </a:ext>
            </a:extLst>
          </p:cNvPr>
          <p:cNvSpPr txBox="1"/>
          <p:nvPr/>
        </p:nvSpPr>
        <p:spPr>
          <a:xfrm>
            <a:off x="5785946" y="926206"/>
            <a:ext cx="6406053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/>
            <a:r>
              <a:rPr lang="en-US" sz="4500" b="1" dirty="0">
                <a:solidFill>
                  <a:schemeClr val="dk1"/>
                </a:solidFill>
              </a:rPr>
              <a:t>Kubebuilder</a:t>
            </a:r>
            <a:endParaRPr sz="4500" b="1" dirty="0">
              <a:solidFill>
                <a:schemeClr val="dk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B49C85-1C0C-2CF9-1656-CA14FC09BA50}"/>
              </a:ext>
            </a:extLst>
          </p:cNvPr>
          <p:cNvSpPr txBox="1"/>
          <p:nvPr/>
        </p:nvSpPr>
        <p:spPr>
          <a:xfrm>
            <a:off x="528113" y="1871871"/>
            <a:ext cx="4925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Declarative YAML Composition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EC6994-1F20-2E57-15F6-6963E983688E}"/>
              </a:ext>
            </a:extLst>
          </p:cNvPr>
          <p:cNvSpPr txBox="1"/>
          <p:nvPr/>
        </p:nvSpPr>
        <p:spPr>
          <a:xfrm>
            <a:off x="528113" y="2179015"/>
            <a:ext cx="49258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Abstractions are built using schemas written in declarative YAML declarations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9EDD1B-A3DC-7AC1-E773-E5A6252962C1}"/>
              </a:ext>
            </a:extLst>
          </p:cNvPr>
          <p:cNvSpPr txBox="1"/>
          <p:nvPr/>
        </p:nvSpPr>
        <p:spPr>
          <a:xfrm>
            <a:off x="6112329" y="1871871"/>
            <a:ext cx="4925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Imperative GO Logic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4E0577A-B159-EB37-1F82-C368B57DDB11}"/>
              </a:ext>
            </a:extLst>
          </p:cNvPr>
          <p:cNvSpPr txBox="1"/>
          <p:nvPr/>
        </p:nvSpPr>
        <p:spPr>
          <a:xfrm>
            <a:off x="6112329" y="2241203"/>
            <a:ext cx="49258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controller code is written with standard backend code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7A7BC1A-D267-70B9-2ABA-D671A44616D3}"/>
              </a:ext>
            </a:extLst>
          </p:cNvPr>
          <p:cNvSpPr txBox="1"/>
          <p:nvPr/>
        </p:nvSpPr>
        <p:spPr>
          <a:xfrm>
            <a:off x="528113" y="3144178"/>
            <a:ext cx="4925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Additional functions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0E4FDB1-D6F7-ACFE-3E25-E620FA42E3D2}"/>
              </a:ext>
            </a:extLst>
          </p:cNvPr>
          <p:cNvSpPr txBox="1"/>
          <p:nvPr/>
        </p:nvSpPr>
        <p:spPr>
          <a:xfrm>
            <a:off x="528113" y="3424218"/>
            <a:ext cx="49258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Additional conditional transformations can be used via functions built in imperative languages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8B3300D-F911-1A3E-3C54-0E2053649EC8}"/>
              </a:ext>
            </a:extLst>
          </p:cNvPr>
          <p:cNvSpPr txBox="1"/>
          <p:nvPr/>
        </p:nvSpPr>
        <p:spPr>
          <a:xfrm>
            <a:off x="6091801" y="3144178"/>
            <a:ext cx="4925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Direct control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F29B1E4-6325-73C3-4B50-719CEC8FCA12}"/>
              </a:ext>
            </a:extLst>
          </p:cNvPr>
          <p:cNvSpPr txBox="1"/>
          <p:nvPr/>
        </p:nvSpPr>
        <p:spPr>
          <a:xfrm>
            <a:off x="6091801" y="3407889"/>
            <a:ext cx="49258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controller directly reconciles the Custom Resource and target resources. The reconcile logic is completely customizable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18BF641-FE27-1662-6C38-3FC3956EE21F}"/>
              </a:ext>
            </a:extLst>
          </p:cNvPr>
          <p:cNvSpPr txBox="1"/>
          <p:nvPr/>
        </p:nvSpPr>
        <p:spPr>
          <a:xfrm>
            <a:off x="554269" y="4496242"/>
            <a:ext cx="4925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Easier to implement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4B8DF56-B85C-B4FB-62F6-09D43BCAB8AD}"/>
              </a:ext>
            </a:extLst>
          </p:cNvPr>
          <p:cNvSpPr txBox="1"/>
          <p:nvPr/>
        </p:nvSpPr>
        <p:spPr>
          <a:xfrm>
            <a:off x="554269" y="4776282"/>
            <a:ext cx="49258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standardized framework makes it easy to implement the new controller. 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6C02362-C6E8-EFCC-9402-25DC08B222EB}"/>
              </a:ext>
            </a:extLst>
          </p:cNvPr>
          <p:cNvSpPr txBox="1"/>
          <p:nvPr/>
        </p:nvSpPr>
        <p:spPr>
          <a:xfrm>
            <a:off x="6112329" y="4485017"/>
            <a:ext cx="4925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Maximum flexibility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59F6AE0-34DD-CB5F-0CB6-7B30C37A2A6B}"/>
              </a:ext>
            </a:extLst>
          </p:cNvPr>
          <p:cNvSpPr txBox="1"/>
          <p:nvPr/>
        </p:nvSpPr>
        <p:spPr>
          <a:xfrm>
            <a:off x="6112329" y="4765057"/>
            <a:ext cx="49258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Maximum flexibility, but increased maintenance responsibility</a:t>
            </a:r>
          </a:p>
        </p:txBody>
      </p:sp>
    </p:spTree>
    <p:extLst>
      <p:ext uri="{BB962C8B-B14F-4D97-AF65-F5344CB8AC3E}">
        <p14:creationId xmlns:p14="http://schemas.microsoft.com/office/powerpoint/2010/main" val="3032907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</TotalTime>
  <Words>990</Words>
  <Application>Microsoft Office PowerPoint</Application>
  <PresentationFormat>Widescreen</PresentationFormat>
  <Paragraphs>200</Paragraphs>
  <Slides>17</Slides>
  <Notes>17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Lorenzo De Luca</cp:lastModifiedBy>
  <cp:revision>8</cp:revision>
  <dcterms:modified xsi:type="dcterms:W3CDTF">2026-07-13T08:04:40Z</dcterms:modified>
</cp:coreProperties>
</file>