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83" r:id="rId3"/>
    <p:sldId id="284" r:id="rId4"/>
    <p:sldId id="268" r:id="rId5"/>
    <p:sldId id="269" r:id="rId6"/>
    <p:sldId id="289" r:id="rId7"/>
    <p:sldId id="288" r:id="rId8"/>
    <p:sldId id="290" r:id="rId9"/>
    <p:sldId id="282" r:id="rId10"/>
    <p:sldId id="273" r:id="rId11"/>
    <p:sldId id="274" r:id="rId12"/>
    <p:sldId id="275" r:id="rId13"/>
    <p:sldId id="278" r:id="rId14"/>
    <p:sldId id="280" r:id="rId15"/>
    <p:sldId id="279" r:id="rId16"/>
    <p:sldId id="291" r:id="rId17"/>
    <p:sldId id="265" r:id="rId18"/>
    <p:sldId id="264" r:id="rId19"/>
    <p:sldId id="285" r:id="rId20"/>
    <p:sldId id="286" r:id="rId21"/>
    <p:sldId id="271" r:id="rId22"/>
    <p:sldId id="281" r:id="rId23"/>
    <p:sldId id="272" r:id="rId24"/>
    <p:sldId id="270"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66" y="20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b="1">
                <a:latin typeface="Arial" panose="020B0604020202020204" pitchFamily="34" charset="0"/>
                <a:cs typeface="Arial" panose="020B0604020202020204" pitchFamily="34" charset="0"/>
              </a:rPr>
              <a:t>Average RAM</a:t>
            </a:r>
            <a:r>
              <a:rPr lang="en-US" b="1" baseline="0">
                <a:latin typeface="Arial" panose="020B0604020202020204" pitchFamily="34" charset="0"/>
                <a:cs typeface="Arial" panose="020B0604020202020204" pitchFamily="34" charset="0"/>
              </a:rPr>
              <a:t> usage vs DataStream objects batch size </a:t>
            </a:r>
            <a:endParaRPr lang="en-US"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'memory graphs (2)'!$F$1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(2)'!$F$2:$F$7</c:f>
              <c:numCache>
                <c:formatCode>General</c:formatCode>
                <c:ptCount val="6"/>
                <c:pt idx="0">
                  <c:v>384</c:v>
                </c:pt>
                <c:pt idx="1">
                  <c:v>384</c:v>
                </c:pt>
                <c:pt idx="2">
                  <c:v>387.6</c:v>
                </c:pt>
                <c:pt idx="3">
                  <c:v>406.18181818181819</c:v>
                </c:pt>
                <c:pt idx="4">
                  <c:v>501.64864864864865</c:v>
                </c:pt>
                <c:pt idx="5">
                  <c:v>601.53164556962031</c:v>
                </c:pt>
              </c:numCache>
            </c:numRef>
          </c:val>
          <c:smooth val="0"/>
          <c:extLst>
            <c:ext xmlns:c16="http://schemas.microsoft.com/office/drawing/2014/chart" uri="{C3380CC4-5D6E-409C-BE32-E72D297353CC}">
              <c16:uniqueId val="{00000000-995B-493C-BD6D-B74A1C80CAAD}"/>
            </c:ext>
          </c:extLst>
        </c:ser>
        <c:ser>
          <c:idx val="1"/>
          <c:order val="1"/>
          <c:tx>
            <c:strRef>
              <c:f>'memory graphs (2)'!$G$1</c:f>
              <c:strCache>
                <c:ptCount val="1"/>
                <c:pt idx="0">
                  <c:v>Kubebuilder </c:v>
                </c:pt>
              </c:strCache>
            </c:strRef>
          </c:tx>
          <c:spPr>
            <a:ln w="28575" cap="rnd">
              <a:solidFill>
                <a:srgbClr val="FF0000"/>
              </a:solidFill>
              <a:round/>
            </a:ln>
            <a:effectLst/>
          </c:spPr>
          <c:marker>
            <c:symbol val="circle"/>
            <c:size val="5"/>
            <c:spPr>
              <a:solidFill>
                <a:srgbClr val="FF0000"/>
              </a:solidFill>
              <a:ln w="9525">
                <a:solidFill>
                  <a:schemeClr val="accent2"/>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(2)'!$G$2:$G$7</c:f>
              <c:numCache>
                <c:formatCode>General</c:formatCode>
                <c:ptCount val="6"/>
                <c:pt idx="0">
                  <c:v>51.2</c:v>
                </c:pt>
                <c:pt idx="1">
                  <c:v>56.1</c:v>
                </c:pt>
                <c:pt idx="2">
                  <c:v>56.485714285714288</c:v>
                </c:pt>
                <c:pt idx="3">
                  <c:v>56.873684210526321</c:v>
                </c:pt>
                <c:pt idx="4">
                  <c:v>61.172727272727272</c:v>
                </c:pt>
                <c:pt idx="5">
                  <c:v>66.514553990610281</c:v>
                </c:pt>
              </c:numCache>
            </c:numRef>
          </c:val>
          <c:smooth val="0"/>
          <c:extLst>
            <c:ext xmlns:c16="http://schemas.microsoft.com/office/drawing/2014/chart" uri="{C3380CC4-5D6E-409C-BE32-E72D297353CC}">
              <c16:uniqueId val="{00000001-995B-493C-BD6D-B74A1C80CAAD}"/>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b="1">
                <a:latin typeface="Arial" panose="020B0604020202020204" pitchFamily="34" charset="0"/>
                <a:cs typeface="Arial" panose="020B0604020202020204" pitchFamily="34" charset="0"/>
              </a:rPr>
              <a:t>Average CPU</a:t>
            </a:r>
            <a:r>
              <a:rPr lang="en-US" b="1" baseline="0">
                <a:latin typeface="Arial" panose="020B0604020202020204" pitchFamily="34" charset="0"/>
                <a:cs typeface="Arial" panose="020B0604020202020204" pitchFamily="34" charset="0"/>
              </a:rPr>
              <a:t> usage vs DataStream objects batch size </a:t>
            </a:r>
            <a:endParaRPr lang="en-US"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'cpu graphs'!$F$1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graphs'!$F$2:$F$7</c:f>
              <c:numCache>
                <c:formatCode>General</c:formatCode>
                <c:ptCount val="6"/>
                <c:pt idx="0">
                  <c:v>6</c:v>
                </c:pt>
                <c:pt idx="1">
                  <c:v>14</c:v>
                </c:pt>
                <c:pt idx="2">
                  <c:v>225.4</c:v>
                </c:pt>
                <c:pt idx="3">
                  <c:v>335.18181818181819</c:v>
                </c:pt>
                <c:pt idx="4">
                  <c:v>497.94594594594594</c:v>
                </c:pt>
                <c:pt idx="5">
                  <c:v>498.73417721518985</c:v>
                </c:pt>
              </c:numCache>
            </c:numRef>
          </c:val>
          <c:smooth val="0"/>
          <c:extLst>
            <c:ext xmlns:c16="http://schemas.microsoft.com/office/drawing/2014/chart" uri="{C3380CC4-5D6E-409C-BE32-E72D297353CC}">
              <c16:uniqueId val="{00000000-E3AA-437F-95E4-002DB608C4CF}"/>
            </c:ext>
          </c:extLst>
        </c:ser>
        <c:ser>
          <c:idx val="1"/>
          <c:order val="1"/>
          <c:tx>
            <c:strRef>
              <c:f>'cpu graphs'!$G$1</c:f>
              <c:strCache>
                <c:ptCount val="1"/>
                <c:pt idx="0">
                  <c:v>Kubebuilder</c:v>
                </c:pt>
              </c:strCache>
            </c:strRef>
          </c:tx>
          <c:spPr>
            <a:ln w="28575" cap="rnd">
              <a:solidFill>
                <a:srgbClr val="FF0000"/>
              </a:solidFill>
              <a:round/>
            </a:ln>
            <a:effectLst/>
          </c:spPr>
          <c:marker>
            <c:symbol val="circle"/>
            <c:size val="5"/>
            <c:spPr>
              <a:solidFill>
                <a:srgbClr val="FF0000"/>
              </a:solidFill>
              <a:ln w="9525">
                <a:solidFill>
                  <a:schemeClr val="accent2"/>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graphs'!$G$2:$G$7</c:f>
              <c:numCache>
                <c:formatCode>General</c:formatCode>
                <c:ptCount val="6"/>
                <c:pt idx="0">
                  <c:v>40</c:v>
                </c:pt>
                <c:pt idx="1">
                  <c:v>75.333333333333329</c:v>
                </c:pt>
                <c:pt idx="2">
                  <c:v>73.785714285714292</c:v>
                </c:pt>
                <c:pt idx="3">
                  <c:v>49.89473684210526</c:v>
                </c:pt>
                <c:pt idx="4">
                  <c:v>91.390909090909091</c:v>
                </c:pt>
                <c:pt idx="5">
                  <c:v>101.97183098591549</c:v>
                </c:pt>
              </c:numCache>
            </c:numRef>
          </c:val>
          <c:smooth val="0"/>
          <c:extLst>
            <c:ext xmlns:c16="http://schemas.microsoft.com/office/drawing/2014/chart" uri="{C3380CC4-5D6E-409C-BE32-E72D297353CC}">
              <c16:uniqueId val="{00000001-E3AA-437F-95E4-002DB608C4CF}"/>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 CPU</a:t>
            </a:r>
            <a:r>
              <a:rPr lang="en-US" baseline="0" dirty="0"/>
              <a:t> usage (</a:t>
            </a:r>
            <a:r>
              <a:rPr lang="en-US" baseline="0" dirty="0" err="1"/>
              <a:t>millicores</a:t>
            </a:r>
            <a:r>
              <a:rPr lang="en-US" baseline="0" dirty="0"/>
              <a:t>) vs batch size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'cpu graphs'!$F$1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graphs'!$F$2:$F$7</c:f>
              <c:numCache>
                <c:formatCode>General</c:formatCode>
                <c:ptCount val="6"/>
                <c:pt idx="0">
                  <c:v>6</c:v>
                </c:pt>
                <c:pt idx="1">
                  <c:v>14</c:v>
                </c:pt>
                <c:pt idx="2">
                  <c:v>225.4</c:v>
                </c:pt>
                <c:pt idx="3">
                  <c:v>335.18181818181819</c:v>
                </c:pt>
                <c:pt idx="4">
                  <c:v>497.94594594594594</c:v>
                </c:pt>
                <c:pt idx="5">
                  <c:v>498.73417721518985</c:v>
                </c:pt>
              </c:numCache>
            </c:numRef>
          </c:val>
          <c:smooth val="0"/>
          <c:extLst>
            <c:ext xmlns:c16="http://schemas.microsoft.com/office/drawing/2014/chart" uri="{C3380CC4-5D6E-409C-BE32-E72D297353CC}">
              <c16:uniqueId val="{00000000-A0EF-4B67-AAFE-FC36AC06A166}"/>
            </c:ext>
          </c:extLst>
        </c:ser>
        <c:ser>
          <c:idx val="1"/>
          <c:order val="1"/>
          <c:tx>
            <c:strRef>
              <c:f>'cpu graphs'!$B$1</c:f>
              <c:strCache>
                <c:ptCount val="1"/>
                <c:pt idx="0">
                  <c:v>crossplane_core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graphs'!$B$2:$B$7</c:f>
              <c:numCache>
                <c:formatCode>General</c:formatCode>
                <c:ptCount val="6"/>
                <c:pt idx="0">
                  <c:v>2</c:v>
                </c:pt>
                <c:pt idx="1">
                  <c:v>3.3333333333333335</c:v>
                </c:pt>
                <c:pt idx="2">
                  <c:v>99.8</c:v>
                </c:pt>
                <c:pt idx="3">
                  <c:v>158</c:v>
                </c:pt>
                <c:pt idx="4">
                  <c:v>267.43243243243245</c:v>
                </c:pt>
                <c:pt idx="5">
                  <c:v>267.65822784810126</c:v>
                </c:pt>
              </c:numCache>
            </c:numRef>
          </c:val>
          <c:smooth val="0"/>
          <c:extLst>
            <c:ext xmlns:c16="http://schemas.microsoft.com/office/drawing/2014/chart" uri="{C3380CC4-5D6E-409C-BE32-E72D297353CC}">
              <c16:uniqueId val="{00000001-A0EF-4B67-AAFE-FC36AC06A166}"/>
            </c:ext>
          </c:extLst>
        </c:ser>
        <c:ser>
          <c:idx val="2"/>
          <c:order val="2"/>
          <c:tx>
            <c:strRef>
              <c:f>'cpu graphs'!$C$1</c:f>
              <c:strCache>
                <c:ptCount val="1"/>
                <c:pt idx="0">
                  <c:v>function-patch-and-transform</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graphs'!$C$2:$C$7</c:f>
              <c:numCache>
                <c:formatCode>General</c:formatCode>
                <c:ptCount val="6"/>
                <c:pt idx="0">
                  <c:v>0</c:v>
                </c:pt>
                <c:pt idx="1">
                  <c:v>2.6666666666666665</c:v>
                </c:pt>
                <c:pt idx="2">
                  <c:v>33.4</c:v>
                </c:pt>
                <c:pt idx="3">
                  <c:v>46.454545454545453</c:v>
                </c:pt>
                <c:pt idx="4">
                  <c:v>64.594594594594597</c:v>
                </c:pt>
                <c:pt idx="5">
                  <c:v>65.922077922077918</c:v>
                </c:pt>
              </c:numCache>
            </c:numRef>
          </c:val>
          <c:smooth val="0"/>
          <c:extLst>
            <c:ext xmlns:c16="http://schemas.microsoft.com/office/drawing/2014/chart" uri="{C3380CC4-5D6E-409C-BE32-E72D297353CC}">
              <c16:uniqueId val="{00000002-A0EF-4B67-AAFE-FC36AC06A166}"/>
            </c:ext>
          </c:extLst>
        </c:ser>
        <c:ser>
          <c:idx val="3"/>
          <c:order val="3"/>
          <c:tx>
            <c:strRef>
              <c:f>'cpu graphs'!$D$1</c:f>
              <c:strCache>
                <c:ptCount val="1"/>
                <c:pt idx="0">
                  <c:v>provider-kafka</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graphs'!$D$2:$D$7</c:f>
              <c:numCache>
                <c:formatCode>General</c:formatCode>
                <c:ptCount val="6"/>
                <c:pt idx="0">
                  <c:v>2</c:v>
                </c:pt>
                <c:pt idx="1">
                  <c:v>3</c:v>
                </c:pt>
                <c:pt idx="2">
                  <c:v>21.4</c:v>
                </c:pt>
                <c:pt idx="3">
                  <c:v>36.636363636363633</c:v>
                </c:pt>
                <c:pt idx="4">
                  <c:v>48.027027027027025</c:v>
                </c:pt>
                <c:pt idx="5">
                  <c:v>53.531645569620252</c:v>
                </c:pt>
              </c:numCache>
            </c:numRef>
          </c:val>
          <c:smooth val="0"/>
          <c:extLst>
            <c:ext xmlns:c16="http://schemas.microsoft.com/office/drawing/2014/chart" uri="{C3380CC4-5D6E-409C-BE32-E72D297353CC}">
              <c16:uniqueId val="{00000003-A0EF-4B67-AAFE-FC36AC06A166}"/>
            </c:ext>
          </c:extLst>
        </c:ser>
        <c:ser>
          <c:idx val="4"/>
          <c:order val="4"/>
          <c:tx>
            <c:strRef>
              <c:f>'cpu graphs'!$E$1</c:f>
              <c:strCache>
                <c:ptCount val="1"/>
                <c:pt idx="0">
                  <c:v>provider-kubernetes</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graphs'!$E$2:$E$7</c:f>
              <c:numCache>
                <c:formatCode>General</c:formatCode>
                <c:ptCount val="6"/>
                <c:pt idx="0">
                  <c:v>2</c:v>
                </c:pt>
                <c:pt idx="1">
                  <c:v>5</c:v>
                </c:pt>
                <c:pt idx="2">
                  <c:v>70.8</c:v>
                </c:pt>
                <c:pt idx="3">
                  <c:v>94.090909090909093</c:v>
                </c:pt>
                <c:pt idx="4">
                  <c:v>117.89189189189189</c:v>
                </c:pt>
                <c:pt idx="5">
                  <c:v>116.23376623376623</c:v>
                </c:pt>
              </c:numCache>
            </c:numRef>
          </c:val>
          <c:smooth val="0"/>
          <c:extLst>
            <c:ext xmlns:c16="http://schemas.microsoft.com/office/drawing/2014/chart" uri="{C3380CC4-5D6E-409C-BE32-E72D297353CC}">
              <c16:uniqueId val="{00000004-A0EF-4B67-AAFE-FC36AC06A166}"/>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layout>
        <c:manualLayout>
          <c:xMode val="edge"/>
          <c:yMode val="edge"/>
          <c:x val="5.2336123078954765E-2"/>
          <c:y val="0.78547450224212867"/>
          <c:w val="0.91419567837039239"/>
          <c:h val="0.17605544269129611"/>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 RAM</a:t>
            </a:r>
            <a:r>
              <a:rPr lang="en-US" baseline="0" dirty="0"/>
              <a:t> usage (MiB) vs DataStream objects batch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7372758865848671E-2"/>
          <c:y val="0.13026610688827467"/>
          <c:w val="0.95262724113415131"/>
          <c:h val="0.60152073256109984"/>
        </c:manualLayout>
      </c:layout>
      <c:lineChart>
        <c:grouping val="standard"/>
        <c:varyColors val="0"/>
        <c:ser>
          <c:idx val="0"/>
          <c:order val="0"/>
          <c:tx>
            <c:strRef>
              <c:f>'memory graphs (2)'!$F$1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(2)'!$F$2:$F$7</c:f>
              <c:numCache>
                <c:formatCode>General</c:formatCode>
                <c:ptCount val="6"/>
                <c:pt idx="0">
                  <c:v>384</c:v>
                </c:pt>
                <c:pt idx="1">
                  <c:v>384</c:v>
                </c:pt>
                <c:pt idx="2">
                  <c:v>387.6</c:v>
                </c:pt>
                <c:pt idx="3">
                  <c:v>406.18181818181819</c:v>
                </c:pt>
                <c:pt idx="4">
                  <c:v>501.64864864864865</c:v>
                </c:pt>
                <c:pt idx="5">
                  <c:v>601.53164556962031</c:v>
                </c:pt>
              </c:numCache>
            </c:numRef>
          </c:val>
          <c:smooth val="0"/>
          <c:extLst>
            <c:ext xmlns:c16="http://schemas.microsoft.com/office/drawing/2014/chart" uri="{C3380CC4-5D6E-409C-BE32-E72D297353CC}">
              <c16:uniqueId val="{00000000-6FC0-45D2-A214-8171279E834B}"/>
            </c:ext>
          </c:extLst>
        </c:ser>
        <c:ser>
          <c:idx val="1"/>
          <c:order val="1"/>
          <c:tx>
            <c:strRef>
              <c:f>'memory graphs (2)'!$B$1</c:f>
              <c:strCache>
                <c:ptCount val="1"/>
                <c:pt idx="0">
                  <c:v>crossplane_core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(2)'!$B$2:$B$7</c:f>
              <c:numCache>
                <c:formatCode>General</c:formatCode>
                <c:ptCount val="6"/>
                <c:pt idx="0">
                  <c:v>187</c:v>
                </c:pt>
                <c:pt idx="1">
                  <c:v>187</c:v>
                </c:pt>
                <c:pt idx="2">
                  <c:v>188.8</c:v>
                </c:pt>
                <c:pt idx="3">
                  <c:v>204.09090909090909</c:v>
                </c:pt>
                <c:pt idx="4">
                  <c:v>292.18918918918916</c:v>
                </c:pt>
                <c:pt idx="5">
                  <c:v>373.70886075949369</c:v>
                </c:pt>
              </c:numCache>
            </c:numRef>
          </c:val>
          <c:smooth val="0"/>
          <c:extLst>
            <c:ext xmlns:c16="http://schemas.microsoft.com/office/drawing/2014/chart" uri="{C3380CC4-5D6E-409C-BE32-E72D297353CC}">
              <c16:uniqueId val="{00000001-6FC0-45D2-A214-8171279E834B}"/>
            </c:ext>
          </c:extLst>
        </c:ser>
        <c:ser>
          <c:idx val="2"/>
          <c:order val="2"/>
          <c:tx>
            <c:strRef>
              <c:f>'memory graphs (2)'!$C$1</c:f>
              <c:strCache>
                <c:ptCount val="1"/>
                <c:pt idx="0">
                  <c:v>function-patch-and-transform</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(2)'!$C$2:$C$7</c:f>
              <c:numCache>
                <c:formatCode>General</c:formatCode>
                <c:ptCount val="6"/>
                <c:pt idx="0">
                  <c:v>52</c:v>
                </c:pt>
                <c:pt idx="1">
                  <c:v>52</c:v>
                </c:pt>
                <c:pt idx="2">
                  <c:v>53.8</c:v>
                </c:pt>
                <c:pt idx="3">
                  <c:v>53.81818181818182</c:v>
                </c:pt>
                <c:pt idx="4">
                  <c:v>42.45945945945946</c:v>
                </c:pt>
                <c:pt idx="5">
                  <c:v>32.519480519480517</c:v>
                </c:pt>
              </c:numCache>
            </c:numRef>
          </c:val>
          <c:smooth val="0"/>
          <c:extLst>
            <c:ext xmlns:c16="http://schemas.microsoft.com/office/drawing/2014/chart" uri="{C3380CC4-5D6E-409C-BE32-E72D297353CC}">
              <c16:uniqueId val="{00000002-6FC0-45D2-A214-8171279E834B}"/>
            </c:ext>
          </c:extLst>
        </c:ser>
        <c:ser>
          <c:idx val="3"/>
          <c:order val="3"/>
          <c:tx>
            <c:strRef>
              <c:f>'memory graphs (2)'!$D$1</c:f>
              <c:strCache>
                <c:ptCount val="1"/>
                <c:pt idx="0">
                  <c:v>provider-kafka</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(2)'!$D$2:$D$7</c:f>
              <c:numCache>
                <c:formatCode>General</c:formatCode>
                <c:ptCount val="6"/>
                <c:pt idx="0">
                  <c:v>71</c:v>
                </c:pt>
                <c:pt idx="1">
                  <c:v>71</c:v>
                </c:pt>
                <c:pt idx="2">
                  <c:v>71</c:v>
                </c:pt>
                <c:pt idx="3">
                  <c:v>71</c:v>
                </c:pt>
                <c:pt idx="4">
                  <c:v>73.78378378378379</c:v>
                </c:pt>
                <c:pt idx="5">
                  <c:v>84.075949367088612</c:v>
                </c:pt>
              </c:numCache>
            </c:numRef>
          </c:val>
          <c:smooth val="0"/>
          <c:extLst>
            <c:ext xmlns:c16="http://schemas.microsoft.com/office/drawing/2014/chart" uri="{C3380CC4-5D6E-409C-BE32-E72D297353CC}">
              <c16:uniqueId val="{00000003-6FC0-45D2-A214-8171279E834B}"/>
            </c:ext>
          </c:extLst>
        </c:ser>
        <c:ser>
          <c:idx val="4"/>
          <c:order val="4"/>
          <c:tx>
            <c:strRef>
              <c:f>'memory graphs (2)'!$E$1</c:f>
              <c:strCache>
                <c:ptCount val="1"/>
                <c:pt idx="0">
                  <c:v>provider-kubernetes</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(2)'!$E$2:$E$7</c:f>
              <c:numCache>
                <c:formatCode>General</c:formatCode>
                <c:ptCount val="6"/>
                <c:pt idx="0">
                  <c:v>74</c:v>
                </c:pt>
                <c:pt idx="1">
                  <c:v>74</c:v>
                </c:pt>
                <c:pt idx="2">
                  <c:v>74</c:v>
                </c:pt>
                <c:pt idx="3">
                  <c:v>77.272727272727266</c:v>
                </c:pt>
                <c:pt idx="4">
                  <c:v>93.21621621621621</c:v>
                </c:pt>
                <c:pt idx="5">
                  <c:v>114.96103896103897</c:v>
                </c:pt>
              </c:numCache>
            </c:numRef>
          </c:val>
          <c:smooth val="0"/>
          <c:extLst>
            <c:ext xmlns:c16="http://schemas.microsoft.com/office/drawing/2014/chart" uri="{C3380CC4-5D6E-409C-BE32-E72D297353CC}">
              <c16:uniqueId val="{00000004-6FC0-45D2-A214-8171279E834B}"/>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layout>
        <c:manualLayout>
          <c:xMode val="edge"/>
          <c:yMode val="edge"/>
          <c:x val="5.8011073224568666E-2"/>
          <c:y val="0.83057876600232761"/>
          <c:w val="0.91306625447737222"/>
          <c:h val="0.1477703575065464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CDBD3CC-8A92-4D99-2D0F-8D9BE56FC812}"/>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1DE7327E-8FF7-F49C-1DA5-0C0186342F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background… k8s is </a:t>
            </a:r>
            <a:r>
              <a:rPr lang="en-US" dirty="0" err="1"/>
              <a:t>widele</a:t>
            </a:r>
            <a:r>
              <a:rPr lang="en-US" dirty="0"/>
              <a:t> extensible with operators and they can when choosing to create a new one there are two categories to choose from, the </a:t>
            </a:r>
            <a:endParaRPr dirty="0"/>
          </a:p>
        </p:txBody>
      </p:sp>
      <p:sp>
        <p:nvSpPr>
          <p:cNvPr id="90" name="Google Shape;90;g3ef4563ff73_0_4:notes">
            <a:extLst>
              <a:ext uri="{FF2B5EF4-FFF2-40B4-BE49-F238E27FC236}">
                <a16:creationId xmlns:a16="http://schemas.microsoft.com/office/drawing/2014/main" id="{3EA24C19-6F52-2FB2-E742-E86C8E4335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44435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05762FB-2129-1CD5-BEF2-E88AB26CEFF3}"/>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105999E3-D428-2580-B5F9-B6A127D9D0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background…</a:t>
            </a:r>
            <a:endParaRPr dirty="0"/>
          </a:p>
        </p:txBody>
      </p:sp>
      <p:sp>
        <p:nvSpPr>
          <p:cNvPr id="90" name="Google Shape;90;g3ef4563ff73_0_4:notes">
            <a:extLst>
              <a:ext uri="{FF2B5EF4-FFF2-40B4-BE49-F238E27FC236}">
                <a16:creationId xmlns:a16="http://schemas.microsoft.com/office/drawing/2014/main" id="{AADA25CC-65E2-1F57-F4FD-2D982FFA8A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142081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9159000-82B2-9A1C-1CF8-0BC1803C4418}"/>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0A04039C-275E-253D-85BA-9C2410E2EB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87E521DB-B0A6-C78E-EC96-BEF489006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18278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35D28C03-DD5F-3F11-F0E6-52D12ECFDE19}"/>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96EB6A23-40C7-A659-9D5F-0B7A85E659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build custom Kubernetes operators, Infrastructure behavior is explicitly defined, domain-specific</a:t>
            </a:r>
            <a:endParaRPr dirty="0"/>
          </a:p>
        </p:txBody>
      </p:sp>
      <p:sp>
        <p:nvSpPr>
          <p:cNvPr id="90" name="Google Shape;90;g3ef4563ff73_0_4:notes">
            <a:extLst>
              <a:ext uri="{FF2B5EF4-FFF2-40B4-BE49-F238E27FC236}">
                <a16:creationId xmlns:a16="http://schemas.microsoft.com/office/drawing/2014/main" id="{0772893C-02A9-4586-7F28-11A2A20324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84082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087E7FBD-1A6C-E73D-51CA-B7B08D836875}"/>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854FD762-16E5-54C8-68A1-82413595B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Implications:</a:t>
            </a:r>
          </a:p>
          <a:p>
            <a:r>
              <a:rPr lang="en-US" sz="1100" b="0" i="0" u="none" strike="noStrike" cap="none" dirty="0">
                <a:solidFill>
                  <a:srgbClr val="000000"/>
                </a:solidFill>
                <a:effectLst/>
                <a:latin typeface="Arial"/>
                <a:ea typeface="Arial"/>
                <a:cs typeface="Arial"/>
                <a:sym typeface="Arial"/>
              </a:rPr>
              <a:t>- Crossplane introduces more API objects and more reconciliation hops.</a:t>
            </a:r>
          </a:p>
          <a:p>
            <a:r>
              <a:rPr lang="en-US" sz="1100" b="0" i="0" u="none" strike="noStrike" cap="none" dirty="0">
                <a:solidFill>
                  <a:srgbClr val="000000"/>
                </a:solidFill>
                <a:effectLst/>
                <a:latin typeface="Arial"/>
                <a:ea typeface="Arial"/>
                <a:cs typeface="Arial"/>
                <a:sym typeface="Arial"/>
              </a:rPr>
              <a:t>- Kubebuilder has fewer layers, but all lifecycle logic must be implemented manually.</a:t>
            </a:r>
          </a:p>
          <a:p>
            <a:r>
              <a:rPr lang="en-US" sz="1100" b="0" i="0" u="none" strike="noStrike" cap="none" dirty="0">
                <a:solidFill>
                  <a:srgbClr val="000000"/>
                </a:solidFill>
                <a:effectLst/>
                <a:latin typeface="Arial"/>
                <a:ea typeface="Arial"/>
                <a:cs typeface="Arial"/>
                <a:sym typeface="Arial"/>
              </a:rPr>
              <a:t>- Crossplane favors modularity and reuse; Kubebuilder favors direct control and lower overhead.</a:t>
            </a:r>
            <a:endParaRPr lang="en-US" sz="1100" b="0" i="0" u="none" strike="noStrike" cap="none" dirty="0">
              <a:solidFill>
                <a:srgbClr val="000000"/>
              </a:solidFill>
              <a:latin typeface="Arial"/>
              <a:ea typeface="Arial"/>
              <a:cs typeface="Arial"/>
              <a:sym typeface="Arial"/>
            </a:endParaRPr>
          </a:p>
        </p:txBody>
      </p:sp>
      <p:sp>
        <p:nvSpPr>
          <p:cNvPr id="90" name="Google Shape;90;g3ef4563ff73_0_4:notes">
            <a:extLst>
              <a:ext uri="{FF2B5EF4-FFF2-40B4-BE49-F238E27FC236}">
                <a16:creationId xmlns:a16="http://schemas.microsoft.com/office/drawing/2014/main" id="{77090D56-9931-60E8-BF6F-D20F3D3AF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04041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A2728E2-2441-014C-B312-C7750BC5D51F}"/>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94B44885-4E8A-F3AF-BC6E-67FFFB30D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Key architectural difference to call out</a:t>
            </a:r>
            <a:r>
              <a:rPr lang="en-US" dirty="0"/>
              <a:t>: Kubebuilder has one reconciliation loop; Crossplane has </a:t>
            </a:r>
            <a:r>
              <a:rPr lang="en-US" i="1" dirty="0"/>
              <a:t>N</a:t>
            </a:r>
            <a:r>
              <a:rPr lang="en-US" dirty="0"/>
              <a:t> independent loops (engine, one per Provider, one per Function) that must all converge before the Claim is "ready."</a:t>
            </a:r>
            <a:endParaRPr b="0" dirty="0"/>
          </a:p>
        </p:txBody>
      </p:sp>
      <p:sp>
        <p:nvSpPr>
          <p:cNvPr id="90" name="Google Shape;90;g3ef4563ff73_0_4:notes">
            <a:extLst>
              <a:ext uri="{FF2B5EF4-FFF2-40B4-BE49-F238E27FC236}">
                <a16:creationId xmlns:a16="http://schemas.microsoft.com/office/drawing/2014/main" id="{A69B41AE-0FB9-1891-41E1-D1D20F34D4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30542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692755D-5D91-F250-11F8-4BC93E7399C8}"/>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C22E95AC-5163-D0F9-137A-0D960FEF03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Both frameworks rely on Kubernetes controller patterns such as informers, caches and work queues. The difference is where the optimization happens. Crossplane distributes reconciliation across multiple reusable controllers and providers. Kubebuilder gives the developer direct control over the reconciler, so optimizations such as event filtering, skipping updates or tuning concurrency must be implemented or configured manually.</a:t>
            </a:r>
          </a:p>
          <a:p>
            <a:endParaRPr lang="en-US" dirty="0"/>
          </a:p>
          <a:p>
            <a:r>
              <a:rPr lang="en-US" dirty="0"/>
              <a:t>Kubebuilder: The pattern is simple: </a:t>
            </a:r>
            <a:r>
              <a:rPr lang="en-US" i="1" dirty="0"/>
              <a:t>after each failure, wait twice as long as the previous attempt</a:t>
            </a:r>
            <a:r>
              <a:rPr lang="en-US" dirty="0"/>
              <a:t> before retrying. both frameworks avoid busy-polling, but </a:t>
            </a:r>
            <a:r>
              <a:rPr lang="en-US" dirty="0" err="1"/>
              <a:t>Crossplane's</a:t>
            </a:r>
            <a:r>
              <a:rPr lang="en-US" dirty="0"/>
              <a:t> optimizations are distributed across more components. which is one hypothesis for higher steady-state resource use, tested next.</a:t>
            </a:r>
          </a:p>
          <a:p>
            <a:br>
              <a:rPr lang="en-US" dirty="0"/>
            </a:br>
            <a:endParaRPr lang="en-US" dirty="0"/>
          </a:p>
          <a:p>
            <a:pPr marL="0" lvl="0" indent="0" algn="l" rtl="0">
              <a:spcBef>
                <a:spcPts val="0"/>
              </a:spcBef>
              <a:spcAft>
                <a:spcPts val="0"/>
              </a:spcAft>
              <a:buNone/>
            </a:pPr>
            <a:endParaRPr dirty="0"/>
          </a:p>
        </p:txBody>
      </p:sp>
      <p:sp>
        <p:nvSpPr>
          <p:cNvPr id="90" name="Google Shape;90;g3ef4563ff73_0_4:notes">
            <a:extLst>
              <a:ext uri="{FF2B5EF4-FFF2-40B4-BE49-F238E27FC236}">
                <a16:creationId xmlns:a16="http://schemas.microsoft.com/office/drawing/2014/main" id="{39C5EB55-7B36-393C-2010-DC74BF1D75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40159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3705DD7-BB81-0A0A-415E-05867F3D5164}"/>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EA5FB3B6-4079-5519-92A9-E600FCB85F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t>It depends… </a:t>
            </a:r>
            <a:r>
              <a:rPr lang="en-US" sz="1100" b="1" dirty="0" err="1"/>
              <a:t>obv</a:t>
            </a:r>
            <a:endParaRPr b="0" dirty="0"/>
          </a:p>
        </p:txBody>
      </p:sp>
      <p:sp>
        <p:nvSpPr>
          <p:cNvPr id="90" name="Google Shape;90;g3ef4563ff73_0_4:notes">
            <a:extLst>
              <a:ext uri="{FF2B5EF4-FFF2-40B4-BE49-F238E27FC236}">
                <a16:creationId xmlns:a16="http://schemas.microsoft.com/office/drawing/2014/main" id="{755496AB-0C60-8AB5-E181-CDAD5E64F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71401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6545070-400A-0F14-6C7B-9DD6880C829B}"/>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C072F86-BCB1-B39A-E3E2-E41F7F89A4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66D34413-DD10-9A3F-64F6-C1D8726E9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56657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EA263A2-4153-56F4-BC92-4A5663D14D45}"/>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262F23E6-AC52-C82A-D868-1FC39A25AF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9E4B478F-4EC5-8277-FFEF-ABE7B52558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199043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2D291637-66E0-230F-394C-48C409EC61D1}"/>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0127D84D-12C5-330C-CC9D-20E4BE0D6D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23700625-95C5-B90A-3290-C997D417EF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65930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BDD35D3-C64C-4375-0350-DA081E465DE0}"/>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1F3EEAD9-5F3D-6460-BC4A-4FF91D42B2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4B5649AC-E0A8-3B93-0D39-D095A6E770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13963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F594FA2-3B03-86DC-A5B7-02CA2E514FAB}"/>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9121A567-9923-5524-B9E6-7CBCED8E2D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2ADDEC38-1A9B-9CB1-CB97-C2834EF704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09176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0236F17-C1B1-C9CF-8800-146027CF5071}"/>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009B6865-6382-0971-56B0-CE25C73AA0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340902E1-B4FB-F313-0575-381FE0A4A8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773774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0A9F554-82AE-85C6-BE7D-7ADF40DE231F}"/>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B1ACB7D6-B2C0-E20F-CBCA-D2A5CB939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function-patch-and-transform è stateless (</a:t>
            </a:r>
            <a:r>
              <a:rPr lang="en-US" dirty="0" err="1"/>
              <a:t>nessuna</a:t>
            </a:r>
            <a:r>
              <a:rPr lang="en-US" dirty="0"/>
              <a:t> cache di </a:t>
            </a:r>
            <a:r>
              <a:rPr lang="en-US" dirty="0" err="1"/>
              <a:t>oggetti</a:t>
            </a:r>
            <a:r>
              <a:rPr lang="en-US" dirty="0"/>
              <a:t> </a:t>
            </a:r>
            <a:r>
              <a:rPr lang="en-US" dirty="0" err="1"/>
              <a:t>tracciati</a:t>
            </a:r>
            <a:r>
              <a:rPr lang="en-US" dirty="0"/>
              <a:t>) — le </a:t>
            </a:r>
            <a:r>
              <a:rPr lang="en-US" dirty="0" err="1"/>
              <a:t>variazioni</a:t>
            </a:r>
            <a:r>
              <a:rPr lang="en-US" dirty="0"/>
              <a:t> </a:t>
            </a:r>
            <a:r>
              <a:rPr lang="en-US" dirty="0" err="1"/>
              <a:t>osservate</a:t>
            </a:r>
            <a:r>
              <a:rPr lang="en-US" dirty="0"/>
              <a:t> </a:t>
            </a:r>
            <a:r>
              <a:rPr lang="en-US" dirty="0" err="1"/>
              <a:t>riflettono</a:t>
            </a:r>
            <a:r>
              <a:rPr lang="en-US" dirty="0"/>
              <a:t> il </a:t>
            </a:r>
            <a:r>
              <a:rPr lang="en-US" dirty="0" err="1"/>
              <a:t>comportamento</a:t>
            </a:r>
            <a:r>
              <a:rPr lang="en-US" dirty="0"/>
              <a:t> del garbage collector Go in idle, non </a:t>
            </a:r>
            <a:r>
              <a:rPr lang="en-US" dirty="0" err="1"/>
              <a:t>una</a:t>
            </a:r>
            <a:r>
              <a:rPr lang="en-US" dirty="0"/>
              <a:t> </a:t>
            </a:r>
            <a:r>
              <a:rPr lang="en-US" dirty="0" err="1"/>
              <a:t>relazione</a:t>
            </a:r>
            <a:r>
              <a:rPr lang="en-US" dirty="0"/>
              <a:t> </a:t>
            </a:r>
            <a:r>
              <a:rPr lang="en-US" dirty="0" err="1"/>
              <a:t>reale</a:t>
            </a:r>
            <a:r>
              <a:rPr lang="en-US" dirty="0"/>
              <a:t> con la batch size, a </a:t>
            </a:r>
            <a:r>
              <a:rPr lang="en-US" dirty="0" err="1"/>
              <a:t>differenza</a:t>
            </a:r>
            <a:r>
              <a:rPr lang="en-US" dirty="0"/>
              <a:t> delle </a:t>
            </a:r>
            <a:r>
              <a:rPr lang="en-US" dirty="0" err="1"/>
              <a:t>componenti</a:t>
            </a:r>
            <a:r>
              <a:rPr lang="en-US" dirty="0"/>
              <a:t> con cache </a:t>
            </a:r>
            <a:r>
              <a:rPr lang="en-US" dirty="0" err="1"/>
              <a:t>persistente</a:t>
            </a:r>
            <a:r>
              <a:rPr lang="en-US" dirty="0"/>
              <a:t>.</a:t>
            </a:r>
            <a:endParaRPr dirty="0"/>
          </a:p>
        </p:txBody>
      </p:sp>
      <p:sp>
        <p:nvSpPr>
          <p:cNvPr id="90" name="Google Shape;90;g3ef4563ff73_0_4:notes">
            <a:extLst>
              <a:ext uri="{FF2B5EF4-FFF2-40B4-BE49-F238E27FC236}">
                <a16:creationId xmlns:a16="http://schemas.microsoft.com/office/drawing/2014/main" id="{BAE4207D-6859-6890-DDCB-11202E08C0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523619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6B46B507-3F20-F699-F80E-CB982326A5CA}"/>
            </a:ext>
          </a:extLst>
        </p:cNvPr>
        <p:cNvGrpSpPr/>
        <p:nvPr/>
      </p:nvGrpSpPr>
      <p:grpSpPr>
        <a:xfrm>
          <a:off x="0" y="0"/>
          <a:ext cx="0" cy="0"/>
          <a:chOff x="0" y="0"/>
          <a:chExt cx="0" cy="0"/>
        </a:xfrm>
      </p:grpSpPr>
      <p:sp>
        <p:nvSpPr>
          <p:cNvPr id="149" name="Google Shape;149;g3ef4563ff73_0_78:notes">
            <a:extLst>
              <a:ext uri="{FF2B5EF4-FFF2-40B4-BE49-F238E27FC236}">
                <a16:creationId xmlns:a16="http://schemas.microsoft.com/office/drawing/2014/main" id="{89FE23AD-65A3-9346-E3FB-A761C382B0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3ef4563ff73_0_78:notes">
            <a:extLst>
              <a:ext uri="{FF2B5EF4-FFF2-40B4-BE49-F238E27FC236}">
                <a16:creationId xmlns:a16="http://schemas.microsoft.com/office/drawing/2014/main" id="{0DE0A408-28D5-9166-C410-A8D79DD38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68010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ef4563ff73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3ef4563ff73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65C8258-ABF1-5D04-AED3-B50A71569477}"/>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CAAB5A4C-DA87-BA26-44D9-4C49A8EAAD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Strong separation of the layers, Multiple reconciliation layers introduce overhead</a:t>
            </a:r>
            <a:endParaRPr dirty="0"/>
          </a:p>
        </p:txBody>
      </p:sp>
      <p:sp>
        <p:nvSpPr>
          <p:cNvPr id="90" name="Google Shape;90;g3ef4563ff73_0_4:notes">
            <a:extLst>
              <a:ext uri="{FF2B5EF4-FFF2-40B4-BE49-F238E27FC236}">
                <a16:creationId xmlns:a16="http://schemas.microsoft.com/office/drawing/2014/main" id="{20C409F7-D510-6526-927E-7661CDA72F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45281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BE29F1E-0032-E247-9C19-3241C1FD7090}"/>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3B9DAD09-8985-450B-4E46-F1A7682230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Strong separation of the layers, Multiple reconciliation layers introduce overhead</a:t>
            </a:r>
            <a:endParaRPr dirty="0"/>
          </a:p>
        </p:txBody>
      </p:sp>
      <p:sp>
        <p:nvSpPr>
          <p:cNvPr id="90" name="Google Shape;90;g3ef4563ff73_0_4:notes">
            <a:extLst>
              <a:ext uri="{FF2B5EF4-FFF2-40B4-BE49-F238E27FC236}">
                <a16:creationId xmlns:a16="http://schemas.microsoft.com/office/drawing/2014/main" id="{C8BE1C5A-3787-C6B7-0757-A312DB404F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9389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F15ACB3-E2A3-6860-B994-66CBF116185B}"/>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C356C650-5882-B701-9D00-DC0BF755BC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Crossplane standardizes multi-resource orchestration; Kubebuilder gives direct control over every reconciliation step.</a:t>
            </a:r>
            <a:endParaRPr b="0" dirty="0"/>
          </a:p>
        </p:txBody>
      </p:sp>
      <p:sp>
        <p:nvSpPr>
          <p:cNvPr id="90" name="Google Shape;90;g3ef4563ff73_0_4:notes">
            <a:extLst>
              <a:ext uri="{FF2B5EF4-FFF2-40B4-BE49-F238E27FC236}">
                <a16:creationId xmlns:a16="http://schemas.microsoft.com/office/drawing/2014/main" id="{83809112-65AC-37FE-F1A1-9B3B46E90E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598060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F3F9182-3361-2C14-3BA8-288C799E8DC2}"/>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75185A01-A411-A835-4C93-EF78478676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Crossplane standardizes multi-resource orchestration; Kubebuilder gives direct control over every reconciliation step.</a:t>
            </a:r>
            <a:endParaRPr b="0" dirty="0"/>
          </a:p>
        </p:txBody>
      </p:sp>
      <p:sp>
        <p:nvSpPr>
          <p:cNvPr id="90" name="Google Shape;90;g3ef4563ff73_0_4:notes">
            <a:extLst>
              <a:ext uri="{FF2B5EF4-FFF2-40B4-BE49-F238E27FC236}">
                <a16:creationId xmlns:a16="http://schemas.microsoft.com/office/drawing/2014/main" id="{5391DD1C-225D-3609-855D-594411A5DB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97702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32BE6D4-1555-98F0-BB79-290AA29A7BAC}"/>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F546A280-0CAB-4FF8-0848-FE8BF44FF0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Crossplane standardizes multi-resource orchestration; Kubebuilder gives direct control over every reconciliation step.</a:t>
            </a:r>
            <a:endParaRPr b="0" dirty="0"/>
          </a:p>
        </p:txBody>
      </p:sp>
      <p:sp>
        <p:nvSpPr>
          <p:cNvPr id="90" name="Google Shape;90;g3ef4563ff73_0_4:notes">
            <a:extLst>
              <a:ext uri="{FF2B5EF4-FFF2-40B4-BE49-F238E27FC236}">
                <a16:creationId xmlns:a16="http://schemas.microsoft.com/office/drawing/2014/main" id="{BFF49FAA-4432-D6A4-A183-129A3A07C5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165093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869B14A-C006-A937-CB24-C54FDF94DA00}"/>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3C4E2BAE-B960-5864-7945-38DCB5B51D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 name="Google Shape;90;g3ef4563ff73_0_4:notes">
            <a:extLst>
              <a:ext uri="{FF2B5EF4-FFF2-40B4-BE49-F238E27FC236}">
                <a16:creationId xmlns:a16="http://schemas.microsoft.com/office/drawing/2014/main" id="{A8376354-BC9E-9CCD-B7CF-4C9B9F6594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26154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github.com/segmentio/kafka-go" TargetMode="External"/><Relationship Id="rId5" Type="http://schemas.openxmlformats.org/officeDocument/2006/relationships/hyperlink" Target="https://docs.crossplane.io/v2.3" TargetMode="External"/><Relationship Id="rId4" Type="http://schemas.openxmlformats.org/officeDocument/2006/relationships/hyperlink" Target="https://book.kubebuilder.io/"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305250" y="2660483"/>
            <a:ext cx="11581500" cy="1015663"/>
          </a:xfrm>
          <a:prstGeom prst="rect">
            <a:avLst/>
          </a:prstGeom>
          <a:noFill/>
          <a:ln>
            <a:noFill/>
          </a:ln>
        </p:spPr>
        <p:txBody>
          <a:bodyPr spcFirstLastPara="1" wrap="square" lIns="0" tIns="0" rIns="0" bIns="0" anchor="t" anchorCtr="0">
            <a:spAutoFit/>
          </a:bodyPr>
          <a:lstStyle/>
          <a:p>
            <a:pPr lvl="0" algn="ctr"/>
            <a:r>
              <a:rPr lang="en-US" sz="6600" b="1" i="1" dirty="0"/>
              <a:t>Crossplane vs Kubebuilder </a:t>
            </a:r>
            <a:endParaRPr sz="6600" b="1" dirty="0">
              <a:solidFill>
                <a:schemeClr val="dk1"/>
              </a:solidFill>
            </a:endParaRPr>
          </a:p>
        </p:txBody>
      </p:sp>
      <p:sp>
        <p:nvSpPr>
          <p:cNvPr id="85" name="Google Shape;85;p13"/>
          <p:cNvSpPr txBox="1"/>
          <p:nvPr/>
        </p:nvSpPr>
        <p:spPr>
          <a:xfrm>
            <a:off x="0" y="5117440"/>
            <a:ext cx="121920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000" dirty="0">
                <a:solidFill>
                  <a:schemeClr val="dk1"/>
                </a:solidFill>
              </a:rPr>
              <a:t>Infrastructures for Cloud Computing and Big Data M</a:t>
            </a:r>
            <a:endParaRPr sz="2000" dirty="0">
              <a:solidFill>
                <a:schemeClr val="dk1"/>
              </a:solidFill>
            </a:endParaRPr>
          </a:p>
          <a:p>
            <a:pPr marL="0" lvl="0" indent="0" algn="ctr" rtl="0">
              <a:spcBef>
                <a:spcPts val="0"/>
              </a:spcBef>
              <a:spcAft>
                <a:spcPts val="0"/>
              </a:spcAft>
              <a:buNone/>
            </a:pPr>
            <a:r>
              <a:rPr lang="en-US" sz="2000" dirty="0">
                <a:solidFill>
                  <a:schemeClr val="dk1"/>
                </a:solidFill>
              </a:rPr>
              <a:t>Lorenzo De Luca</a:t>
            </a:r>
            <a:endParaRPr sz="2000" dirty="0">
              <a:solidFill>
                <a:schemeClr val="dk1"/>
              </a:solidFill>
            </a:endParaRPr>
          </a:p>
          <a:p>
            <a:pPr marL="0" lvl="0" indent="0" algn="ctr" rtl="0">
              <a:spcBef>
                <a:spcPts val="0"/>
              </a:spcBef>
              <a:spcAft>
                <a:spcPts val="0"/>
              </a:spcAft>
              <a:buNone/>
            </a:pPr>
            <a:r>
              <a:rPr lang="en-US" sz="2000" dirty="0">
                <a:solidFill>
                  <a:schemeClr val="dk1"/>
                </a:solidFill>
              </a:rPr>
              <a:t>0001240461 </a:t>
            </a:r>
            <a:endParaRPr sz="2000" dirty="0">
              <a:solidFill>
                <a:schemeClr val="dk1"/>
              </a:solidFill>
            </a:endParaRPr>
          </a:p>
        </p:txBody>
      </p:sp>
      <p:sp>
        <p:nvSpPr>
          <p:cNvPr id="87" name="Google Shape;87;p13"/>
          <p:cNvSpPr txBox="1"/>
          <p:nvPr/>
        </p:nvSpPr>
        <p:spPr>
          <a:xfrm>
            <a:off x="2305200" y="3860075"/>
            <a:ext cx="7581600" cy="615523"/>
          </a:xfrm>
          <a:prstGeom prst="rect">
            <a:avLst/>
          </a:prstGeom>
          <a:noFill/>
          <a:ln>
            <a:noFill/>
          </a:ln>
        </p:spPr>
        <p:txBody>
          <a:bodyPr spcFirstLastPara="1" wrap="square" lIns="91425" tIns="91425" rIns="91425" bIns="91425" anchor="t" anchorCtr="0">
            <a:spAutoFit/>
          </a:bodyPr>
          <a:lstStyle/>
          <a:p>
            <a:pPr lvl="0" algn="ctr"/>
            <a:r>
              <a:rPr lang="en-US" dirty="0"/>
              <a:t>paradigms, abstraction, complexity, extensibility and performance comparison with a common use case implementation</a:t>
            </a:r>
            <a:endParaRPr dirty="0"/>
          </a:p>
        </p:txBody>
      </p:sp>
      <p:pic>
        <p:nvPicPr>
          <p:cNvPr id="4" name="Picture 3">
            <a:extLst>
              <a:ext uri="{FF2B5EF4-FFF2-40B4-BE49-F238E27FC236}">
                <a16:creationId xmlns:a16="http://schemas.microsoft.com/office/drawing/2014/main" id="{9755B22E-AE21-74C2-8746-91B386CCDC89}"/>
              </a:ext>
            </a:extLst>
          </p:cNvPr>
          <p:cNvPicPr>
            <a:picLocks noChangeAspect="1"/>
          </p:cNvPicPr>
          <p:nvPr/>
        </p:nvPicPr>
        <p:blipFill>
          <a:blip r:embed="rId3"/>
          <a:stretch>
            <a:fillRect/>
          </a:stretch>
        </p:blipFill>
        <p:spPr>
          <a:xfrm>
            <a:off x="4867273" y="310296"/>
            <a:ext cx="2457454" cy="1817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31BA29A-5080-7AFB-47F5-63C00FDD71C3}"/>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E11895F8-9A7E-A6BA-0E4B-B722BA67173E}"/>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FD33CEB0-2D9E-EB57-1439-7E001FE88283}"/>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Kubernetes Operators</a:t>
            </a:r>
            <a:endParaRPr sz="4500" b="1" dirty="0">
              <a:solidFill>
                <a:schemeClr val="dk1"/>
              </a:solidFill>
            </a:endParaRPr>
          </a:p>
        </p:txBody>
      </p:sp>
      <p:sp>
        <p:nvSpPr>
          <p:cNvPr id="94" name="Google Shape;94;p14">
            <a:extLst>
              <a:ext uri="{FF2B5EF4-FFF2-40B4-BE49-F238E27FC236}">
                <a16:creationId xmlns:a16="http://schemas.microsoft.com/office/drawing/2014/main" id="{EF13DAB9-2BC7-970F-69E8-AAAA292D738F}"/>
              </a:ext>
            </a:extLst>
          </p:cNvPr>
          <p:cNvSpPr txBox="1"/>
          <p:nvPr/>
        </p:nvSpPr>
        <p:spPr>
          <a:xfrm>
            <a:off x="417864" y="1111764"/>
            <a:ext cx="11356272" cy="1538853"/>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dirty="0">
                <a:solidFill>
                  <a:schemeClr val="dk1"/>
                </a:solidFill>
              </a:rPr>
              <a:t>A Kubernetes Operator extends the Kubernetes API with a Custom Resource(CR) and a controller. Operators implement the reconciliation loop pattern: they observe Custom Resources through the Kubernetes API server, compare desired and actual state, and perform actions until convergence.</a:t>
            </a:r>
          </a:p>
        </p:txBody>
      </p:sp>
      <p:sp>
        <p:nvSpPr>
          <p:cNvPr id="2" name="Slide Number Placeholder 1">
            <a:extLst>
              <a:ext uri="{FF2B5EF4-FFF2-40B4-BE49-F238E27FC236}">
                <a16:creationId xmlns:a16="http://schemas.microsoft.com/office/drawing/2014/main" id="{4881A99B-FC2F-BDAE-83F1-DC71957BB303}"/>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a:t>
            </a:fld>
            <a:endParaRPr lang="en-US" dirty="0"/>
          </a:p>
        </p:txBody>
      </p:sp>
      <p:sp>
        <p:nvSpPr>
          <p:cNvPr id="7" name="Google Shape;94;p14">
            <a:extLst>
              <a:ext uri="{FF2B5EF4-FFF2-40B4-BE49-F238E27FC236}">
                <a16:creationId xmlns:a16="http://schemas.microsoft.com/office/drawing/2014/main" id="{848F549A-5171-A48E-5B66-2206AFA1C8C6}"/>
              </a:ext>
            </a:extLst>
          </p:cNvPr>
          <p:cNvSpPr txBox="1"/>
          <p:nvPr/>
        </p:nvSpPr>
        <p:spPr>
          <a:xfrm>
            <a:off x="417864" y="2869596"/>
            <a:ext cx="11163080" cy="523190"/>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dirty="0"/>
              <a:t>Building operators can be approached at different levels of abstraction: </a:t>
            </a:r>
            <a:endParaRPr lang="en-US" sz="2200" dirty="0">
              <a:solidFill>
                <a:schemeClr val="dk1"/>
              </a:solidFill>
            </a:endParaRPr>
          </a:p>
        </p:txBody>
      </p:sp>
      <p:sp>
        <p:nvSpPr>
          <p:cNvPr id="9" name="Google Shape;94;p14">
            <a:extLst>
              <a:ext uri="{FF2B5EF4-FFF2-40B4-BE49-F238E27FC236}">
                <a16:creationId xmlns:a16="http://schemas.microsoft.com/office/drawing/2014/main" id="{1DB1C9A8-5450-BDF8-CAF0-61B4104E6176}"/>
              </a:ext>
            </a:extLst>
          </p:cNvPr>
          <p:cNvSpPr txBox="1"/>
          <p:nvPr/>
        </p:nvSpPr>
        <p:spPr>
          <a:xfrm>
            <a:off x="1130968" y="3364604"/>
            <a:ext cx="10449976" cy="1538853"/>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b="1" dirty="0"/>
              <a:t>Low-level</a:t>
            </a:r>
            <a:r>
              <a:rPr lang="en-US" sz="2200" dirty="0"/>
              <a:t>: the developer writes all the controller logic</a:t>
            </a:r>
          </a:p>
          <a:p>
            <a:pPr marL="381000" indent="-342900">
              <a:buClr>
                <a:schemeClr val="dk1"/>
              </a:buClr>
              <a:buSzPts val="3000"/>
              <a:buFontTx/>
              <a:buChar char="-"/>
            </a:pPr>
            <a:endParaRPr lang="en-US" sz="2200" dirty="0"/>
          </a:p>
          <a:p>
            <a:pPr marL="38100">
              <a:buClr>
                <a:schemeClr val="dk1"/>
              </a:buClr>
              <a:buSzPts val="3000"/>
            </a:pPr>
            <a:r>
              <a:rPr lang="en-US" sz="2200" b="1" dirty="0"/>
              <a:t>High-level</a:t>
            </a:r>
            <a:r>
              <a:rPr lang="en-US" sz="2200" dirty="0"/>
              <a:t>: the developer describes the desired infrastructure API and composition logic, while existing controllers/providers perform reconciliation.</a:t>
            </a:r>
            <a:endParaRPr lang="en-US" sz="2200" dirty="0">
              <a:solidFill>
                <a:schemeClr val="dk1"/>
              </a:solidFill>
            </a:endParaRPr>
          </a:p>
        </p:txBody>
      </p:sp>
      <p:sp>
        <p:nvSpPr>
          <p:cNvPr id="13" name="Google Shape;94;p14">
            <a:extLst>
              <a:ext uri="{FF2B5EF4-FFF2-40B4-BE49-F238E27FC236}">
                <a16:creationId xmlns:a16="http://schemas.microsoft.com/office/drawing/2014/main" id="{FEAB3335-E610-AA72-371F-851341D3BCD9}"/>
              </a:ext>
            </a:extLst>
          </p:cNvPr>
          <p:cNvSpPr txBox="1"/>
          <p:nvPr/>
        </p:nvSpPr>
        <p:spPr>
          <a:xfrm>
            <a:off x="417864" y="5211997"/>
            <a:ext cx="11163080" cy="861744"/>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dirty="0">
                <a:solidFill>
                  <a:schemeClr val="dk1"/>
                </a:solidFill>
              </a:rPr>
              <a:t>Both approaches solve the same problem of automating resource lifecycle but target different users and different tradeoffs.</a:t>
            </a:r>
          </a:p>
        </p:txBody>
      </p:sp>
      <p:pic>
        <p:nvPicPr>
          <p:cNvPr id="17" name="Picture 16">
            <a:extLst>
              <a:ext uri="{FF2B5EF4-FFF2-40B4-BE49-F238E27FC236}">
                <a16:creationId xmlns:a16="http://schemas.microsoft.com/office/drawing/2014/main" id="{2428987E-3B43-15D9-ABDC-58EBAE01CE3E}"/>
              </a:ext>
            </a:extLst>
          </p:cNvPr>
          <p:cNvPicPr>
            <a:picLocks noChangeAspect="1"/>
          </p:cNvPicPr>
          <p:nvPr/>
        </p:nvPicPr>
        <p:blipFill>
          <a:blip r:embed="rId4"/>
          <a:stretch>
            <a:fillRect/>
          </a:stretch>
        </p:blipFill>
        <p:spPr>
          <a:xfrm>
            <a:off x="11001308" y="17414"/>
            <a:ext cx="1159271" cy="1126667"/>
          </a:xfrm>
          <a:prstGeom prst="rect">
            <a:avLst/>
          </a:prstGeom>
        </p:spPr>
      </p:pic>
    </p:spTree>
    <p:extLst>
      <p:ext uri="{BB962C8B-B14F-4D97-AF65-F5344CB8AC3E}">
        <p14:creationId xmlns:p14="http://schemas.microsoft.com/office/powerpoint/2010/main" val="120798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3B1798F-2870-F963-ECDE-22E148A6B850}"/>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5F795289-B3D9-5405-B66B-D9E4EAC9D7F4}"/>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D0623939-FFDE-E6AB-EE59-A0DC21541D0B}"/>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Research Objective</a:t>
            </a:r>
            <a:endParaRPr sz="4500" b="1" dirty="0">
              <a:solidFill>
                <a:schemeClr val="dk1"/>
              </a:solidFill>
            </a:endParaRPr>
          </a:p>
        </p:txBody>
      </p:sp>
      <p:sp>
        <p:nvSpPr>
          <p:cNvPr id="94" name="Google Shape;94;p14">
            <a:extLst>
              <a:ext uri="{FF2B5EF4-FFF2-40B4-BE49-F238E27FC236}">
                <a16:creationId xmlns:a16="http://schemas.microsoft.com/office/drawing/2014/main" id="{E843CAC4-D2AC-5075-D007-721B403D5B57}"/>
              </a:ext>
            </a:extLst>
          </p:cNvPr>
          <p:cNvSpPr txBox="1"/>
          <p:nvPr/>
        </p:nvSpPr>
        <p:spPr>
          <a:xfrm>
            <a:off x="417864" y="1206073"/>
            <a:ext cx="11163080" cy="923299"/>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400" dirty="0"/>
              <a:t>Compare Crossplane and Kubebuilder as representatives of two paradigms for building Kubernetes Operators.</a:t>
            </a:r>
            <a:endParaRPr lang="en-US" sz="2400" dirty="0">
              <a:solidFill>
                <a:schemeClr val="dk1"/>
              </a:solidFill>
            </a:endParaRPr>
          </a:p>
        </p:txBody>
      </p:sp>
      <p:sp>
        <p:nvSpPr>
          <p:cNvPr id="2" name="Slide Number Placeholder 1">
            <a:extLst>
              <a:ext uri="{FF2B5EF4-FFF2-40B4-BE49-F238E27FC236}">
                <a16:creationId xmlns:a16="http://schemas.microsoft.com/office/drawing/2014/main" id="{32F6E6A7-E56C-D098-1F57-73D1D4D81258}"/>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3</a:t>
            </a:fld>
            <a:endParaRPr lang="en-US" dirty="0"/>
          </a:p>
        </p:txBody>
      </p:sp>
      <p:sp>
        <p:nvSpPr>
          <p:cNvPr id="7" name="Google Shape;94;p14">
            <a:extLst>
              <a:ext uri="{FF2B5EF4-FFF2-40B4-BE49-F238E27FC236}">
                <a16:creationId xmlns:a16="http://schemas.microsoft.com/office/drawing/2014/main" id="{1EC5D29E-1CC2-6063-BB05-6AA39E56345A}"/>
              </a:ext>
            </a:extLst>
          </p:cNvPr>
          <p:cNvSpPr txBox="1"/>
          <p:nvPr/>
        </p:nvSpPr>
        <p:spPr>
          <a:xfrm>
            <a:off x="417864" y="2123280"/>
            <a:ext cx="11163080" cy="553968"/>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400" dirty="0"/>
              <a:t>Will be evaluated:</a:t>
            </a:r>
            <a:endParaRPr lang="en-US" sz="2400" dirty="0">
              <a:solidFill>
                <a:schemeClr val="dk1"/>
              </a:solidFill>
            </a:endParaRPr>
          </a:p>
        </p:txBody>
      </p:sp>
      <p:sp>
        <p:nvSpPr>
          <p:cNvPr id="9" name="Google Shape;94;p14">
            <a:extLst>
              <a:ext uri="{FF2B5EF4-FFF2-40B4-BE49-F238E27FC236}">
                <a16:creationId xmlns:a16="http://schemas.microsoft.com/office/drawing/2014/main" id="{BF1566FD-8C0D-C497-0001-61E9F1697660}"/>
              </a:ext>
            </a:extLst>
          </p:cNvPr>
          <p:cNvSpPr txBox="1"/>
          <p:nvPr/>
        </p:nvSpPr>
        <p:spPr>
          <a:xfrm>
            <a:off x="1324160" y="2601468"/>
            <a:ext cx="10449976" cy="2400627"/>
          </a:xfrm>
          <a:prstGeom prst="rect">
            <a:avLst/>
          </a:prstGeom>
          <a:noFill/>
          <a:ln>
            <a:noFill/>
          </a:ln>
        </p:spPr>
        <p:txBody>
          <a:bodyPr spcFirstLastPara="1" wrap="square" lIns="91425" tIns="91425" rIns="91425" bIns="91425" anchor="t" anchorCtr="0">
            <a:spAutoFit/>
          </a:bodyPr>
          <a:lstStyle/>
          <a:p>
            <a:pPr marL="381000" indent="-342900">
              <a:lnSpc>
                <a:spcPct val="150000"/>
              </a:lnSpc>
              <a:buClr>
                <a:schemeClr val="dk1"/>
              </a:buClr>
              <a:buSzPts val="3000"/>
              <a:buFontTx/>
              <a:buChar char="-"/>
            </a:pPr>
            <a:r>
              <a:rPr lang="en-US" sz="2400" dirty="0"/>
              <a:t>Architectural model and abstraction level</a:t>
            </a:r>
          </a:p>
          <a:p>
            <a:pPr marL="381000" indent="-342900">
              <a:lnSpc>
                <a:spcPct val="150000"/>
              </a:lnSpc>
              <a:buClr>
                <a:schemeClr val="dk1"/>
              </a:buClr>
              <a:buSzPts val="3000"/>
              <a:buFontTx/>
              <a:buChar char="-"/>
            </a:pPr>
            <a:r>
              <a:rPr lang="en-US" sz="2400" dirty="0"/>
              <a:t>Development complexity and extensibility</a:t>
            </a:r>
          </a:p>
          <a:p>
            <a:pPr marL="381000" indent="-342900">
              <a:lnSpc>
                <a:spcPct val="150000"/>
              </a:lnSpc>
              <a:buClr>
                <a:schemeClr val="dk1"/>
              </a:buClr>
              <a:buSzPts val="3000"/>
              <a:buFontTx/>
              <a:buChar char="-"/>
            </a:pPr>
            <a:r>
              <a:rPr lang="en-US" sz="2400" dirty="0"/>
              <a:t>Internal optimizations adopted by each framework</a:t>
            </a:r>
          </a:p>
          <a:p>
            <a:pPr marL="381000" indent="-342900">
              <a:lnSpc>
                <a:spcPct val="150000"/>
              </a:lnSpc>
              <a:buClr>
                <a:schemeClr val="dk1"/>
              </a:buClr>
              <a:buSzPts val="3000"/>
              <a:buFontTx/>
              <a:buChar char="-"/>
            </a:pPr>
            <a:r>
              <a:rPr lang="en-US" sz="2400" dirty="0"/>
              <a:t>Resource consumption</a:t>
            </a:r>
            <a:endParaRPr lang="en-US" sz="2400" dirty="0">
              <a:solidFill>
                <a:schemeClr val="dk1"/>
              </a:solidFill>
            </a:endParaRPr>
          </a:p>
        </p:txBody>
      </p:sp>
      <p:sp>
        <p:nvSpPr>
          <p:cNvPr id="4" name="Google Shape;94;p14">
            <a:extLst>
              <a:ext uri="{FF2B5EF4-FFF2-40B4-BE49-F238E27FC236}">
                <a16:creationId xmlns:a16="http://schemas.microsoft.com/office/drawing/2014/main" id="{68CF50A9-3799-6769-7FF0-C55D6B9DB6BC}"/>
              </a:ext>
            </a:extLst>
          </p:cNvPr>
          <p:cNvSpPr txBox="1"/>
          <p:nvPr/>
        </p:nvSpPr>
        <p:spPr>
          <a:xfrm>
            <a:off x="417864" y="5002095"/>
            <a:ext cx="10449976" cy="1292631"/>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400" i="1" dirty="0"/>
              <a:t>Does the convenience of the extra abstraction layer of Crossplane cost more in resources/latency than it saves in development effort, compared to a hand-written Kubebuilder controller?</a:t>
            </a:r>
            <a:endParaRPr lang="en-US" sz="2400" dirty="0">
              <a:solidFill>
                <a:schemeClr val="dk1"/>
              </a:solidFill>
            </a:endParaRPr>
          </a:p>
        </p:txBody>
      </p:sp>
    </p:spTree>
    <p:extLst>
      <p:ext uri="{BB962C8B-B14F-4D97-AF65-F5344CB8AC3E}">
        <p14:creationId xmlns:p14="http://schemas.microsoft.com/office/powerpoint/2010/main" val="1120392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D3B6F108-FBB4-4684-ABEE-EBB301A8ED12}"/>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953C1BFB-DD5E-0DDA-063C-F514F8C1AE49}"/>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35EE0FE3-3CD9-AA7B-2640-4DF9883331E1}"/>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Crossplane</a:t>
            </a:r>
            <a:endParaRPr sz="4500" b="1" dirty="0">
              <a:solidFill>
                <a:schemeClr val="dk1"/>
              </a:solidFill>
            </a:endParaRPr>
          </a:p>
        </p:txBody>
      </p:sp>
      <p:sp>
        <p:nvSpPr>
          <p:cNvPr id="94" name="Google Shape;94;p14">
            <a:extLst>
              <a:ext uri="{FF2B5EF4-FFF2-40B4-BE49-F238E27FC236}">
                <a16:creationId xmlns:a16="http://schemas.microsoft.com/office/drawing/2014/main" id="{2D1651A3-B8DE-D555-634B-46F770456606}"/>
              </a:ext>
            </a:extLst>
          </p:cNvPr>
          <p:cNvSpPr txBox="1"/>
          <p:nvPr/>
        </p:nvSpPr>
        <p:spPr>
          <a:xfrm>
            <a:off x="772510" y="1146178"/>
            <a:ext cx="11163080" cy="4616618"/>
          </a:xfrm>
          <a:prstGeom prst="rect">
            <a:avLst/>
          </a:prstGeom>
          <a:noFill/>
          <a:ln>
            <a:noFill/>
          </a:ln>
        </p:spPr>
        <p:txBody>
          <a:bodyPr spcFirstLastPara="1" wrap="square" lIns="91425" tIns="91425" rIns="91425" bIns="91425" anchor="t" anchorCtr="0">
            <a:spAutoFit/>
          </a:bodyPr>
          <a:lstStyle/>
          <a:p>
            <a:pPr marL="495300" indent="-457200">
              <a:lnSpc>
                <a:spcPct val="150000"/>
              </a:lnSpc>
              <a:buClr>
                <a:schemeClr val="dk1"/>
              </a:buClr>
              <a:buSzPts val="3000"/>
              <a:buFontTx/>
              <a:buChar char="-"/>
            </a:pPr>
            <a:r>
              <a:rPr lang="en-US" sz="3200" dirty="0">
                <a:solidFill>
                  <a:schemeClr val="dk1"/>
                </a:solidFill>
              </a:rPr>
              <a:t>Universal control plane</a:t>
            </a:r>
          </a:p>
          <a:p>
            <a:pPr marL="495300" lvl="0" indent="-457200">
              <a:lnSpc>
                <a:spcPct val="150000"/>
              </a:lnSpc>
              <a:buClr>
                <a:schemeClr val="dk1"/>
              </a:buClr>
              <a:buSzPts val="3000"/>
              <a:buFontTx/>
              <a:buChar char="-"/>
            </a:pPr>
            <a:r>
              <a:rPr lang="en-US" sz="3200" dirty="0">
                <a:solidFill>
                  <a:schemeClr val="dk1"/>
                </a:solidFill>
              </a:rPr>
              <a:t>Declarative composition model</a:t>
            </a:r>
          </a:p>
          <a:p>
            <a:pPr marL="495300" lvl="0" indent="-457200">
              <a:lnSpc>
                <a:spcPct val="150000"/>
              </a:lnSpc>
              <a:buClr>
                <a:schemeClr val="dk1"/>
              </a:buClr>
              <a:buSzPts val="3000"/>
              <a:buFontTx/>
              <a:buChar char="-"/>
            </a:pPr>
            <a:r>
              <a:rPr lang="en-US" sz="3200" dirty="0"/>
              <a:t>Strong for composition and platform engineering</a:t>
            </a:r>
          </a:p>
          <a:p>
            <a:pPr marL="495300" lvl="0" indent="-457200">
              <a:lnSpc>
                <a:spcPct val="150000"/>
              </a:lnSpc>
              <a:buClr>
                <a:schemeClr val="dk1"/>
              </a:buClr>
              <a:buSzPts val="3000"/>
              <a:buFontTx/>
              <a:buChar char="-"/>
            </a:pPr>
            <a:r>
              <a:rPr lang="en-US" sz="3200" dirty="0"/>
              <a:t>Logic is mostly declarative</a:t>
            </a:r>
          </a:p>
          <a:p>
            <a:pPr marL="495300" lvl="0" indent="-457200">
              <a:lnSpc>
                <a:spcPct val="150000"/>
              </a:lnSpc>
              <a:buClr>
                <a:schemeClr val="dk1"/>
              </a:buClr>
              <a:buSzPts val="3000"/>
              <a:buFontTx/>
              <a:buChar char="-"/>
            </a:pPr>
            <a:r>
              <a:rPr lang="en-US" sz="3200" dirty="0"/>
              <a:t>Strength: consistency and reuse</a:t>
            </a:r>
          </a:p>
          <a:p>
            <a:pPr marL="495300" lvl="0" indent="-457200">
              <a:lnSpc>
                <a:spcPct val="150000"/>
              </a:lnSpc>
              <a:buClr>
                <a:schemeClr val="dk1"/>
              </a:buClr>
              <a:buSzPts val="3000"/>
              <a:buFontTx/>
              <a:buChar char="-"/>
            </a:pPr>
            <a:r>
              <a:rPr lang="en-US" sz="3200" dirty="0"/>
              <a:t>Limitation: less flexible for complex imperative logic</a:t>
            </a:r>
            <a:endParaRPr lang="en-US" sz="3200" dirty="0">
              <a:solidFill>
                <a:schemeClr val="dk1"/>
              </a:solidFill>
            </a:endParaRPr>
          </a:p>
        </p:txBody>
      </p:sp>
      <p:sp>
        <p:nvSpPr>
          <p:cNvPr id="2" name="Slide Number Placeholder 1">
            <a:extLst>
              <a:ext uri="{FF2B5EF4-FFF2-40B4-BE49-F238E27FC236}">
                <a16:creationId xmlns:a16="http://schemas.microsoft.com/office/drawing/2014/main" id="{CC381B71-96FB-4B12-C0B5-D478C9C09E6F}"/>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4</a:t>
            </a:fld>
            <a:endParaRPr lang="en-US" dirty="0"/>
          </a:p>
        </p:txBody>
      </p:sp>
      <p:pic>
        <p:nvPicPr>
          <p:cNvPr id="6" name="Graphic 5">
            <a:extLst>
              <a:ext uri="{FF2B5EF4-FFF2-40B4-BE49-F238E27FC236}">
                <a16:creationId xmlns:a16="http://schemas.microsoft.com/office/drawing/2014/main" id="{0620A1FD-CA56-87ED-AB38-A5B540C7BB71}"/>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1240550" y="201021"/>
            <a:ext cx="951450" cy="1467980"/>
          </a:xfrm>
          <a:prstGeom prst="rect">
            <a:avLst/>
          </a:prstGeom>
        </p:spPr>
      </p:pic>
    </p:spTree>
    <p:extLst>
      <p:ext uri="{BB962C8B-B14F-4D97-AF65-F5344CB8AC3E}">
        <p14:creationId xmlns:p14="http://schemas.microsoft.com/office/powerpoint/2010/main" val="3770479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772CE539-57AD-CD9A-9932-8834BF4191CC}"/>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5C2E127D-0EB6-BD1D-D691-D048D885C5A9}"/>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8D1D3DED-EB35-046A-1C3E-A45E5B34D382}"/>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Kubebuilder</a:t>
            </a:r>
            <a:endParaRPr sz="4500" b="1" dirty="0">
              <a:solidFill>
                <a:schemeClr val="dk1"/>
              </a:solidFill>
            </a:endParaRPr>
          </a:p>
        </p:txBody>
      </p:sp>
      <p:sp>
        <p:nvSpPr>
          <p:cNvPr id="94" name="Google Shape;94;p14">
            <a:extLst>
              <a:ext uri="{FF2B5EF4-FFF2-40B4-BE49-F238E27FC236}">
                <a16:creationId xmlns:a16="http://schemas.microsoft.com/office/drawing/2014/main" id="{9873D292-F2AE-1D74-7C19-E3E8A5EFF314}"/>
              </a:ext>
            </a:extLst>
          </p:cNvPr>
          <p:cNvSpPr txBox="1"/>
          <p:nvPr/>
        </p:nvSpPr>
        <p:spPr>
          <a:xfrm>
            <a:off x="772510" y="1146178"/>
            <a:ext cx="11163080" cy="4616618"/>
          </a:xfrm>
          <a:prstGeom prst="rect">
            <a:avLst/>
          </a:prstGeom>
          <a:noFill/>
          <a:ln>
            <a:noFill/>
          </a:ln>
        </p:spPr>
        <p:txBody>
          <a:bodyPr spcFirstLastPara="1" wrap="square" lIns="91425" tIns="91425" rIns="91425" bIns="91425" anchor="t" anchorCtr="0">
            <a:spAutoFit/>
          </a:bodyPr>
          <a:lstStyle/>
          <a:p>
            <a:pPr marL="495300" lvl="0" indent="-457200">
              <a:lnSpc>
                <a:spcPct val="150000"/>
              </a:lnSpc>
              <a:buClr>
                <a:schemeClr val="dk1"/>
              </a:buClr>
              <a:buSzPts val="3000"/>
              <a:buFontTx/>
              <a:buChar char="-"/>
            </a:pPr>
            <a:r>
              <a:rPr lang="en-US" sz="3200" dirty="0">
                <a:solidFill>
                  <a:schemeClr val="dk1"/>
                </a:solidFill>
              </a:rPr>
              <a:t>Low-level Go SDK</a:t>
            </a:r>
          </a:p>
          <a:p>
            <a:pPr marL="495300" lvl="0" indent="-457200">
              <a:lnSpc>
                <a:spcPct val="150000"/>
              </a:lnSpc>
              <a:buClr>
                <a:schemeClr val="dk1"/>
              </a:buClr>
              <a:buSzPts val="3000"/>
              <a:buFontTx/>
              <a:buChar char="-"/>
            </a:pPr>
            <a:r>
              <a:rPr lang="en-US" sz="3200" dirty="0">
                <a:solidFill>
                  <a:schemeClr val="dk1"/>
                </a:solidFill>
              </a:rPr>
              <a:t>Imperative control model</a:t>
            </a:r>
          </a:p>
          <a:p>
            <a:pPr marL="495300" lvl="0" indent="-457200">
              <a:lnSpc>
                <a:spcPct val="150000"/>
              </a:lnSpc>
              <a:buClr>
                <a:schemeClr val="dk1"/>
              </a:buClr>
              <a:buSzPts val="3000"/>
              <a:buFontTx/>
              <a:buChar char="-"/>
            </a:pPr>
            <a:r>
              <a:rPr lang="en-US" sz="3200" dirty="0"/>
              <a:t>Strong for writing specialized controllers from scratch</a:t>
            </a:r>
          </a:p>
          <a:p>
            <a:pPr marL="495300" lvl="0" indent="-457200">
              <a:lnSpc>
                <a:spcPct val="150000"/>
              </a:lnSpc>
              <a:buClr>
                <a:schemeClr val="dk1"/>
              </a:buClr>
              <a:buSzPts val="3000"/>
              <a:buFontTx/>
              <a:buChar char="-"/>
            </a:pPr>
            <a:r>
              <a:rPr lang="en-US" sz="3200" dirty="0"/>
              <a:t>Logic in Go</a:t>
            </a:r>
          </a:p>
          <a:p>
            <a:pPr marL="495300" lvl="0" indent="-457200">
              <a:lnSpc>
                <a:spcPct val="150000"/>
              </a:lnSpc>
              <a:buClr>
                <a:schemeClr val="dk1"/>
              </a:buClr>
              <a:buSzPts val="3000"/>
              <a:buFontTx/>
              <a:buChar char="-"/>
            </a:pPr>
            <a:r>
              <a:rPr lang="en-US" sz="3200" dirty="0"/>
              <a:t>Strength: maximum flexibility</a:t>
            </a:r>
          </a:p>
          <a:p>
            <a:pPr marL="495300" lvl="0" indent="-457200">
              <a:lnSpc>
                <a:spcPct val="150000"/>
              </a:lnSpc>
              <a:buClr>
                <a:schemeClr val="dk1"/>
              </a:buClr>
              <a:buSzPts val="3000"/>
              <a:buFontTx/>
              <a:buChar char="-"/>
            </a:pPr>
            <a:r>
              <a:rPr lang="en-US" sz="3200" dirty="0"/>
              <a:t>Limitation: higher coding and maintenance effort</a:t>
            </a:r>
            <a:endParaRPr lang="en-US" sz="3200" dirty="0">
              <a:solidFill>
                <a:schemeClr val="dk1"/>
              </a:solidFill>
            </a:endParaRPr>
          </a:p>
        </p:txBody>
      </p:sp>
      <p:sp>
        <p:nvSpPr>
          <p:cNvPr id="2" name="Slide Number Placeholder 1">
            <a:extLst>
              <a:ext uri="{FF2B5EF4-FFF2-40B4-BE49-F238E27FC236}">
                <a16:creationId xmlns:a16="http://schemas.microsoft.com/office/drawing/2014/main" id="{CC7D586E-CB8F-15DD-51AA-AF437F9BDEF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5</a:t>
            </a:fld>
            <a:endParaRPr lang="en-US" dirty="0"/>
          </a:p>
        </p:txBody>
      </p:sp>
      <p:pic>
        <p:nvPicPr>
          <p:cNvPr id="4" name="Picture 3">
            <a:extLst>
              <a:ext uri="{FF2B5EF4-FFF2-40B4-BE49-F238E27FC236}">
                <a16:creationId xmlns:a16="http://schemas.microsoft.com/office/drawing/2014/main" id="{7FC7F9B1-F813-5CA2-74D8-AB50394FCF82}"/>
              </a:ext>
            </a:extLst>
          </p:cNvPr>
          <p:cNvPicPr>
            <a:picLocks noChangeAspect="1"/>
          </p:cNvPicPr>
          <p:nvPr/>
        </p:nvPicPr>
        <p:blipFill>
          <a:blip r:embed="rId4"/>
          <a:srcRect r="83032"/>
          <a:stretch>
            <a:fillRect/>
          </a:stretch>
        </p:blipFill>
        <p:spPr>
          <a:xfrm>
            <a:off x="10443872" y="160671"/>
            <a:ext cx="1491718" cy="2639093"/>
          </a:xfrm>
          <a:prstGeom prst="rect">
            <a:avLst/>
          </a:prstGeom>
        </p:spPr>
      </p:pic>
    </p:spTree>
    <p:extLst>
      <p:ext uri="{BB962C8B-B14F-4D97-AF65-F5344CB8AC3E}">
        <p14:creationId xmlns:p14="http://schemas.microsoft.com/office/powerpoint/2010/main" val="481062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77EAE4B2-D08D-222A-02A3-9A869D7CCD98}"/>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18EF64D6-70E7-2F81-1DE9-006A33341341}"/>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r>
              <a:rPr lang="en-US" sz="4500" b="1" dirty="0"/>
              <a:t>Architecture</a:t>
            </a:r>
          </a:p>
        </p:txBody>
      </p:sp>
      <p:sp>
        <p:nvSpPr>
          <p:cNvPr id="2" name="Slide Number Placeholder 1">
            <a:extLst>
              <a:ext uri="{FF2B5EF4-FFF2-40B4-BE49-F238E27FC236}">
                <a16:creationId xmlns:a16="http://schemas.microsoft.com/office/drawing/2014/main" id="{D1A45E10-EA24-46E1-6C1D-8FE2D39DA5AB}"/>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6</a:t>
            </a:fld>
            <a:endParaRPr lang="en-US" dirty="0"/>
          </a:p>
        </p:txBody>
      </p:sp>
      <p:sp>
        <p:nvSpPr>
          <p:cNvPr id="8" name="TextBox 7">
            <a:extLst>
              <a:ext uri="{FF2B5EF4-FFF2-40B4-BE49-F238E27FC236}">
                <a16:creationId xmlns:a16="http://schemas.microsoft.com/office/drawing/2014/main" id="{7193ED8E-255C-1433-43B0-F49F205A196F}"/>
              </a:ext>
            </a:extLst>
          </p:cNvPr>
          <p:cNvSpPr txBox="1"/>
          <p:nvPr/>
        </p:nvSpPr>
        <p:spPr>
          <a:xfrm>
            <a:off x="360249" y="967924"/>
            <a:ext cx="5770898" cy="584775"/>
          </a:xfrm>
          <a:prstGeom prst="rect">
            <a:avLst/>
          </a:prstGeom>
          <a:noFill/>
        </p:spPr>
        <p:txBody>
          <a:bodyPr wrap="square">
            <a:spAutoFit/>
          </a:bodyPr>
          <a:lstStyle/>
          <a:p>
            <a:pPr lvl="0" algn="ctr"/>
            <a:r>
              <a:rPr lang="en-US" sz="3200" b="1" dirty="0">
                <a:solidFill>
                  <a:schemeClr val="dk1"/>
                </a:solidFill>
              </a:rPr>
              <a:t>Crossplane</a:t>
            </a:r>
          </a:p>
        </p:txBody>
      </p:sp>
      <p:sp>
        <p:nvSpPr>
          <p:cNvPr id="14" name="TextBox 13">
            <a:extLst>
              <a:ext uri="{FF2B5EF4-FFF2-40B4-BE49-F238E27FC236}">
                <a16:creationId xmlns:a16="http://schemas.microsoft.com/office/drawing/2014/main" id="{D2DA20A7-5E2E-B473-0452-79ED6446414F}"/>
              </a:ext>
            </a:extLst>
          </p:cNvPr>
          <p:cNvSpPr txBox="1"/>
          <p:nvPr/>
        </p:nvSpPr>
        <p:spPr>
          <a:xfrm>
            <a:off x="715708" y="2471086"/>
            <a:ext cx="4925813" cy="646331"/>
          </a:xfrm>
          <a:prstGeom prst="rect">
            <a:avLst/>
          </a:prstGeom>
          <a:noFill/>
        </p:spPr>
        <p:txBody>
          <a:bodyPr wrap="square" rtlCol="0">
            <a:spAutoFit/>
          </a:bodyPr>
          <a:lstStyle/>
          <a:p>
            <a:pPr algn="ctr"/>
            <a:r>
              <a:rPr lang="en-US" sz="1800" dirty="0"/>
              <a:t>Crossplane composition controller observes the resource</a:t>
            </a:r>
            <a:endParaRPr lang="en-US" sz="1800" b="1" dirty="0"/>
          </a:p>
        </p:txBody>
      </p:sp>
      <p:sp>
        <p:nvSpPr>
          <p:cNvPr id="26" name="TextBox 25">
            <a:extLst>
              <a:ext uri="{FF2B5EF4-FFF2-40B4-BE49-F238E27FC236}">
                <a16:creationId xmlns:a16="http://schemas.microsoft.com/office/drawing/2014/main" id="{88FEC89E-1AAC-0CFF-AFB8-DE3234481424}"/>
              </a:ext>
            </a:extLst>
          </p:cNvPr>
          <p:cNvSpPr txBox="1"/>
          <p:nvPr/>
        </p:nvSpPr>
        <p:spPr>
          <a:xfrm>
            <a:off x="849258" y="1521481"/>
            <a:ext cx="4925813" cy="646331"/>
          </a:xfrm>
          <a:prstGeom prst="rect">
            <a:avLst/>
          </a:prstGeom>
          <a:noFill/>
        </p:spPr>
        <p:txBody>
          <a:bodyPr wrap="square" rtlCol="0">
            <a:spAutoFit/>
          </a:bodyPr>
          <a:lstStyle/>
          <a:p>
            <a:pPr algn="ctr"/>
            <a:r>
              <a:rPr lang="en-US" sz="1800" dirty="0"/>
              <a:t>User applies a </a:t>
            </a:r>
            <a:r>
              <a:rPr lang="en-US" sz="1800" b="1" dirty="0"/>
              <a:t>Claim</a:t>
            </a:r>
            <a:r>
              <a:rPr lang="en-US" sz="1800" dirty="0"/>
              <a:t> or </a:t>
            </a:r>
            <a:r>
              <a:rPr lang="en-US" sz="1800" b="1" dirty="0"/>
              <a:t>Composite Resource</a:t>
            </a:r>
          </a:p>
        </p:txBody>
      </p:sp>
      <p:pic>
        <p:nvPicPr>
          <p:cNvPr id="33" name="Google Shape;92;p14" title="06_LOGO-Alma-Mater-Studiorum-Universita-di-Bologna.png">
            <a:extLst>
              <a:ext uri="{FF2B5EF4-FFF2-40B4-BE49-F238E27FC236}">
                <a16:creationId xmlns:a16="http://schemas.microsoft.com/office/drawing/2014/main" id="{EAC2283E-87FB-2486-6F81-65EBF2232820}"/>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12" name="TextBox 11">
            <a:extLst>
              <a:ext uri="{FF2B5EF4-FFF2-40B4-BE49-F238E27FC236}">
                <a16:creationId xmlns:a16="http://schemas.microsoft.com/office/drawing/2014/main" id="{F25279E6-0A11-D243-6275-961285439814}"/>
              </a:ext>
            </a:extLst>
          </p:cNvPr>
          <p:cNvSpPr txBox="1"/>
          <p:nvPr/>
        </p:nvSpPr>
        <p:spPr>
          <a:xfrm>
            <a:off x="781490" y="3436189"/>
            <a:ext cx="4925813" cy="646331"/>
          </a:xfrm>
          <a:prstGeom prst="rect">
            <a:avLst/>
          </a:prstGeom>
          <a:noFill/>
        </p:spPr>
        <p:txBody>
          <a:bodyPr wrap="square" rtlCol="0">
            <a:spAutoFit/>
          </a:bodyPr>
          <a:lstStyle/>
          <a:p>
            <a:pPr algn="ctr"/>
            <a:r>
              <a:rPr lang="en-US" sz="1800" dirty="0"/>
              <a:t>Composition is rendered into composed </a:t>
            </a:r>
            <a:r>
              <a:rPr lang="en-US" sz="1800" b="1" dirty="0"/>
              <a:t>Managed Resources</a:t>
            </a:r>
          </a:p>
        </p:txBody>
      </p:sp>
      <p:sp>
        <p:nvSpPr>
          <p:cNvPr id="17" name="TextBox 16">
            <a:extLst>
              <a:ext uri="{FF2B5EF4-FFF2-40B4-BE49-F238E27FC236}">
                <a16:creationId xmlns:a16="http://schemas.microsoft.com/office/drawing/2014/main" id="{2E68322B-277E-AC15-1A82-8F3858B9D2B1}"/>
              </a:ext>
            </a:extLst>
          </p:cNvPr>
          <p:cNvSpPr txBox="1"/>
          <p:nvPr/>
        </p:nvSpPr>
        <p:spPr>
          <a:xfrm>
            <a:off x="781491" y="5612520"/>
            <a:ext cx="4925813" cy="646331"/>
          </a:xfrm>
          <a:prstGeom prst="rect">
            <a:avLst/>
          </a:prstGeom>
          <a:noFill/>
        </p:spPr>
        <p:txBody>
          <a:bodyPr wrap="square" rtlCol="0">
            <a:spAutoFit/>
          </a:bodyPr>
          <a:lstStyle/>
          <a:p>
            <a:pPr algn="ctr"/>
            <a:r>
              <a:rPr lang="en-US" sz="1800" b="1" dirty="0"/>
              <a:t>Status aggregated bottom-up</a:t>
            </a:r>
            <a:r>
              <a:rPr lang="en-US" sz="1800" dirty="0"/>
              <a:t>: </a:t>
            </a:r>
          </a:p>
          <a:p>
            <a:pPr algn="ctr"/>
            <a:r>
              <a:rPr lang="en-US" sz="1800" dirty="0"/>
              <a:t>Provider -&gt; MR -&gt; XR → Claim</a:t>
            </a:r>
          </a:p>
        </p:txBody>
      </p:sp>
      <p:cxnSp>
        <p:nvCxnSpPr>
          <p:cNvPr id="19" name="Straight Arrow Connector 18">
            <a:extLst>
              <a:ext uri="{FF2B5EF4-FFF2-40B4-BE49-F238E27FC236}">
                <a16:creationId xmlns:a16="http://schemas.microsoft.com/office/drawing/2014/main" id="{65F5E35A-BD07-FA1E-350D-930BD75BC01C}"/>
              </a:ext>
            </a:extLst>
          </p:cNvPr>
          <p:cNvCxnSpPr>
            <a:cxnSpLocks/>
          </p:cNvCxnSpPr>
          <p:nvPr/>
        </p:nvCxnSpPr>
        <p:spPr>
          <a:xfrm>
            <a:off x="5785946" y="1519757"/>
            <a:ext cx="0" cy="4518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Arrow: Down 38">
            <a:extLst>
              <a:ext uri="{FF2B5EF4-FFF2-40B4-BE49-F238E27FC236}">
                <a16:creationId xmlns:a16="http://schemas.microsoft.com/office/drawing/2014/main" id="{1B1237EF-FB77-B214-692F-0947AF6B67D6}"/>
              </a:ext>
            </a:extLst>
          </p:cNvPr>
          <p:cNvSpPr/>
          <p:nvPr/>
        </p:nvSpPr>
        <p:spPr>
          <a:xfrm>
            <a:off x="3152713" y="2130880"/>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CF545699-ADF3-4151-A86A-2ADE6590A689}"/>
              </a:ext>
            </a:extLst>
          </p:cNvPr>
          <p:cNvPicPr>
            <a:picLocks noChangeAspect="1"/>
          </p:cNvPicPr>
          <p:nvPr/>
        </p:nvPicPr>
        <p:blipFill>
          <a:blip r:embed="rId4">
            <a:alphaModFix amt="18000"/>
          </a:blip>
          <a:srcRect r="83032"/>
          <a:stretch>
            <a:fillRect/>
          </a:stretch>
        </p:blipFill>
        <p:spPr>
          <a:xfrm>
            <a:off x="10406560" y="724419"/>
            <a:ext cx="1349519" cy="2387520"/>
          </a:xfrm>
          <a:prstGeom prst="rect">
            <a:avLst/>
          </a:prstGeom>
        </p:spPr>
      </p:pic>
      <p:pic>
        <p:nvPicPr>
          <p:cNvPr id="7" name="Graphic 6">
            <a:extLst>
              <a:ext uri="{FF2B5EF4-FFF2-40B4-BE49-F238E27FC236}">
                <a16:creationId xmlns:a16="http://schemas.microsoft.com/office/drawing/2014/main" id="{D0DA9FDD-8BBF-5D7B-5865-5E25E8DCD291}"/>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654508" y="4731286"/>
            <a:ext cx="966538" cy="1491260"/>
          </a:xfrm>
          <a:prstGeom prst="rect">
            <a:avLst/>
          </a:prstGeom>
        </p:spPr>
      </p:pic>
      <p:sp>
        <p:nvSpPr>
          <p:cNvPr id="11" name="TextBox 10">
            <a:extLst>
              <a:ext uri="{FF2B5EF4-FFF2-40B4-BE49-F238E27FC236}">
                <a16:creationId xmlns:a16="http://schemas.microsoft.com/office/drawing/2014/main" id="{B4B52898-A4AA-F808-9C3B-C959BDE9A2CE}"/>
              </a:ext>
            </a:extLst>
          </p:cNvPr>
          <p:cNvSpPr txBox="1"/>
          <p:nvPr/>
        </p:nvSpPr>
        <p:spPr>
          <a:xfrm>
            <a:off x="5656598" y="967923"/>
            <a:ext cx="5770898" cy="584775"/>
          </a:xfrm>
          <a:prstGeom prst="rect">
            <a:avLst/>
          </a:prstGeom>
          <a:noFill/>
        </p:spPr>
        <p:txBody>
          <a:bodyPr wrap="square">
            <a:spAutoFit/>
          </a:bodyPr>
          <a:lstStyle/>
          <a:p>
            <a:pPr lvl="0" algn="ctr"/>
            <a:r>
              <a:rPr lang="en-US" sz="3200" b="1" dirty="0">
                <a:solidFill>
                  <a:schemeClr val="dk1"/>
                </a:solidFill>
              </a:rPr>
              <a:t>Kubebuilder</a:t>
            </a:r>
          </a:p>
        </p:txBody>
      </p:sp>
      <p:sp>
        <p:nvSpPr>
          <p:cNvPr id="20" name="Arrow: Down 19">
            <a:extLst>
              <a:ext uri="{FF2B5EF4-FFF2-40B4-BE49-F238E27FC236}">
                <a16:creationId xmlns:a16="http://schemas.microsoft.com/office/drawing/2014/main" id="{D6D2AB47-1687-3E63-444B-BB8F5E7B237B}"/>
              </a:ext>
            </a:extLst>
          </p:cNvPr>
          <p:cNvSpPr/>
          <p:nvPr/>
        </p:nvSpPr>
        <p:spPr>
          <a:xfrm>
            <a:off x="3152711" y="3120148"/>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23" name="Arrow: Down 22">
            <a:extLst>
              <a:ext uri="{FF2B5EF4-FFF2-40B4-BE49-F238E27FC236}">
                <a16:creationId xmlns:a16="http://schemas.microsoft.com/office/drawing/2014/main" id="{3BDAF287-26E3-C342-93B2-E522A28CCAC9}"/>
              </a:ext>
            </a:extLst>
          </p:cNvPr>
          <p:cNvSpPr/>
          <p:nvPr/>
        </p:nvSpPr>
        <p:spPr>
          <a:xfrm>
            <a:off x="3152710" y="4082035"/>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25" name="TextBox 24">
            <a:extLst>
              <a:ext uri="{FF2B5EF4-FFF2-40B4-BE49-F238E27FC236}">
                <a16:creationId xmlns:a16="http://schemas.microsoft.com/office/drawing/2014/main" id="{C3F0978B-405D-3022-A9AB-685B13CBCB50}"/>
              </a:ext>
            </a:extLst>
          </p:cNvPr>
          <p:cNvSpPr txBox="1"/>
          <p:nvPr/>
        </p:nvSpPr>
        <p:spPr>
          <a:xfrm>
            <a:off x="781490" y="4516601"/>
            <a:ext cx="4925813" cy="646331"/>
          </a:xfrm>
          <a:prstGeom prst="rect">
            <a:avLst/>
          </a:prstGeom>
          <a:noFill/>
        </p:spPr>
        <p:txBody>
          <a:bodyPr wrap="square" rtlCol="0">
            <a:spAutoFit/>
          </a:bodyPr>
          <a:lstStyle/>
          <a:p>
            <a:pPr algn="ctr"/>
            <a:r>
              <a:rPr lang="en-US" sz="1800" b="1" dirty="0"/>
              <a:t>Providers</a:t>
            </a:r>
            <a:r>
              <a:rPr lang="en-US" sz="1800" dirty="0"/>
              <a:t> </a:t>
            </a:r>
            <a:r>
              <a:rPr lang="en-US" sz="1800" b="1" dirty="0"/>
              <a:t>reconcile</a:t>
            </a:r>
            <a:r>
              <a:rPr lang="en-US" sz="1800" dirty="0"/>
              <a:t> each Managed Resource against Kubernetes or external systems</a:t>
            </a:r>
            <a:endParaRPr lang="en-US" sz="1800" b="1" dirty="0"/>
          </a:p>
        </p:txBody>
      </p:sp>
      <p:sp>
        <p:nvSpPr>
          <p:cNvPr id="30" name="Arrow: Down 29">
            <a:extLst>
              <a:ext uri="{FF2B5EF4-FFF2-40B4-BE49-F238E27FC236}">
                <a16:creationId xmlns:a16="http://schemas.microsoft.com/office/drawing/2014/main" id="{E72BFE57-BABD-88BE-4A61-89377D153493}"/>
              </a:ext>
            </a:extLst>
          </p:cNvPr>
          <p:cNvSpPr/>
          <p:nvPr/>
        </p:nvSpPr>
        <p:spPr>
          <a:xfrm>
            <a:off x="3152710" y="5258362"/>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6" name="TextBox 35">
            <a:extLst>
              <a:ext uri="{FF2B5EF4-FFF2-40B4-BE49-F238E27FC236}">
                <a16:creationId xmlns:a16="http://schemas.microsoft.com/office/drawing/2014/main" id="{10557852-70DA-20FB-ADCC-2A15577E1FA8}"/>
              </a:ext>
            </a:extLst>
          </p:cNvPr>
          <p:cNvSpPr txBox="1"/>
          <p:nvPr/>
        </p:nvSpPr>
        <p:spPr>
          <a:xfrm>
            <a:off x="6086343" y="2471086"/>
            <a:ext cx="4925813" cy="646331"/>
          </a:xfrm>
          <a:prstGeom prst="rect">
            <a:avLst/>
          </a:prstGeom>
          <a:noFill/>
        </p:spPr>
        <p:txBody>
          <a:bodyPr wrap="square" rtlCol="0">
            <a:spAutoFit/>
          </a:bodyPr>
          <a:lstStyle/>
          <a:p>
            <a:pPr algn="ctr"/>
            <a:r>
              <a:rPr lang="en-US" sz="1800" dirty="0"/>
              <a:t>Controller-runtime informer watches the API server</a:t>
            </a:r>
            <a:endParaRPr lang="en-US" sz="1800" b="1" dirty="0"/>
          </a:p>
        </p:txBody>
      </p:sp>
      <p:sp>
        <p:nvSpPr>
          <p:cNvPr id="40" name="TextBox 39">
            <a:extLst>
              <a:ext uri="{FF2B5EF4-FFF2-40B4-BE49-F238E27FC236}">
                <a16:creationId xmlns:a16="http://schemas.microsoft.com/office/drawing/2014/main" id="{4E0375D3-9265-9079-0B3F-DF8CEA79D158}"/>
              </a:ext>
            </a:extLst>
          </p:cNvPr>
          <p:cNvSpPr txBox="1"/>
          <p:nvPr/>
        </p:nvSpPr>
        <p:spPr>
          <a:xfrm>
            <a:off x="6126727" y="1661523"/>
            <a:ext cx="4925813" cy="369332"/>
          </a:xfrm>
          <a:prstGeom prst="rect">
            <a:avLst/>
          </a:prstGeom>
          <a:noFill/>
        </p:spPr>
        <p:txBody>
          <a:bodyPr wrap="square" rtlCol="0">
            <a:spAutoFit/>
          </a:bodyPr>
          <a:lstStyle/>
          <a:p>
            <a:pPr algn="ctr"/>
            <a:r>
              <a:rPr lang="en-US" sz="1800" dirty="0"/>
              <a:t>User applies a </a:t>
            </a:r>
            <a:r>
              <a:rPr lang="en-US" sz="1800" b="1" dirty="0"/>
              <a:t>Custom Resource</a:t>
            </a:r>
          </a:p>
        </p:txBody>
      </p:sp>
      <p:sp>
        <p:nvSpPr>
          <p:cNvPr id="44" name="TextBox 43">
            <a:extLst>
              <a:ext uri="{FF2B5EF4-FFF2-40B4-BE49-F238E27FC236}">
                <a16:creationId xmlns:a16="http://schemas.microsoft.com/office/drawing/2014/main" id="{C93A7299-7A6D-2413-B238-148789823F9E}"/>
              </a:ext>
            </a:extLst>
          </p:cNvPr>
          <p:cNvSpPr txBox="1"/>
          <p:nvPr/>
        </p:nvSpPr>
        <p:spPr>
          <a:xfrm>
            <a:off x="6079141" y="3547632"/>
            <a:ext cx="4925813" cy="369332"/>
          </a:xfrm>
          <a:prstGeom prst="rect">
            <a:avLst/>
          </a:prstGeom>
          <a:noFill/>
        </p:spPr>
        <p:txBody>
          <a:bodyPr wrap="square" rtlCol="0">
            <a:spAutoFit/>
          </a:bodyPr>
          <a:lstStyle/>
          <a:p>
            <a:pPr algn="ctr"/>
            <a:r>
              <a:rPr lang="en-US" sz="1800" dirty="0"/>
              <a:t>Events are added to a work queue</a:t>
            </a:r>
            <a:endParaRPr lang="en-US" sz="1800" b="1" dirty="0"/>
          </a:p>
        </p:txBody>
      </p:sp>
      <p:sp>
        <p:nvSpPr>
          <p:cNvPr id="46" name="TextBox 45">
            <a:extLst>
              <a:ext uri="{FF2B5EF4-FFF2-40B4-BE49-F238E27FC236}">
                <a16:creationId xmlns:a16="http://schemas.microsoft.com/office/drawing/2014/main" id="{88D47893-B781-A9C8-1D5C-D0AF029985F9}"/>
              </a:ext>
            </a:extLst>
          </p:cNvPr>
          <p:cNvSpPr txBox="1"/>
          <p:nvPr/>
        </p:nvSpPr>
        <p:spPr>
          <a:xfrm>
            <a:off x="6138000" y="5671979"/>
            <a:ext cx="4925813" cy="646331"/>
          </a:xfrm>
          <a:prstGeom prst="rect">
            <a:avLst/>
          </a:prstGeom>
          <a:noFill/>
        </p:spPr>
        <p:txBody>
          <a:bodyPr wrap="square" rtlCol="0">
            <a:spAutoFit/>
          </a:bodyPr>
          <a:lstStyle/>
          <a:p>
            <a:pPr algn="ctr"/>
            <a:r>
              <a:rPr lang="en-US" sz="1800" dirty="0"/>
              <a:t>Status written directly by Reconcile() to the Custom Resource status</a:t>
            </a:r>
          </a:p>
        </p:txBody>
      </p:sp>
      <p:sp>
        <p:nvSpPr>
          <p:cNvPr id="48" name="Arrow: Down 47">
            <a:extLst>
              <a:ext uri="{FF2B5EF4-FFF2-40B4-BE49-F238E27FC236}">
                <a16:creationId xmlns:a16="http://schemas.microsoft.com/office/drawing/2014/main" id="{D5F4F229-73CF-DFFC-CD6C-40D72C19E4E6}"/>
              </a:ext>
            </a:extLst>
          </p:cNvPr>
          <p:cNvSpPr/>
          <p:nvPr/>
        </p:nvSpPr>
        <p:spPr>
          <a:xfrm>
            <a:off x="8450364" y="2118567"/>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50" name="Arrow: Down 49">
            <a:extLst>
              <a:ext uri="{FF2B5EF4-FFF2-40B4-BE49-F238E27FC236}">
                <a16:creationId xmlns:a16="http://schemas.microsoft.com/office/drawing/2014/main" id="{E7B2E0C5-AA3B-707B-2643-A7CB8A3B2526}"/>
              </a:ext>
            </a:extLst>
          </p:cNvPr>
          <p:cNvSpPr/>
          <p:nvPr/>
        </p:nvSpPr>
        <p:spPr>
          <a:xfrm>
            <a:off x="8450362" y="3107835"/>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52" name="TextBox 51">
            <a:extLst>
              <a:ext uri="{FF2B5EF4-FFF2-40B4-BE49-F238E27FC236}">
                <a16:creationId xmlns:a16="http://schemas.microsoft.com/office/drawing/2014/main" id="{03584C5D-608E-BA8C-6661-FE385394C0AE}"/>
              </a:ext>
            </a:extLst>
          </p:cNvPr>
          <p:cNvSpPr txBox="1"/>
          <p:nvPr/>
        </p:nvSpPr>
        <p:spPr>
          <a:xfrm>
            <a:off x="6096000" y="4289960"/>
            <a:ext cx="4925813" cy="923330"/>
          </a:xfrm>
          <a:prstGeom prst="rect">
            <a:avLst/>
          </a:prstGeom>
          <a:noFill/>
        </p:spPr>
        <p:txBody>
          <a:bodyPr wrap="square" rtlCol="0">
            <a:spAutoFit/>
          </a:bodyPr>
          <a:lstStyle/>
          <a:p>
            <a:pPr algn="ctr"/>
            <a:r>
              <a:rPr lang="en-US" sz="1800" b="1" dirty="0"/>
              <a:t>Reconcile()</a:t>
            </a:r>
            <a:r>
              <a:rPr lang="en-US" sz="1800" dirty="0"/>
              <a:t> executes custom Go logic and </a:t>
            </a:r>
            <a:r>
              <a:rPr lang="en-US" sz="1800" b="1" dirty="0"/>
              <a:t>directly</a:t>
            </a:r>
            <a:r>
              <a:rPr lang="en-US" sz="1800" dirty="0"/>
              <a:t> creates/updates Kubernetes or external resources</a:t>
            </a:r>
          </a:p>
        </p:txBody>
      </p:sp>
      <p:sp>
        <p:nvSpPr>
          <p:cNvPr id="54" name="Arrow: Down 53">
            <a:extLst>
              <a:ext uri="{FF2B5EF4-FFF2-40B4-BE49-F238E27FC236}">
                <a16:creationId xmlns:a16="http://schemas.microsoft.com/office/drawing/2014/main" id="{A72CA7C3-4610-3CD9-CC82-A2977621FA31}"/>
              </a:ext>
            </a:extLst>
          </p:cNvPr>
          <p:cNvSpPr/>
          <p:nvPr/>
        </p:nvSpPr>
        <p:spPr>
          <a:xfrm>
            <a:off x="8450361" y="5215052"/>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56" name="Arrow: Down 55">
            <a:extLst>
              <a:ext uri="{FF2B5EF4-FFF2-40B4-BE49-F238E27FC236}">
                <a16:creationId xmlns:a16="http://schemas.microsoft.com/office/drawing/2014/main" id="{8588A486-168B-0DF2-D912-EA921E5AD97A}"/>
              </a:ext>
            </a:extLst>
          </p:cNvPr>
          <p:cNvSpPr/>
          <p:nvPr/>
        </p:nvSpPr>
        <p:spPr>
          <a:xfrm>
            <a:off x="8450361" y="3956181"/>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730687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F8B248E-0B69-951E-94DC-C61D8676BE99}"/>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8B4A617C-44B6-D31E-7390-FDE437856CFD}"/>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Features comparison</a:t>
            </a:r>
          </a:p>
        </p:txBody>
      </p:sp>
      <p:sp>
        <p:nvSpPr>
          <p:cNvPr id="2" name="Slide Number Placeholder 1">
            <a:extLst>
              <a:ext uri="{FF2B5EF4-FFF2-40B4-BE49-F238E27FC236}">
                <a16:creationId xmlns:a16="http://schemas.microsoft.com/office/drawing/2014/main" id="{61BF7A95-2AC8-7889-0EDA-9CAE98368AD9}"/>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7</a:t>
            </a:fld>
            <a:endParaRPr lang="en-US" dirty="0"/>
          </a:p>
        </p:txBody>
      </p:sp>
      <p:graphicFrame>
        <p:nvGraphicFramePr>
          <p:cNvPr id="9" name="Table 8">
            <a:extLst>
              <a:ext uri="{FF2B5EF4-FFF2-40B4-BE49-F238E27FC236}">
                <a16:creationId xmlns:a16="http://schemas.microsoft.com/office/drawing/2014/main" id="{AC01032E-7E18-77AC-0225-024521D17BCD}"/>
              </a:ext>
            </a:extLst>
          </p:cNvPr>
          <p:cNvGraphicFramePr>
            <a:graphicFrameLocks noGrp="1"/>
          </p:cNvGraphicFramePr>
          <p:nvPr>
            <p:extLst>
              <p:ext uri="{D42A27DB-BD31-4B8C-83A1-F6EECF244321}">
                <p14:modId xmlns:p14="http://schemas.microsoft.com/office/powerpoint/2010/main" val="818625842"/>
              </p:ext>
            </p:extLst>
          </p:nvPr>
        </p:nvGraphicFramePr>
        <p:xfrm>
          <a:off x="787357" y="1110726"/>
          <a:ext cx="10617285" cy="4698000"/>
        </p:xfrm>
        <a:graphic>
          <a:graphicData uri="http://schemas.openxmlformats.org/drawingml/2006/table">
            <a:tbl>
              <a:tblPr firstRow="1" bandRow="1">
                <a:tableStyleId>{5C22544A-7EE6-4342-B048-85BDC9FD1C3A}</a:tableStyleId>
              </a:tblPr>
              <a:tblGrid>
                <a:gridCol w="3539095">
                  <a:extLst>
                    <a:ext uri="{9D8B030D-6E8A-4147-A177-3AD203B41FA5}">
                      <a16:colId xmlns:a16="http://schemas.microsoft.com/office/drawing/2014/main" val="550325215"/>
                    </a:ext>
                  </a:extLst>
                </a:gridCol>
                <a:gridCol w="4088762">
                  <a:extLst>
                    <a:ext uri="{9D8B030D-6E8A-4147-A177-3AD203B41FA5}">
                      <a16:colId xmlns:a16="http://schemas.microsoft.com/office/drawing/2014/main" val="2557590795"/>
                    </a:ext>
                  </a:extLst>
                </a:gridCol>
                <a:gridCol w="2989428">
                  <a:extLst>
                    <a:ext uri="{9D8B030D-6E8A-4147-A177-3AD203B41FA5}">
                      <a16:colId xmlns:a16="http://schemas.microsoft.com/office/drawing/2014/main" val="3608665150"/>
                    </a:ext>
                  </a:extLst>
                </a:gridCol>
              </a:tblGrid>
              <a:tr h="522000">
                <a:tc>
                  <a:txBody>
                    <a:bodyPr/>
                    <a:lstStyle/>
                    <a:p>
                      <a:pPr algn="ctr"/>
                      <a:r>
                        <a:rPr lang="en-US" dirty="0">
                          <a:solidFill>
                            <a:schemeClr val="tx1"/>
                          </a:solidFill>
                        </a:rPr>
                        <a:t>Aspect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Crossplane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33101"/>
                  </a:ext>
                </a:extLst>
              </a:tr>
              <a:tr h="522000">
                <a:tc>
                  <a:txBody>
                    <a:bodyPr/>
                    <a:lstStyle/>
                    <a:p>
                      <a:pPr algn="ctr"/>
                      <a:r>
                        <a:rPr lang="it-IT" dirty="0">
                          <a:solidFill>
                            <a:schemeClr val="tx1"/>
                          </a:solidFill>
                        </a:rPr>
                        <a:t>A</a:t>
                      </a:r>
                      <a:r>
                        <a:rPr lang="en-US" dirty="0" err="1">
                          <a:solidFill>
                            <a:schemeClr val="tx1"/>
                          </a:solidFill>
                        </a:rPr>
                        <a:t>bstraction</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High (declarative)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Low (imperative)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943250"/>
                  </a:ext>
                </a:extLst>
              </a:tr>
              <a:tr h="522000">
                <a:tc>
                  <a:txBody>
                    <a:bodyPr/>
                    <a:lstStyle/>
                    <a:p>
                      <a:pPr algn="ctr"/>
                      <a:r>
                        <a:rPr lang="en-US" dirty="0"/>
                        <a:t>Architecture</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Multi-layer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Single controller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879072"/>
                  </a:ext>
                </a:extLst>
              </a:tr>
              <a:tr h="522000">
                <a:tc>
                  <a:txBody>
                    <a:bodyPr/>
                    <a:lstStyle/>
                    <a:p>
                      <a:pPr algn="ctr"/>
                      <a:r>
                        <a:rPr lang="en-US" dirty="0"/>
                        <a:t>Development effort</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Lower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Higher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687874"/>
                  </a:ext>
                </a:extLst>
              </a:tr>
              <a:tr h="522000">
                <a:tc>
                  <a:txBody>
                    <a:bodyPr/>
                    <a:lstStyle/>
                    <a:p>
                      <a:pPr algn="ctr"/>
                      <a:r>
                        <a:rPr lang="it-IT" dirty="0" err="1">
                          <a:solidFill>
                            <a:schemeClr val="tx1"/>
                          </a:solidFill>
                        </a:rPr>
                        <a:t>Extensibility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Providers, </a:t>
                      </a:r>
                      <a:r>
                        <a:rPr lang="it-IT" dirty="0" err="1">
                          <a:solidFill>
                            <a:schemeClr val="tx1"/>
                          </a:solidFill>
                        </a:rPr>
                        <a:t>Functions</a:t>
                      </a:r>
                      <a:r>
                        <a:rPr lang="it-IT" dirty="0">
                          <a:solidFill>
                            <a:schemeClr val="tx1"/>
                          </a:solidFill>
                        </a:rPr>
                        <a:t>, </a:t>
                      </a:r>
                      <a:r>
                        <a:rPr lang="it-IT" dirty="0" err="1">
                          <a:solidFill>
                            <a:schemeClr val="tx1"/>
                          </a:solidFill>
                        </a:rPr>
                        <a:t>patching</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err="1"/>
                        <a:t>Arbitrary</a:t>
                      </a:r>
                      <a:r>
                        <a:rPr lang="it-IT" dirty="0"/>
                        <a:t> code, </a:t>
                      </a:r>
                      <a:r>
                        <a:rPr lang="it-IT" dirty="0" err="1"/>
                        <a:t>any</a:t>
                      </a:r>
                      <a:r>
                        <a:rPr lang="it-IT" dirty="0"/>
                        <a:t> library</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7500908"/>
                  </a:ext>
                </a:extLst>
              </a:tr>
              <a:tr h="522000">
                <a:tc>
                  <a:txBody>
                    <a:bodyPr/>
                    <a:lstStyle/>
                    <a:p>
                      <a:pPr algn="ctr"/>
                      <a:r>
                        <a:rPr lang="en-US" dirty="0"/>
                        <a:t>Flexibility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Medium</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Very high</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8509154"/>
                  </a:ext>
                </a:extLst>
              </a:tr>
              <a:tr h="522000">
                <a:tc>
                  <a:txBody>
                    <a:bodyPr/>
                    <a:lstStyle/>
                    <a:p>
                      <a:pPr algn="ctr"/>
                      <a:r>
                        <a:rPr lang="en-US" dirty="0"/>
                        <a:t>Reusability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High</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Low</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09361"/>
                  </a:ext>
                </a:extLst>
              </a:tr>
              <a:tr h="522000">
                <a:tc>
                  <a:txBody>
                    <a:bodyPr/>
                    <a:lstStyle/>
                    <a:p>
                      <a:pPr algn="ctr"/>
                      <a:r>
                        <a:rPr lang="en-US" dirty="0"/>
                        <a:t>Performance</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Higher overhead</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More efficient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581707"/>
                  </a:ext>
                </a:extLst>
              </a:tr>
              <a:tr h="522000">
                <a:tc>
                  <a:txBody>
                    <a:bodyPr/>
                    <a:lstStyle/>
                    <a:p>
                      <a:pPr algn="ctr"/>
                      <a:r>
                        <a:rPr lang="en-US" dirty="0"/>
                        <a:t>Debugging</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Harder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Easier (centralized)</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263260371"/>
                  </a:ext>
                </a:extLst>
              </a:tr>
            </a:tbl>
          </a:graphicData>
        </a:graphic>
      </p:graphicFrame>
      <p:pic>
        <p:nvPicPr>
          <p:cNvPr id="12" name="Google Shape;92;p14" title="06_LOGO-Alma-Mater-Studiorum-Universita-di-Bologna.png">
            <a:extLst>
              <a:ext uri="{FF2B5EF4-FFF2-40B4-BE49-F238E27FC236}">
                <a16:creationId xmlns:a16="http://schemas.microsoft.com/office/drawing/2014/main" id="{0F49D25C-66AD-6510-EFDD-96E9807ED620}"/>
              </a:ext>
            </a:extLst>
          </p:cNvPr>
          <p:cNvPicPr preferRelativeResize="0"/>
          <p:nvPr/>
        </p:nvPicPr>
        <p:blipFill>
          <a:blip r:embed="rId3">
            <a:alphaModFix amt="35000"/>
          </a:blip>
          <a:stretch>
            <a:fillRect/>
          </a:stretch>
        </p:blipFill>
        <p:spPr>
          <a:xfrm>
            <a:off x="9399175" y="4453350"/>
            <a:ext cx="1841376" cy="1841376"/>
          </a:xfrm>
          <a:prstGeom prst="rect">
            <a:avLst/>
          </a:prstGeom>
          <a:noFill/>
          <a:ln>
            <a:noFill/>
          </a:ln>
        </p:spPr>
      </p:pic>
      <p:pic>
        <p:nvPicPr>
          <p:cNvPr id="4" name="Picture 3">
            <a:extLst>
              <a:ext uri="{FF2B5EF4-FFF2-40B4-BE49-F238E27FC236}">
                <a16:creationId xmlns:a16="http://schemas.microsoft.com/office/drawing/2014/main" id="{041B40DD-179A-1A4C-F5F7-3F84483AA837}"/>
              </a:ext>
            </a:extLst>
          </p:cNvPr>
          <p:cNvPicPr>
            <a:picLocks noChangeAspect="1"/>
          </p:cNvPicPr>
          <p:nvPr/>
        </p:nvPicPr>
        <p:blipFill>
          <a:blip r:embed="rId4">
            <a:alphaModFix amt="18000"/>
          </a:blip>
          <a:srcRect r="83032"/>
          <a:stretch>
            <a:fillRect/>
          </a:stretch>
        </p:blipFill>
        <p:spPr>
          <a:xfrm>
            <a:off x="10319863" y="1588278"/>
            <a:ext cx="1349519" cy="2387520"/>
          </a:xfrm>
          <a:prstGeom prst="rect">
            <a:avLst/>
          </a:prstGeom>
        </p:spPr>
      </p:pic>
      <p:pic>
        <p:nvPicPr>
          <p:cNvPr id="6" name="Graphic 5">
            <a:extLst>
              <a:ext uri="{FF2B5EF4-FFF2-40B4-BE49-F238E27FC236}">
                <a16:creationId xmlns:a16="http://schemas.microsoft.com/office/drawing/2014/main" id="{45804B0E-5E07-6C06-9C36-EDF6504737DB}"/>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1048898" y="4628408"/>
            <a:ext cx="966538" cy="1491260"/>
          </a:xfrm>
          <a:prstGeom prst="rect">
            <a:avLst/>
          </a:prstGeom>
        </p:spPr>
      </p:pic>
    </p:spTree>
    <p:extLst>
      <p:ext uri="{BB962C8B-B14F-4D97-AF65-F5344CB8AC3E}">
        <p14:creationId xmlns:p14="http://schemas.microsoft.com/office/powerpoint/2010/main" val="2131187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45123F6-97EB-ED90-7F3F-E40B2473CC39}"/>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55BA8BAA-1141-8D3E-68A6-08131706E96F}"/>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05D936C9-6148-CB0D-0A4D-6E60D99BC322}"/>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it-IT" sz="4500" b="1" dirty="0">
                <a:solidFill>
                  <a:schemeClr val="dk1"/>
                </a:solidFill>
              </a:rPr>
              <a:t>O</a:t>
            </a:r>
            <a:r>
              <a:rPr lang="en-US" sz="4500" b="1" dirty="0" err="1">
                <a:solidFill>
                  <a:schemeClr val="dk1"/>
                </a:solidFill>
              </a:rPr>
              <a:t>ptimizations</a:t>
            </a:r>
            <a:endParaRPr sz="4500" b="1" dirty="0">
              <a:solidFill>
                <a:schemeClr val="dk1"/>
              </a:solidFill>
            </a:endParaRPr>
          </a:p>
        </p:txBody>
      </p:sp>
      <p:sp>
        <p:nvSpPr>
          <p:cNvPr id="2" name="Slide Number Placeholder 1">
            <a:extLst>
              <a:ext uri="{FF2B5EF4-FFF2-40B4-BE49-F238E27FC236}">
                <a16:creationId xmlns:a16="http://schemas.microsoft.com/office/drawing/2014/main" id="{CA671470-FDF5-88A6-1BA4-E84828444494}"/>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8</a:t>
            </a:fld>
            <a:endParaRPr lang="en-US" dirty="0"/>
          </a:p>
        </p:txBody>
      </p:sp>
      <p:sp>
        <p:nvSpPr>
          <p:cNvPr id="7" name="Google Shape;94;p14">
            <a:extLst>
              <a:ext uri="{FF2B5EF4-FFF2-40B4-BE49-F238E27FC236}">
                <a16:creationId xmlns:a16="http://schemas.microsoft.com/office/drawing/2014/main" id="{F630B606-7625-06E9-96AE-E836B54EC147}"/>
              </a:ext>
            </a:extLst>
          </p:cNvPr>
          <p:cNvSpPr txBox="1"/>
          <p:nvPr/>
        </p:nvSpPr>
        <p:spPr>
          <a:xfrm>
            <a:off x="883402" y="1547595"/>
            <a:ext cx="10697541" cy="2492960"/>
          </a:xfrm>
          <a:prstGeom prst="rect">
            <a:avLst/>
          </a:prstGeom>
          <a:noFill/>
          <a:ln>
            <a:noFill/>
          </a:ln>
        </p:spPr>
        <p:txBody>
          <a:bodyPr spcFirstLastPara="1" wrap="square" lIns="91425" tIns="91425" rIns="91425" bIns="91425" anchor="t" anchorCtr="0">
            <a:spAutoFit/>
          </a:bodyPr>
          <a:lstStyle/>
          <a:p>
            <a:pPr marL="381000" indent="-342900">
              <a:lnSpc>
                <a:spcPct val="150000"/>
              </a:lnSpc>
              <a:buClr>
                <a:schemeClr val="dk1"/>
              </a:buClr>
              <a:buSzPts val="3000"/>
              <a:buFontTx/>
              <a:buChar char="-"/>
            </a:pPr>
            <a:r>
              <a:rPr lang="en-US" sz="2000" dirty="0"/>
              <a:t>Uses Kubernetes controller patterns internally: informers, caches, work queues and rate limiting.</a:t>
            </a:r>
          </a:p>
          <a:p>
            <a:pPr marL="381000" indent="-342900">
              <a:lnSpc>
                <a:spcPct val="150000"/>
              </a:lnSpc>
              <a:buClr>
                <a:schemeClr val="dk1"/>
              </a:buClr>
              <a:buSzPts val="3000"/>
              <a:buFontTx/>
              <a:buChar char="-"/>
            </a:pPr>
            <a:r>
              <a:rPr lang="en-US" sz="2000" dirty="0"/>
              <a:t>Providers reconcile managed resources independently, enabling parallel and modular reconciliation.</a:t>
            </a:r>
          </a:p>
          <a:p>
            <a:pPr marL="381000" indent="-342900">
              <a:lnSpc>
                <a:spcPct val="150000"/>
              </a:lnSpc>
              <a:buClr>
                <a:schemeClr val="dk1"/>
              </a:buClr>
              <a:buSzPts val="3000"/>
              <a:buFontTx/>
              <a:buChar char="-"/>
            </a:pPr>
            <a:r>
              <a:rPr lang="en-US" sz="2000" dirty="0"/>
              <a:t>Leader election avoids duplicate reconciliation in replicated controller deployments.</a:t>
            </a:r>
            <a:endParaRPr lang="en-US" sz="2000" dirty="0">
              <a:solidFill>
                <a:schemeClr val="dk1"/>
              </a:solidFill>
            </a:endParaRPr>
          </a:p>
        </p:txBody>
      </p:sp>
      <p:sp>
        <p:nvSpPr>
          <p:cNvPr id="5" name="Google Shape;94;p14">
            <a:extLst>
              <a:ext uri="{FF2B5EF4-FFF2-40B4-BE49-F238E27FC236}">
                <a16:creationId xmlns:a16="http://schemas.microsoft.com/office/drawing/2014/main" id="{D552E4BA-A30C-8B1B-703D-C60C7EEB1CE8}"/>
              </a:ext>
            </a:extLst>
          </p:cNvPr>
          <p:cNvSpPr txBox="1"/>
          <p:nvPr/>
        </p:nvSpPr>
        <p:spPr>
          <a:xfrm>
            <a:off x="883402" y="4534581"/>
            <a:ext cx="11163080" cy="2031295"/>
          </a:xfrm>
          <a:prstGeom prst="rect">
            <a:avLst/>
          </a:prstGeom>
          <a:noFill/>
          <a:ln>
            <a:noFill/>
          </a:ln>
        </p:spPr>
        <p:txBody>
          <a:bodyPr spcFirstLastPara="1" wrap="square" lIns="91425" tIns="91425" rIns="91425" bIns="91425" anchor="t" anchorCtr="0">
            <a:spAutoFit/>
          </a:bodyPr>
          <a:lstStyle/>
          <a:p>
            <a:pPr marL="381000" indent="-342900">
              <a:lnSpc>
                <a:spcPct val="150000"/>
              </a:lnSpc>
              <a:buClr>
                <a:schemeClr val="dk1"/>
              </a:buClr>
              <a:buSzPts val="3000"/>
              <a:buFontTx/>
              <a:buChar char="-"/>
            </a:pPr>
            <a:r>
              <a:rPr lang="en-US" sz="2000" dirty="0"/>
              <a:t>Informer cache: most Kubernetes object reads are served from a local cache, reducing API-server load</a:t>
            </a:r>
          </a:p>
          <a:p>
            <a:pPr marL="381000" indent="-342900">
              <a:lnSpc>
                <a:spcPct val="150000"/>
              </a:lnSpc>
              <a:buClr>
                <a:schemeClr val="dk1"/>
              </a:buClr>
              <a:buSzPts val="3000"/>
              <a:buFontTx/>
              <a:buChar char="-"/>
            </a:pPr>
            <a:r>
              <a:rPr lang="en-US" sz="2000" dirty="0"/>
              <a:t>Uses a rate-limited work queue with backoff after repeated errors. </a:t>
            </a:r>
          </a:p>
          <a:p>
            <a:pPr marL="381000" indent="-342900">
              <a:lnSpc>
                <a:spcPct val="150000"/>
              </a:lnSpc>
              <a:buClr>
                <a:schemeClr val="dk1"/>
              </a:buClr>
              <a:buSzPts val="3000"/>
              <a:buFontTx/>
              <a:buChar char="-"/>
            </a:pPr>
            <a:r>
              <a:rPr lang="en-US" sz="2000" dirty="0"/>
              <a:t>Supports event predicates and </a:t>
            </a:r>
            <a:r>
              <a:rPr lang="en-US" sz="2000" i="1" dirty="0" err="1"/>
              <a:t>MaxConcurrentReconciles</a:t>
            </a:r>
            <a:r>
              <a:rPr lang="en-US" sz="2000" dirty="0"/>
              <a:t> for tuning reconciliation load.</a:t>
            </a:r>
          </a:p>
        </p:txBody>
      </p:sp>
      <p:pic>
        <p:nvPicPr>
          <p:cNvPr id="11" name="Picture 10">
            <a:extLst>
              <a:ext uri="{FF2B5EF4-FFF2-40B4-BE49-F238E27FC236}">
                <a16:creationId xmlns:a16="http://schemas.microsoft.com/office/drawing/2014/main" id="{725F65AA-CB42-F001-BA17-CC04A3374C41}"/>
              </a:ext>
            </a:extLst>
          </p:cNvPr>
          <p:cNvPicPr>
            <a:picLocks noChangeAspect="1"/>
          </p:cNvPicPr>
          <p:nvPr/>
        </p:nvPicPr>
        <p:blipFill>
          <a:blip r:embed="rId4">
            <a:alphaModFix amt="18000"/>
          </a:blip>
          <a:srcRect r="83032"/>
          <a:stretch>
            <a:fillRect/>
          </a:stretch>
        </p:blipFill>
        <p:spPr>
          <a:xfrm>
            <a:off x="0" y="4239980"/>
            <a:ext cx="1349519" cy="2387520"/>
          </a:xfrm>
          <a:prstGeom prst="rect">
            <a:avLst/>
          </a:prstGeom>
        </p:spPr>
      </p:pic>
      <p:pic>
        <p:nvPicPr>
          <p:cNvPr id="13" name="Graphic 12">
            <a:extLst>
              <a:ext uri="{FF2B5EF4-FFF2-40B4-BE49-F238E27FC236}">
                <a16:creationId xmlns:a16="http://schemas.microsoft.com/office/drawing/2014/main" id="{BD709BBA-13AF-CFCB-4932-5320EDD65C19}"/>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10614406" y="832814"/>
            <a:ext cx="966538" cy="1491260"/>
          </a:xfrm>
          <a:prstGeom prst="rect">
            <a:avLst/>
          </a:prstGeom>
        </p:spPr>
      </p:pic>
      <p:sp>
        <p:nvSpPr>
          <p:cNvPr id="4" name="TextBox 3">
            <a:extLst>
              <a:ext uri="{FF2B5EF4-FFF2-40B4-BE49-F238E27FC236}">
                <a16:creationId xmlns:a16="http://schemas.microsoft.com/office/drawing/2014/main" id="{300AD24B-3E1B-1931-C6D2-C018A19350D1}"/>
              </a:ext>
            </a:extLst>
          </p:cNvPr>
          <p:cNvSpPr txBox="1"/>
          <p:nvPr/>
        </p:nvSpPr>
        <p:spPr>
          <a:xfrm>
            <a:off x="243349" y="1055511"/>
            <a:ext cx="6106332" cy="577850"/>
          </a:xfrm>
          <a:prstGeom prst="rect">
            <a:avLst/>
          </a:prstGeom>
          <a:noFill/>
        </p:spPr>
        <p:txBody>
          <a:bodyPr wrap="square">
            <a:spAutoFit/>
          </a:bodyPr>
          <a:lstStyle/>
          <a:p>
            <a:pPr marL="38100">
              <a:lnSpc>
                <a:spcPct val="150000"/>
              </a:lnSpc>
              <a:buClr>
                <a:schemeClr val="dk1"/>
              </a:buClr>
              <a:buSzPts val="3000"/>
            </a:pPr>
            <a:r>
              <a:rPr lang="en-US" sz="2400" dirty="0"/>
              <a:t>Crossplane:</a:t>
            </a:r>
          </a:p>
        </p:txBody>
      </p:sp>
      <p:sp>
        <p:nvSpPr>
          <p:cNvPr id="8" name="TextBox 7">
            <a:extLst>
              <a:ext uri="{FF2B5EF4-FFF2-40B4-BE49-F238E27FC236}">
                <a16:creationId xmlns:a16="http://schemas.microsoft.com/office/drawing/2014/main" id="{D389CD23-2D95-2412-696A-42CA5C116247}"/>
              </a:ext>
            </a:extLst>
          </p:cNvPr>
          <p:cNvSpPr txBox="1"/>
          <p:nvPr/>
        </p:nvSpPr>
        <p:spPr>
          <a:xfrm>
            <a:off x="243349" y="4072916"/>
            <a:ext cx="6106332" cy="461665"/>
          </a:xfrm>
          <a:prstGeom prst="rect">
            <a:avLst/>
          </a:prstGeom>
          <a:noFill/>
        </p:spPr>
        <p:txBody>
          <a:bodyPr wrap="square">
            <a:spAutoFit/>
          </a:bodyPr>
          <a:lstStyle/>
          <a:p>
            <a:r>
              <a:rPr lang="en-US" sz="2400" dirty="0"/>
              <a:t>Kubebuilder:</a:t>
            </a:r>
            <a:endParaRPr lang="en-US" dirty="0"/>
          </a:p>
        </p:txBody>
      </p:sp>
    </p:spTree>
    <p:extLst>
      <p:ext uri="{BB962C8B-B14F-4D97-AF65-F5344CB8AC3E}">
        <p14:creationId xmlns:p14="http://schemas.microsoft.com/office/powerpoint/2010/main" val="131611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393A62E-B2CD-E29F-8FF2-13C51D83E8F2}"/>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9A059039-86A5-9257-45C3-93640E4355BD}"/>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So… Which one is better? It depends…</a:t>
            </a:r>
          </a:p>
        </p:txBody>
      </p:sp>
      <p:sp>
        <p:nvSpPr>
          <p:cNvPr id="2" name="Slide Number Placeholder 1">
            <a:extLst>
              <a:ext uri="{FF2B5EF4-FFF2-40B4-BE49-F238E27FC236}">
                <a16:creationId xmlns:a16="http://schemas.microsoft.com/office/drawing/2014/main" id="{EEE7C344-BF6E-54E3-2B8C-F3FCD02C5372}"/>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9</a:t>
            </a:fld>
            <a:endParaRPr lang="en-US" dirty="0"/>
          </a:p>
        </p:txBody>
      </p:sp>
      <p:graphicFrame>
        <p:nvGraphicFramePr>
          <p:cNvPr id="9" name="Table 8">
            <a:extLst>
              <a:ext uri="{FF2B5EF4-FFF2-40B4-BE49-F238E27FC236}">
                <a16:creationId xmlns:a16="http://schemas.microsoft.com/office/drawing/2014/main" id="{1452CC27-26D7-5403-A982-AA4F4F7FA352}"/>
              </a:ext>
            </a:extLst>
          </p:cNvPr>
          <p:cNvGraphicFramePr>
            <a:graphicFrameLocks noGrp="1"/>
          </p:cNvGraphicFramePr>
          <p:nvPr>
            <p:extLst>
              <p:ext uri="{D42A27DB-BD31-4B8C-83A1-F6EECF244321}">
                <p14:modId xmlns:p14="http://schemas.microsoft.com/office/powerpoint/2010/main" val="554910047"/>
              </p:ext>
            </p:extLst>
          </p:nvPr>
        </p:nvGraphicFramePr>
        <p:xfrm>
          <a:off x="838199" y="1137295"/>
          <a:ext cx="10617284" cy="5184000"/>
        </p:xfrm>
        <a:graphic>
          <a:graphicData uri="http://schemas.openxmlformats.org/drawingml/2006/table">
            <a:tbl>
              <a:tblPr firstRow="1" bandRow="1">
                <a:tableStyleId>{5C22544A-7EE6-4342-B048-85BDC9FD1C3A}</a:tableStyleId>
              </a:tblPr>
              <a:tblGrid>
                <a:gridCol w="3539095">
                  <a:extLst>
                    <a:ext uri="{9D8B030D-6E8A-4147-A177-3AD203B41FA5}">
                      <a16:colId xmlns:a16="http://schemas.microsoft.com/office/drawing/2014/main" val="550325215"/>
                    </a:ext>
                  </a:extLst>
                </a:gridCol>
                <a:gridCol w="4088761">
                  <a:extLst>
                    <a:ext uri="{9D8B030D-6E8A-4147-A177-3AD203B41FA5}">
                      <a16:colId xmlns:a16="http://schemas.microsoft.com/office/drawing/2014/main" val="2557590795"/>
                    </a:ext>
                  </a:extLst>
                </a:gridCol>
                <a:gridCol w="2989428">
                  <a:extLst>
                    <a:ext uri="{9D8B030D-6E8A-4147-A177-3AD203B41FA5}">
                      <a16:colId xmlns:a16="http://schemas.microsoft.com/office/drawing/2014/main" val="3608665150"/>
                    </a:ext>
                  </a:extLst>
                </a:gridCol>
              </a:tblGrid>
              <a:tr h="576000">
                <a:tc>
                  <a:txBody>
                    <a:bodyPr/>
                    <a:lstStyle/>
                    <a:p>
                      <a:pPr algn="ctr"/>
                      <a:r>
                        <a:rPr lang="en-US" dirty="0">
                          <a:solidFill>
                            <a:schemeClr val="tx1"/>
                          </a:solidFill>
                        </a:rPr>
                        <a:t>Scenario</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Better choice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Reason</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33101"/>
                  </a:ext>
                </a:extLst>
              </a:tr>
              <a:tr h="576000">
                <a:tc>
                  <a:txBody>
                    <a:bodyPr/>
                    <a:lstStyle/>
                    <a:p>
                      <a:pPr algn="ctr"/>
                      <a:r>
                        <a:rPr lang="en-US" dirty="0"/>
                        <a:t>Standard infrastructure composition</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Crossplane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Declarative and reusable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943250"/>
                  </a:ext>
                </a:extLst>
              </a:tr>
              <a:tr h="576000">
                <a:tc>
                  <a:txBody>
                    <a:bodyPr/>
                    <a:lstStyle/>
                    <a:p>
                      <a:pPr algn="ctr"/>
                      <a:r>
                        <a:rPr lang="en-US" dirty="0"/>
                        <a:t>Internal Developer Platform</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Crossplane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User-friendly claims and abstractions</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879072"/>
                  </a:ext>
                </a:extLst>
              </a:tr>
              <a:tr h="576000">
                <a:tc>
                  <a:txBody>
                    <a:bodyPr/>
                    <a:lstStyle/>
                    <a:p>
                      <a:pPr algn="ctr"/>
                      <a:r>
                        <a:rPr lang="en-US" dirty="0"/>
                        <a:t>Multi-resource self-service APIs</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Crossplane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Composition model fits well</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687874"/>
                  </a:ext>
                </a:extLst>
              </a:tr>
              <a:tr h="576000">
                <a:tc>
                  <a:txBody>
                    <a:bodyPr/>
                    <a:lstStyle/>
                    <a:p>
                      <a:pPr algn="ctr"/>
                      <a:r>
                        <a:rPr lang="en-US" dirty="0"/>
                        <a:t>Complex conditional logic</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Full control in Go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8509154"/>
                  </a:ext>
                </a:extLst>
              </a:tr>
              <a:tr h="576000">
                <a:tc>
                  <a:txBody>
                    <a:bodyPr/>
                    <a:lstStyle/>
                    <a:p>
                      <a:pPr algn="ctr"/>
                      <a:r>
                        <a:rPr lang="en-US" dirty="0"/>
                        <a:t>Custom external API integration</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Any Go library can be used</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09361"/>
                  </a:ext>
                </a:extLst>
              </a:tr>
              <a:tr h="576000">
                <a:tc>
                  <a:txBody>
                    <a:bodyPr/>
                    <a:lstStyle/>
                    <a:p>
                      <a:pPr algn="ctr"/>
                      <a:r>
                        <a:rPr lang="en-US" dirty="0"/>
                        <a:t>Fine-grained lifecycle control</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Reconciliation is fully programmable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581707"/>
                  </a:ext>
                </a:extLst>
              </a:tr>
              <a:tr h="576000">
                <a:tc>
                  <a:txBody>
                    <a:bodyPr/>
                    <a:lstStyle/>
                    <a:p>
                      <a:pPr algn="ctr"/>
                      <a:r>
                        <a:rPr lang="en-US" dirty="0"/>
                        <a:t>Provisioning latency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Fewer controller layers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260371"/>
                  </a:ext>
                </a:extLst>
              </a:tr>
              <a:tr h="576000">
                <a:tc>
                  <a:txBody>
                    <a:bodyPr/>
                    <a:lstStyle/>
                    <a:p>
                      <a:pPr algn="ctr"/>
                      <a:r>
                        <a:rPr lang="en-US" sz="1400" dirty="0"/>
                        <a:t>Debuggability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Less layers, more control</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86798811"/>
                  </a:ext>
                </a:extLst>
              </a:tr>
            </a:tbl>
          </a:graphicData>
        </a:graphic>
      </p:graphicFrame>
      <p:pic>
        <p:nvPicPr>
          <p:cNvPr id="12" name="Google Shape;92;p14" title="06_LOGO-Alma-Mater-Studiorum-Universita-di-Bologna.png">
            <a:extLst>
              <a:ext uri="{FF2B5EF4-FFF2-40B4-BE49-F238E27FC236}">
                <a16:creationId xmlns:a16="http://schemas.microsoft.com/office/drawing/2014/main" id="{25F69D0D-2A57-B490-BF9C-E202DAD81211}"/>
              </a:ext>
            </a:extLst>
          </p:cNvPr>
          <p:cNvPicPr preferRelativeResize="0"/>
          <p:nvPr/>
        </p:nvPicPr>
        <p:blipFill>
          <a:blip r:embed="rId3">
            <a:alphaModFix amt="44000"/>
          </a:blip>
          <a:stretch>
            <a:fillRect/>
          </a:stretch>
        </p:blipFill>
        <p:spPr>
          <a:xfrm>
            <a:off x="9399175" y="4453350"/>
            <a:ext cx="1841376" cy="1841376"/>
          </a:xfrm>
          <a:prstGeom prst="rect">
            <a:avLst/>
          </a:prstGeom>
          <a:noFill/>
          <a:ln>
            <a:noFill/>
          </a:ln>
        </p:spPr>
      </p:pic>
      <p:pic>
        <p:nvPicPr>
          <p:cNvPr id="4" name="Picture 3">
            <a:extLst>
              <a:ext uri="{FF2B5EF4-FFF2-40B4-BE49-F238E27FC236}">
                <a16:creationId xmlns:a16="http://schemas.microsoft.com/office/drawing/2014/main" id="{30054588-5D80-9C00-E286-9A5012D3C2ED}"/>
              </a:ext>
            </a:extLst>
          </p:cNvPr>
          <p:cNvPicPr>
            <a:picLocks noChangeAspect="1"/>
          </p:cNvPicPr>
          <p:nvPr/>
        </p:nvPicPr>
        <p:blipFill>
          <a:blip r:embed="rId4">
            <a:alphaModFix amt="18000"/>
          </a:blip>
          <a:srcRect r="83032"/>
          <a:stretch>
            <a:fillRect/>
          </a:stretch>
        </p:blipFill>
        <p:spPr>
          <a:xfrm>
            <a:off x="10319863" y="1588278"/>
            <a:ext cx="1349519" cy="2387520"/>
          </a:xfrm>
          <a:prstGeom prst="rect">
            <a:avLst/>
          </a:prstGeom>
        </p:spPr>
      </p:pic>
      <p:pic>
        <p:nvPicPr>
          <p:cNvPr id="6" name="Graphic 5">
            <a:extLst>
              <a:ext uri="{FF2B5EF4-FFF2-40B4-BE49-F238E27FC236}">
                <a16:creationId xmlns:a16="http://schemas.microsoft.com/office/drawing/2014/main" id="{BFACFDC4-D44D-4557-4266-37E66E58D47F}"/>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760141" y="4869039"/>
            <a:ext cx="966538" cy="1491260"/>
          </a:xfrm>
          <a:prstGeom prst="rect">
            <a:avLst/>
          </a:prstGeom>
        </p:spPr>
      </p:pic>
    </p:spTree>
    <p:extLst>
      <p:ext uri="{BB962C8B-B14F-4D97-AF65-F5344CB8AC3E}">
        <p14:creationId xmlns:p14="http://schemas.microsoft.com/office/powerpoint/2010/main" val="284891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322B3F2-7BF0-AA03-CE52-CFE9AA5D1BD3}"/>
            </a:ext>
          </a:extLst>
        </p:cNvPr>
        <p:cNvGrpSpPr/>
        <p:nvPr/>
      </p:nvGrpSpPr>
      <p:grpSpPr>
        <a:xfrm>
          <a:off x="0" y="0"/>
          <a:ext cx="0" cy="0"/>
          <a:chOff x="0" y="0"/>
          <a:chExt cx="0" cy="0"/>
        </a:xfrm>
      </p:grpSpPr>
      <p:sp>
        <p:nvSpPr>
          <p:cNvPr id="84" name="Google Shape;84;p13">
            <a:extLst>
              <a:ext uri="{FF2B5EF4-FFF2-40B4-BE49-F238E27FC236}">
                <a16:creationId xmlns:a16="http://schemas.microsoft.com/office/drawing/2014/main" id="{5A27422B-4741-5789-E041-670EEFB9AAFC}"/>
              </a:ext>
            </a:extLst>
          </p:cNvPr>
          <p:cNvSpPr txBox="1"/>
          <p:nvPr/>
        </p:nvSpPr>
        <p:spPr>
          <a:xfrm>
            <a:off x="305250" y="2660483"/>
            <a:ext cx="11581500" cy="1015663"/>
          </a:xfrm>
          <a:prstGeom prst="rect">
            <a:avLst/>
          </a:prstGeom>
          <a:noFill/>
          <a:ln>
            <a:noFill/>
          </a:ln>
        </p:spPr>
        <p:txBody>
          <a:bodyPr spcFirstLastPara="1" wrap="square" lIns="0" tIns="0" rIns="0" bIns="0" anchor="t" anchorCtr="0">
            <a:spAutoFit/>
          </a:bodyPr>
          <a:lstStyle/>
          <a:p>
            <a:pPr lvl="0" algn="ctr"/>
            <a:r>
              <a:rPr lang="en-US" sz="6600" b="1" i="1" dirty="0">
                <a:solidFill>
                  <a:schemeClr val="dk1"/>
                </a:solidFill>
              </a:rPr>
              <a:t>Kafka Topic Self-Service</a:t>
            </a:r>
            <a:endParaRPr sz="6600" b="1" dirty="0">
              <a:solidFill>
                <a:schemeClr val="dk1"/>
              </a:solidFill>
            </a:endParaRPr>
          </a:p>
        </p:txBody>
      </p:sp>
      <p:sp>
        <p:nvSpPr>
          <p:cNvPr id="2" name="Slide Number Placeholder 1">
            <a:extLst>
              <a:ext uri="{FF2B5EF4-FFF2-40B4-BE49-F238E27FC236}">
                <a16:creationId xmlns:a16="http://schemas.microsoft.com/office/drawing/2014/main" id="{95AE49C0-C479-BDC8-E65C-B48F18EA3888}"/>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10</a:t>
            </a:fld>
            <a:endParaRPr lang="en-US" dirty="0"/>
          </a:p>
        </p:txBody>
      </p:sp>
      <p:sp>
        <p:nvSpPr>
          <p:cNvPr id="7" name="TextBox 6">
            <a:extLst>
              <a:ext uri="{FF2B5EF4-FFF2-40B4-BE49-F238E27FC236}">
                <a16:creationId xmlns:a16="http://schemas.microsoft.com/office/drawing/2014/main" id="{C2AFFE5A-FDC9-91C6-1870-E05CFD3E3AA6}"/>
              </a:ext>
            </a:extLst>
          </p:cNvPr>
          <p:cNvSpPr txBox="1"/>
          <p:nvPr/>
        </p:nvSpPr>
        <p:spPr>
          <a:xfrm>
            <a:off x="1412362" y="5572013"/>
            <a:ext cx="10361774" cy="830997"/>
          </a:xfrm>
          <a:prstGeom prst="rect">
            <a:avLst/>
          </a:prstGeom>
          <a:noFill/>
        </p:spPr>
        <p:txBody>
          <a:bodyPr wrap="square">
            <a:spAutoFit/>
          </a:bodyPr>
          <a:lstStyle/>
          <a:p>
            <a:pPr algn="ctr"/>
            <a:r>
              <a:rPr lang="en-US" sz="2400" dirty="0"/>
              <a:t>Code and raw data obtained: </a:t>
            </a:r>
          </a:p>
          <a:p>
            <a:pPr algn="ctr"/>
            <a:r>
              <a:rPr lang="en-US" sz="2400" dirty="0"/>
              <a:t>https://github.com/lorenzodeluca/kafka-operator-clash</a:t>
            </a:r>
          </a:p>
        </p:txBody>
      </p:sp>
    </p:spTree>
    <p:extLst>
      <p:ext uri="{BB962C8B-B14F-4D97-AF65-F5344CB8AC3E}">
        <p14:creationId xmlns:p14="http://schemas.microsoft.com/office/powerpoint/2010/main" val="336850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0A00353-7BBD-B27F-2D9E-7862D42BCEA4}"/>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8361B3E-68D2-9AED-3C93-9B2190A69912}"/>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392ADF07-A51D-D14B-9A34-91986EA04BDD}"/>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Common goal</a:t>
            </a:r>
            <a:endParaRPr sz="4500" b="1" dirty="0">
              <a:solidFill>
                <a:schemeClr val="dk1"/>
              </a:solidFill>
            </a:endParaRPr>
          </a:p>
        </p:txBody>
      </p:sp>
      <p:sp>
        <p:nvSpPr>
          <p:cNvPr id="2" name="Slide Number Placeholder 1">
            <a:extLst>
              <a:ext uri="{FF2B5EF4-FFF2-40B4-BE49-F238E27FC236}">
                <a16:creationId xmlns:a16="http://schemas.microsoft.com/office/drawing/2014/main" id="{D970095A-5161-1518-27CC-6E735137CFCC}"/>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11</a:t>
            </a:fld>
            <a:endParaRPr lang="en-US" dirty="0"/>
          </a:p>
        </p:txBody>
      </p:sp>
      <p:pic>
        <p:nvPicPr>
          <p:cNvPr id="6" name="Graphic 5">
            <a:extLst>
              <a:ext uri="{FF2B5EF4-FFF2-40B4-BE49-F238E27FC236}">
                <a16:creationId xmlns:a16="http://schemas.microsoft.com/office/drawing/2014/main" id="{1C5FA651-1BBE-25C4-16A3-F93F0A0933DC}"/>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1240550" y="201021"/>
            <a:ext cx="951450" cy="1467980"/>
          </a:xfrm>
          <a:prstGeom prst="rect">
            <a:avLst/>
          </a:prstGeom>
        </p:spPr>
      </p:pic>
      <p:sp>
        <p:nvSpPr>
          <p:cNvPr id="15" name="TextBox 14">
            <a:extLst>
              <a:ext uri="{FF2B5EF4-FFF2-40B4-BE49-F238E27FC236}">
                <a16:creationId xmlns:a16="http://schemas.microsoft.com/office/drawing/2014/main" id="{1EFD2E8A-24D3-EB80-332A-B15AE5B4A531}"/>
              </a:ext>
            </a:extLst>
          </p:cNvPr>
          <p:cNvSpPr txBox="1"/>
          <p:nvPr/>
        </p:nvSpPr>
        <p:spPr>
          <a:xfrm>
            <a:off x="654222" y="1539952"/>
            <a:ext cx="8744953" cy="2308324"/>
          </a:xfrm>
          <a:prstGeom prst="rect">
            <a:avLst/>
          </a:prstGeom>
          <a:noFill/>
        </p:spPr>
        <p:txBody>
          <a:bodyPr wrap="square" rtlCol="0">
            <a:spAutoFit/>
          </a:bodyPr>
          <a:lstStyle/>
          <a:p>
            <a:r>
              <a:rPr lang="en-US" sz="1800" dirty="0"/>
              <a:t>The goal for the implemented operators is to create a new Kafka topic. Instead of manually creating all required resources, the user declares a single object called </a:t>
            </a:r>
            <a:r>
              <a:rPr lang="en-US" sz="1800" i="1" dirty="0"/>
              <a:t>DataStream</a:t>
            </a:r>
            <a:r>
              <a:rPr lang="en-US" sz="1800" dirty="0"/>
              <a:t>.</a:t>
            </a:r>
          </a:p>
          <a:p>
            <a:endParaRPr lang="en-US" sz="1800" dirty="0"/>
          </a:p>
          <a:p>
            <a:r>
              <a:rPr lang="en-US" sz="1800" dirty="0"/>
              <a:t>When a </a:t>
            </a:r>
            <a:r>
              <a:rPr lang="en-US" sz="1800" i="1" dirty="0"/>
              <a:t>DataStream</a:t>
            </a:r>
            <a:r>
              <a:rPr lang="en-US" sz="1800" dirty="0"/>
              <a:t> is created, the operator must automatically provision and reconcile a ready-to-use data pipeline: a Kafka topic where data can flow, a configuration file with the connection details, and a small consumer application that reads the connection details generated by the operator.</a:t>
            </a:r>
          </a:p>
        </p:txBody>
      </p:sp>
      <p:pic>
        <p:nvPicPr>
          <p:cNvPr id="17" name="Picture 16">
            <a:extLst>
              <a:ext uri="{FF2B5EF4-FFF2-40B4-BE49-F238E27FC236}">
                <a16:creationId xmlns:a16="http://schemas.microsoft.com/office/drawing/2014/main" id="{D29940EC-20FB-CB41-B2A9-9EF515B585C5}"/>
              </a:ext>
            </a:extLst>
          </p:cNvPr>
          <p:cNvPicPr>
            <a:picLocks noChangeAspect="1"/>
          </p:cNvPicPr>
          <p:nvPr/>
        </p:nvPicPr>
        <p:blipFill>
          <a:blip r:embed="rId5"/>
          <a:stretch>
            <a:fillRect/>
          </a:stretch>
        </p:blipFill>
        <p:spPr>
          <a:xfrm>
            <a:off x="6818255" y="4421343"/>
            <a:ext cx="5161840" cy="2144533"/>
          </a:xfrm>
          <a:prstGeom prst="rect">
            <a:avLst/>
          </a:prstGeom>
        </p:spPr>
      </p:pic>
      <p:sp>
        <p:nvSpPr>
          <p:cNvPr id="21" name="TextBox 20">
            <a:extLst>
              <a:ext uri="{FF2B5EF4-FFF2-40B4-BE49-F238E27FC236}">
                <a16:creationId xmlns:a16="http://schemas.microsoft.com/office/drawing/2014/main" id="{5E342213-3296-EC48-5A80-7EC345A6DC6A}"/>
              </a:ext>
            </a:extLst>
          </p:cNvPr>
          <p:cNvSpPr txBox="1"/>
          <p:nvPr/>
        </p:nvSpPr>
        <p:spPr>
          <a:xfrm>
            <a:off x="6818255" y="4052011"/>
            <a:ext cx="8744953" cy="369332"/>
          </a:xfrm>
          <a:prstGeom prst="rect">
            <a:avLst/>
          </a:prstGeom>
          <a:noFill/>
        </p:spPr>
        <p:txBody>
          <a:bodyPr wrap="square" rtlCol="0">
            <a:spAutoFit/>
          </a:bodyPr>
          <a:lstStyle/>
          <a:p>
            <a:r>
              <a:rPr lang="en-US" sz="1800" dirty="0"/>
              <a:t>DataStream example:</a:t>
            </a:r>
          </a:p>
        </p:txBody>
      </p:sp>
    </p:spTree>
    <p:extLst>
      <p:ext uri="{BB962C8B-B14F-4D97-AF65-F5344CB8AC3E}">
        <p14:creationId xmlns:p14="http://schemas.microsoft.com/office/powerpoint/2010/main" val="2676927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88A42EBA-8FF3-E951-51CD-363E97D912F6}"/>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0C28A2E-C944-F2E4-8AAE-254062FF1F57}"/>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DA7A4356-CC9C-9BE5-CCEF-E8CE44412C80}"/>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Crossplane implementation</a:t>
            </a:r>
            <a:endParaRPr sz="4500" b="1" dirty="0">
              <a:solidFill>
                <a:schemeClr val="dk1"/>
              </a:solidFill>
            </a:endParaRPr>
          </a:p>
        </p:txBody>
      </p:sp>
      <p:sp>
        <p:nvSpPr>
          <p:cNvPr id="2" name="Slide Number Placeholder 1">
            <a:extLst>
              <a:ext uri="{FF2B5EF4-FFF2-40B4-BE49-F238E27FC236}">
                <a16:creationId xmlns:a16="http://schemas.microsoft.com/office/drawing/2014/main" id="{4858BC11-2F64-7E28-913A-D23EF75CDCC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12</a:t>
            </a:fld>
            <a:endParaRPr lang="en-US" dirty="0"/>
          </a:p>
        </p:txBody>
      </p:sp>
      <p:sp>
        <p:nvSpPr>
          <p:cNvPr id="3" name="Rectangle: Rounded Corners 2">
            <a:extLst>
              <a:ext uri="{FF2B5EF4-FFF2-40B4-BE49-F238E27FC236}">
                <a16:creationId xmlns:a16="http://schemas.microsoft.com/office/drawing/2014/main" id="{38E6E197-4528-DE6D-EE3F-183E98D9FC27}"/>
              </a:ext>
            </a:extLst>
          </p:cNvPr>
          <p:cNvSpPr/>
          <p:nvPr/>
        </p:nvSpPr>
        <p:spPr>
          <a:xfrm>
            <a:off x="243349" y="1230434"/>
            <a:ext cx="1430346"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USER</a:t>
            </a:r>
          </a:p>
        </p:txBody>
      </p:sp>
      <p:sp>
        <p:nvSpPr>
          <p:cNvPr id="8" name="Rectangle: Rounded Corners 7">
            <a:extLst>
              <a:ext uri="{FF2B5EF4-FFF2-40B4-BE49-F238E27FC236}">
                <a16:creationId xmlns:a16="http://schemas.microsoft.com/office/drawing/2014/main" id="{263B2E7A-6290-27BD-8C46-871DC8771C02}"/>
              </a:ext>
            </a:extLst>
          </p:cNvPr>
          <p:cNvSpPr/>
          <p:nvPr/>
        </p:nvSpPr>
        <p:spPr>
          <a:xfrm>
            <a:off x="3273453" y="1248720"/>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CROSSPLANE</a:t>
            </a:r>
          </a:p>
        </p:txBody>
      </p:sp>
      <p:cxnSp>
        <p:nvCxnSpPr>
          <p:cNvPr id="10" name="Straight Arrow Connector 9">
            <a:extLst>
              <a:ext uri="{FF2B5EF4-FFF2-40B4-BE49-F238E27FC236}">
                <a16:creationId xmlns:a16="http://schemas.microsoft.com/office/drawing/2014/main" id="{00A005B9-8634-A42E-A35A-1139AD592F17}"/>
              </a:ext>
            </a:extLst>
          </p:cNvPr>
          <p:cNvCxnSpPr>
            <a:cxnSpLocks/>
          </p:cNvCxnSpPr>
          <p:nvPr/>
        </p:nvCxnSpPr>
        <p:spPr>
          <a:xfrm>
            <a:off x="1763184" y="1669000"/>
            <a:ext cx="14462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A4FCC90-0315-D4E2-7CDA-A4704CCD43A1}"/>
              </a:ext>
            </a:extLst>
          </p:cNvPr>
          <p:cNvSpPr txBox="1"/>
          <p:nvPr/>
        </p:nvSpPr>
        <p:spPr>
          <a:xfrm>
            <a:off x="2011361" y="1361223"/>
            <a:ext cx="1140056" cy="307777"/>
          </a:xfrm>
          <a:prstGeom prst="rect">
            <a:avLst/>
          </a:prstGeom>
          <a:noFill/>
        </p:spPr>
        <p:txBody>
          <a:bodyPr wrap="none" rtlCol="0">
            <a:spAutoFit/>
          </a:bodyPr>
          <a:lstStyle/>
          <a:p>
            <a:r>
              <a:rPr lang="en-US" dirty="0"/>
              <a:t>DataStream</a:t>
            </a:r>
          </a:p>
        </p:txBody>
      </p:sp>
      <p:sp>
        <p:nvSpPr>
          <p:cNvPr id="14" name="TextBox 13">
            <a:extLst>
              <a:ext uri="{FF2B5EF4-FFF2-40B4-BE49-F238E27FC236}">
                <a16:creationId xmlns:a16="http://schemas.microsoft.com/office/drawing/2014/main" id="{9EAA22AD-9D60-27B5-C205-24B2717ED8C3}"/>
              </a:ext>
            </a:extLst>
          </p:cNvPr>
          <p:cNvSpPr txBox="1"/>
          <p:nvPr/>
        </p:nvSpPr>
        <p:spPr>
          <a:xfrm>
            <a:off x="2205473" y="1768701"/>
            <a:ext cx="761747" cy="307777"/>
          </a:xfrm>
          <a:prstGeom prst="rect">
            <a:avLst/>
          </a:prstGeom>
          <a:noFill/>
        </p:spPr>
        <p:txBody>
          <a:bodyPr wrap="none" rtlCol="0">
            <a:spAutoFit/>
          </a:bodyPr>
          <a:lstStyle/>
          <a:p>
            <a:r>
              <a:rPr lang="en-US" dirty="0"/>
              <a:t>(Claim)</a:t>
            </a:r>
          </a:p>
        </p:txBody>
      </p:sp>
      <p:cxnSp>
        <p:nvCxnSpPr>
          <p:cNvPr id="24" name="Straight Arrow Connector 23">
            <a:extLst>
              <a:ext uri="{FF2B5EF4-FFF2-40B4-BE49-F238E27FC236}">
                <a16:creationId xmlns:a16="http://schemas.microsoft.com/office/drawing/2014/main" id="{0B1BA7E5-DDB1-773B-88E5-D00E09C48E6B}"/>
              </a:ext>
            </a:extLst>
          </p:cNvPr>
          <p:cNvCxnSpPr/>
          <p:nvPr/>
        </p:nvCxnSpPr>
        <p:spPr>
          <a:xfrm>
            <a:off x="5319989" y="1687286"/>
            <a:ext cx="1752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9869FBBE-0214-19B2-E3F4-E8E2ED356806}"/>
              </a:ext>
            </a:extLst>
          </p:cNvPr>
          <p:cNvSpPr txBox="1"/>
          <p:nvPr/>
        </p:nvSpPr>
        <p:spPr>
          <a:xfrm>
            <a:off x="5626222" y="1379509"/>
            <a:ext cx="1260281" cy="307777"/>
          </a:xfrm>
          <a:prstGeom prst="rect">
            <a:avLst/>
          </a:prstGeom>
          <a:noFill/>
        </p:spPr>
        <p:txBody>
          <a:bodyPr wrap="none" rtlCol="0">
            <a:spAutoFit/>
          </a:bodyPr>
          <a:lstStyle/>
          <a:p>
            <a:r>
              <a:rPr lang="en-US" dirty="0" err="1"/>
              <a:t>XDataStream</a:t>
            </a:r>
            <a:endParaRPr lang="en-US" dirty="0"/>
          </a:p>
        </p:txBody>
      </p:sp>
      <p:sp>
        <p:nvSpPr>
          <p:cNvPr id="26" name="TextBox 25">
            <a:extLst>
              <a:ext uri="{FF2B5EF4-FFF2-40B4-BE49-F238E27FC236}">
                <a16:creationId xmlns:a16="http://schemas.microsoft.com/office/drawing/2014/main" id="{30EBB387-B1AA-5052-37C3-AD6B2061FFD7}"/>
              </a:ext>
            </a:extLst>
          </p:cNvPr>
          <p:cNvSpPr txBox="1"/>
          <p:nvPr/>
        </p:nvSpPr>
        <p:spPr>
          <a:xfrm>
            <a:off x="5932271" y="1759401"/>
            <a:ext cx="553357" cy="307777"/>
          </a:xfrm>
          <a:prstGeom prst="rect">
            <a:avLst/>
          </a:prstGeom>
          <a:noFill/>
        </p:spPr>
        <p:txBody>
          <a:bodyPr wrap="none" rtlCol="0">
            <a:spAutoFit/>
          </a:bodyPr>
          <a:lstStyle/>
          <a:p>
            <a:r>
              <a:rPr lang="en-US" dirty="0"/>
              <a:t>(XR)</a:t>
            </a:r>
          </a:p>
        </p:txBody>
      </p:sp>
      <p:sp>
        <p:nvSpPr>
          <p:cNvPr id="28" name="Oval 27">
            <a:extLst>
              <a:ext uri="{FF2B5EF4-FFF2-40B4-BE49-F238E27FC236}">
                <a16:creationId xmlns:a16="http://schemas.microsoft.com/office/drawing/2014/main" id="{4757EBA2-099C-81F8-BB05-32601F700467}"/>
              </a:ext>
            </a:extLst>
          </p:cNvPr>
          <p:cNvSpPr/>
          <p:nvPr/>
        </p:nvSpPr>
        <p:spPr>
          <a:xfrm>
            <a:off x="7139195" y="1230433"/>
            <a:ext cx="2113044" cy="87713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Composition</a:t>
            </a:r>
          </a:p>
        </p:txBody>
      </p:sp>
      <p:cxnSp>
        <p:nvCxnSpPr>
          <p:cNvPr id="30" name="Straight Arrow Connector 29">
            <a:extLst>
              <a:ext uri="{FF2B5EF4-FFF2-40B4-BE49-F238E27FC236}">
                <a16:creationId xmlns:a16="http://schemas.microsoft.com/office/drawing/2014/main" id="{D93684C0-2ECF-3E33-F1D5-865EC033D17E}"/>
              </a:ext>
            </a:extLst>
          </p:cNvPr>
          <p:cNvCxnSpPr/>
          <p:nvPr/>
        </p:nvCxnSpPr>
        <p:spPr>
          <a:xfrm>
            <a:off x="9370055" y="1687286"/>
            <a:ext cx="1752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B6FD4FA4-F0AE-807E-D10B-9120F735E20C}"/>
              </a:ext>
            </a:extLst>
          </p:cNvPr>
          <p:cNvSpPr txBox="1"/>
          <p:nvPr/>
        </p:nvSpPr>
        <p:spPr>
          <a:xfrm>
            <a:off x="9689722" y="810513"/>
            <a:ext cx="1499128" cy="738664"/>
          </a:xfrm>
          <a:prstGeom prst="rect">
            <a:avLst/>
          </a:prstGeom>
          <a:noFill/>
        </p:spPr>
        <p:txBody>
          <a:bodyPr wrap="none" rtlCol="0">
            <a:spAutoFit/>
          </a:bodyPr>
          <a:lstStyle/>
          <a:p>
            <a:r>
              <a:rPr lang="en-US" dirty="0"/>
              <a:t>Kafka Topic</a:t>
            </a:r>
          </a:p>
          <a:p>
            <a:r>
              <a:rPr lang="en-US" dirty="0"/>
              <a:t>K8s </a:t>
            </a:r>
            <a:r>
              <a:rPr lang="en-US" dirty="0" err="1"/>
              <a:t>ConfigMap</a:t>
            </a:r>
            <a:endParaRPr lang="en-US" dirty="0"/>
          </a:p>
          <a:p>
            <a:r>
              <a:rPr lang="en-US" dirty="0"/>
              <a:t>K8s Deployment</a:t>
            </a:r>
          </a:p>
        </p:txBody>
      </p:sp>
      <p:sp>
        <p:nvSpPr>
          <p:cNvPr id="32" name="TextBox 31">
            <a:extLst>
              <a:ext uri="{FF2B5EF4-FFF2-40B4-BE49-F238E27FC236}">
                <a16:creationId xmlns:a16="http://schemas.microsoft.com/office/drawing/2014/main" id="{F0FA16F5-5C56-3337-F56E-A65F9A9F8FD1}"/>
              </a:ext>
            </a:extLst>
          </p:cNvPr>
          <p:cNvSpPr txBox="1"/>
          <p:nvPr/>
        </p:nvSpPr>
        <p:spPr>
          <a:xfrm>
            <a:off x="9399175" y="1768701"/>
            <a:ext cx="1954381" cy="307777"/>
          </a:xfrm>
          <a:prstGeom prst="rect">
            <a:avLst/>
          </a:prstGeom>
          <a:noFill/>
        </p:spPr>
        <p:txBody>
          <a:bodyPr wrap="none" rtlCol="0">
            <a:spAutoFit/>
          </a:bodyPr>
          <a:lstStyle/>
          <a:p>
            <a:r>
              <a:rPr lang="en-US" dirty="0"/>
              <a:t>(Managed Resources)</a:t>
            </a:r>
          </a:p>
        </p:txBody>
      </p:sp>
      <p:cxnSp>
        <p:nvCxnSpPr>
          <p:cNvPr id="38" name="Straight Arrow Connector 37">
            <a:extLst>
              <a:ext uri="{FF2B5EF4-FFF2-40B4-BE49-F238E27FC236}">
                <a16:creationId xmlns:a16="http://schemas.microsoft.com/office/drawing/2014/main" id="{ED1C2FE3-85C2-98F1-93E7-0AD8FCF67428}"/>
              </a:ext>
            </a:extLst>
          </p:cNvPr>
          <p:cNvCxnSpPr>
            <a:cxnSpLocks/>
          </p:cNvCxnSpPr>
          <p:nvPr/>
        </p:nvCxnSpPr>
        <p:spPr>
          <a:xfrm flipV="1">
            <a:off x="455266" y="3878970"/>
            <a:ext cx="1307918" cy="5215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Rectangle: Rounded Corners 41">
            <a:extLst>
              <a:ext uri="{FF2B5EF4-FFF2-40B4-BE49-F238E27FC236}">
                <a16:creationId xmlns:a16="http://schemas.microsoft.com/office/drawing/2014/main" id="{48A31CDF-38C7-E8C7-7D86-F16EDBD1F04D}"/>
              </a:ext>
            </a:extLst>
          </p:cNvPr>
          <p:cNvSpPr/>
          <p:nvPr/>
        </p:nvSpPr>
        <p:spPr>
          <a:xfrm>
            <a:off x="1919780" y="3001837"/>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Kafka provider</a:t>
            </a:r>
          </a:p>
        </p:txBody>
      </p:sp>
      <p:sp>
        <p:nvSpPr>
          <p:cNvPr id="44" name="TextBox 43">
            <a:extLst>
              <a:ext uri="{FF2B5EF4-FFF2-40B4-BE49-F238E27FC236}">
                <a16:creationId xmlns:a16="http://schemas.microsoft.com/office/drawing/2014/main" id="{7E1DBDAC-F01B-F9C7-EA55-D09F33D590F2}"/>
              </a:ext>
            </a:extLst>
          </p:cNvPr>
          <p:cNvSpPr txBox="1"/>
          <p:nvPr/>
        </p:nvSpPr>
        <p:spPr>
          <a:xfrm>
            <a:off x="246085" y="3538718"/>
            <a:ext cx="1446289" cy="307777"/>
          </a:xfrm>
          <a:prstGeom prst="rect">
            <a:avLst/>
          </a:prstGeom>
          <a:noFill/>
        </p:spPr>
        <p:txBody>
          <a:bodyPr wrap="square">
            <a:spAutoFit/>
          </a:bodyPr>
          <a:lstStyle/>
          <a:p>
            <a:r>
              <a:rPr lang="en-US" sz="1400" dirty="0"/>
              <a:t>Kafka Topic</a:t>
            </a:r>
          </a:p>
        </p:txBody>
      </p:sp>
      <p:cxnSp>
        <p:nvCxnSpPr>
          <p:cNvPr id="46" name="Straight Arrow Connector 45">
            <a:extLst>
              <a:ext uri="{FF2B5EF4-FFF2-40B4-BE49-F238E27FC236}">
                <a16:creationId xmlns:a16="http://schemas.microsoft.com/office/drawing/2014/main" id="{E5FFA8B1-A226-75F3-708F-3B4401B0830E}"/>
              </a:ext>
            </a:extLst>
          </p:cNvPr>
          <p:cNvCxnSpPr>
            <a:cxnSpLocks/>
          </p:cNvCxnSpPr>
          <p:nvPr/>
        </p:nvCxnSpPr>
        <p:spPr>
          <a:xfrm>
            <a:off x="455266" y="4400522"/>
            <a:ext cx="1307918" cy="582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Rectangle: Rounded Corners 49">
            <a:extLst>
              <a:ext uri="{FF2B5EF4-FFF2-40B4-BE49-F238E27FC236}">
                <a16:creationId xmlns:a16="http://schemas.microsoft.com/office/drawing/2014/main" id="{023E0BDA-786B-CA07-E804-A42C38CDCE3A}"/>
              </a:ext>
            </a:extLst>
          </p:cNvPr>
          <p:cNvSpPr/>
          <p:nvPr/>
        </p:nvSpPr>
        <p:spPr>
          <a:xfrm>
            <a:off x="1919779" y="5041182"/>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K8s provider</a:t>
            </a:r>
          </a:p>
        </p:txBody>
      </p:sp>
      <p:sp>
        <p:nvSpPr>
          <p:cNvPr id="53" name="TextBox 52">
            <a:extLst>
              <a:ext uri="{FF2B5EF4-FFF2-40B4-BE49-F238E27FC236}">
                <a16:creationId xmlns:a16="http://schemas.microsoft.com/office/drawing/2014/main" id="{7E89030C-3FA3-4D01-3414-8A60ECC67ABE}"/>
              </a:ext>
            </a:extLst>
          </p:cNvPr>
          <p:cNvSpPr txBox="1"/>
          <p:nvPr/>
        </p:nvSpPr>
        <p:spPr>
          <a:xfrm>
            <a:off x="226285" y="4973557"/>
            <a:ext cx="1430346" cy="523220"/>
          </a:xfrm>
          <a:prstGeom prst="rect">
            <a:avLst/>
          </a:prstGeom>
          <a:noFill/>
        </p:spPr>
        <p:txBody>
          <a:bodyPr wrap="square">
            <a:spAutoFit/>
          </a:bodyPr>
          <a:lstStyle/>
          <a:p>
            <a:r>
              <a:rPr lang="en-US" sz="1400" dirty="0" err="1"/>
              <a:t>ConfigMap</a:t>
            </a:r>
            <a:endParaRPr lang="en-US" sz="1400" dirty="0"/>
          </a:p>
          <a:p>
            <a:r>
              <a:rPr lang="en-US" sz="1400" dirty="0"/>
              <a:t>Deployment</a:t>
            </a:r>
          </a:p>
        </p:txBody>
      </p:sp>
      <p:pic>
        <p:nvPicPr>
          <p:cNvPr id="57" name="Picture 56">
            <a:extLst>
              <a:ext uri="{FF2B5EF4-FFF2-40B4-BE49-F238E27FC236}">
                <a16:creationId xmlns:a16="http://schemas.microsoft.com/office/drawing/2014/main" id="{926D3030-B1CD-B7B8-8EC5-CD76208E14D2}"/>
              </a:ext>
            </a:extLst>
          </p:cNvPr>
          <p:cNvPicPr>
            <a:picLocks noChangeAspect="1"/>
          </p:cNvPicPr>
          <p:nvPr/>
        </p:nvPicPr>
        <p:blipFill>
          <a:blip r:embed="rId4"/>
          <a:stretch>
            <a:fillRect/>
          </a:stretch>
        </p:blipFill>
        <p:spPr>
          <a:xfrm>
            <a:off x="4419008" y="2679364"/>
            <a:ext cx="2770909" cy="4094425"/>
          </a:xfrm>
          <a:prstGeom prst="rect">
            <a:avLst/>
          </a:prstGeom>
        </p:spPr>
      </p:pic>
      <p:sp>
        <p:nvSpPr>
          <p:cNvPr id="59" name="TextBox 58">
            <a:extLst>
              <a:ext uri="{FF2B5EF4-FFF2-40B4-BE49-F238E27FC236}">
                <a16:creationId xmlns:a16="http://schemas.microsoft.com/office/drawing/2014/main" id="{98799581-3BDC-FF18-3066-5A41AAAE7B28}"/>
              </a:ext>
            </a:extLst>
          </p:cNvPr>
          <p:cNvSpPr txBox="1"/>
          <p:nvPr/>
        </p:nvSpPr>
        <p:spPr>
          <a:xfrm>
            <a:off x="4419009" y="2296001"/>
            <a:ext cx="2499951" cy="342963"/>
          </a:xfrm>
          <a:prstGeom prst="rect">
            <a:avLst/>
          </a:prstGeom>
          <a:noFill/>
        </p:spPr>
        <p:txBody>
          <a:bodyPr wrap="square" rtlCol="0">
            <a:spAutoFit/>
          </a:bodyPr>
          <a:lstStyle/>
          <a:p>
            <a:r>
              <a:rPr lang="en-US" sz="1600" dirty="0" err="1"/>
              <a:t>api</a:t>
            </a:r>
            <a:r>
              <a:rPr lang="en-US" sz="1600" dirty="0"/>
              <a:t>/</a:t>
            </a:r>
            <a:r>
              <a:rPr lang="en-US" sz="1600" dirty="0" err="1"/>
              <a:t>datastream_xrd.yaml</a:t>
            </a:r>
            <a:r>
              <a:rPr lang="en-US" sz="1600" dirty="0"/>
              <a:t>:</a:t>
            </a:r>
          </a:p>
        </p:txBody>
      </p:sp>
      <p:sp>
        <p:nvSpPr>
          <p:cNvPr id="7" name="TextBox 6">
            <a:extLst>
              <a:ext uri="{FF2B5EF4-FFF2-40B4-BE49-F238E27FC236}">
                <a16:creationId xmlns:a16="http://schemas.microsoft.com/office/drawing/2014/main" id="{26E59B9F-40A0-0BA5-8623-27513E3420C2}"/>
              </a:ext>
            </a:extLst>
          </p:cNvPr>
          <p:cNvSpPr txBox="1"/>
          <p:nvPr/>
        </p:nvSpPr>
        <p:spPr>
          <a:xfrm>
            <a:off x="7849535" y="2298205"/>
            <a:ext cx="5179501" cy="338554"/>
          </a:xfrm>
          <a:prstGeom prst="rect">
            <a:avLst/>
          </a:prstGeom>
          <a:noFill/>
        </p:spPr>
        <p:txBody>
          <a:bodyPr wrap="square" rtlCol="0">
            <a:spAutoFit/>
          </a:bodyPr>
          <a:lstStyle/>
          <a:p>
            <a:r>
              <a:rPr lang="en-US" sz="1600" dirty="0"/>
              <a:t>compositions/</a:t>
            </a:r>
            <a:r>
              <a:rPr lang="en-US" sz="1600" dirty="0" err="1"/>
              <a:t>datastream_composition.yaml</a:t>
            </a:r>
            <a:endParaRPr lang="en-US" sz="1600" dirty="0"/>
          </a:p>
        </p:txBody>
      </p:sp>
      <p:pic>
        <p:nvPicPr>
          <p:cNvPr id="11" name="Picture 10">
            <a:extLst>
              <a:ext uri="{FF2B5EF4-FFF2-40B4-BE49-F238E27FC236}">
                <a16:creationId xmlns:a16="http://schemas.microsoft.com/office/drawing/2014/main" id="{39BCEFFD-DF7D-241E-8CA8-1646B27BB681}"/>
              </a:ext>
            </a:extLst>
          </p:cNvPr>
          <p:cNvPicPr>
            <a:picLocks noChangeAspect="1"/>
          </p:cNvPicPr>
          <p:nvPr/>
        </p:nvPicPr>
        <p:blipFill>
          <a:blip r:embed="rId5"/>
          <a:stretch>
            <a:fillRect/>
          </a:stretch>
        </p:blipFill>
        <p:spPr>
          <a:xfrm>
            <a:off x="7910153" y="2636759"/>
            <a:ext cx="4055562" cy="3852446"/>
          </a:xfrm>
          <a:prstGeom prst="rect">
            <a:avLst/>
          </a:prstGeom>
        </p:spPr>
      </p:pic>
    </p:spTree>
    <p:extLst>
      <p:ext uri="{BB962C8B-B14F-4D97-AF65-F5344CB8AC3E}">
        <p14:creationId xmlns:p14="http://schemas.microsoft.com/office/powerpoint/2010/main" val="2568417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8E41B01-06A0-D3A0-98B1-849B549B9653}"/>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8863E8DD-BC8D-5570-057F-EDFDBB242226}"/>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5086BED3-3613-7004-B02F-45315BD6726D}"/>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Kubebuilder implementation</a:t>
            </a:r>
            <a:endParaRPr sz="4500" b="1" dirty="0">
              <a:solidFill>
                <a:schemeClr val="dk1"/>
              </a:solidFill>
            </a:endParaRPr>
          </a:p>
        </p:txBody>
      </p:sp>
      <p:sp>
        <p:nvSpPr>
          <p:cNvPr id="2" name="Slide Number Placeholder 1">
            <a:extLst>
              <a:ext uri="{FF2B5EF4-FFF2-40B4-BE49-F238E27FC236}">
                <a16:creationId xmlns:a16="http://schemas.microsoft.com/office/drawing/2014/main" id="{4B4927DD-0C70-CFC6-6049-95332020172B}"/>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13</a:t>
            </a:fld>
            <a:endParaRPr lang="en-US" dirty="0"/>
          </a:p>
        </p:txBody>
      </p:sp>
      <p:sp>
        <p:nvSpPr>
          <p:cNvPr id="3" name="Rectangle: Rounded Corners 2">
            <a:extLst>
              <a:ext uri="{FF2B5EF4-FFF2-40B4-BE49-F238E27FC236}">
                <a16:creationId xmlns:a16="http://schemas.microsoft.com/office/drawing/2014/main" id="{F78DB203-2CF8-59D0-275D-883C9FA37A14}"/>
              </a:ext>
            </a:extLst>
          </p:cNvPr>
          <p:cNvSpPr/>
          <p:nvPr/>
        </p:nvSpPr>
        <p:spPr>
          <a:xfrm>
            <a:off x="3317522" y="1152441"/>
            <a:ext cx="1430346"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USER</a:t>
            </a:r>
          </a:p>
        </p:txBody>
      </p:sp>
      <p:sp>
        <p:nvSpPr>
          <p:cNvPr id="8" name="Rectangle: Rounded Corners 7">
            <a:extLst>
              <a:ext uri="{FF2B5EF4-FFF2-40B4-BE49-F238E27FC236}">
                <a16:creationId xmlns:a16="http://schemas.microsoft.com/office/drawing/2014/main" id="{EF2B4C53-9584-8BE2-FA88-E0AC1576F00A}"/>
              </a:ext>
            </a:extLst>
          </p:cNvPr>
          <p:cNvSpPr/>
          <p:nvPr/>
        </p:nvSpPr>
        <p:spPr>
          <a:xfrm>
            <a:off x="6347626" y="1170727"/>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Kubebuilder</a:t>
            </a:r>
          </a:p>
        </p:txBody>
      </p:sp>
      <p:cxnSp>
        <p:nvCxnSpPr>
          <p:cNvPr id="10" name="Straight Arrow Connector 9">
            <a:extLst>
              <a:ext uri="{FF2B5EF4-FFF2-40B4-BE49-F238E27FC236}">
                <a16:creationId xmlns:a16="http://schemas.microsoft.com/office/drawing/2014/main" id="{DA25E455-C54C-AC2E-C94E-729ABDF5E813}"/>
              </a:ext>
            </a:extLst>
          </p:cNvPr>
          <p:cNvCxnSpPr>
            <a:cxnSpLocks/>
          </p:cNvCxnSpPr>
          <p:nvPr/>
        </p:nvCxnSpPr>
        <p:spPr>
          <a:xfrm>
            <a:off x="4837357" y="1591007"/>
            <a:ext cx="14462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BB97785-FD73-02A0-1F14-2051C8224E1F}"/>
              </a:ext>
            </a:extLst>
          </p:cNvPr>
          <p:cNvSpPr txBox="1"/>
          <p:nvPr/>
        </p:nvSpPr>
        <p:spPr>
          <a:xfrm>
            <a:off x="5027478" y="1283230"/>
            <a:ext cx="1140056" cy="307777"/>
          </a:xfrm>
          <a:prstGeom prst="rect">
            <a:avLst/>
          </a:prstGeom>
          <a:noFill/>
        </p:spPr>
        <p:txBody>
          <a:bodyPr wrap="none" rtlCol="0">
            <a:spAutoFit/>
          </a:bodyPr>
          <a:lstStyle/>
          <a:p>
            <a:r>
              <a:rPr lang="en-US" dirty="0"/>
              <a:t>DataStream</a:t>
            </a:r>
          </a:p>
        </p:txBody>
      </p:sp>
      <p:pic>
        <p:nvPicPr>
          <p:cNvPr id="5" name="Picture 4">
            <a:extLst>
              <a:ext uri="{FF2B5EF4-FFF2-40B4-BE49-F238E27FC236}">
                <a16:creationId xmlns:a16="http://schemas.microsoft.com/office/drawing/2014/main" id="{9BA3CBF6-8C6C-37A5-3AC2-B1DB655E1468}"/>
              </a:ext>
            </a:extLst>
          </p:cNvPr>
          <p:cNvPicPr>
            <a:picLocks noChangeAspect="1"/>
          </p:cNvPicPr>
          <p:nvPr/>
        </p:nvPicPr>
        <p:blipFill>
          <a:blip r:embed="rId4"/>
          <a:srcRect b="62697"/>
          <a:stretch>
            <a:fillRect/>
          </a:stretch>
        </p:blipFill>
        <p:spPr>
          <a:xfrm>
            <a:off x="124508" y="2512948"/>
            <a:ext cx="5435993" cy="3625093"/>
          </a:xfrm>
          <a:prstGeom prst="rect">
            <a:avLst/>
          </a:prstGeom>
        </p:spPr>
      </p:pic>
      <p:sp>
        <p:nvSpPr>
          <p:cNvPr id="11" name="TextBox 10">
            <a:extLst>
              <a:ext uri="{FF2B5EF4-FFF2-40B4-BE49-F238E27FC236}">
                <a16:creationId xmlns:a16="http://schemas.microsoft.com/office/drawing/2014/main" id="{56122D57-1AFA-D2AE-7E2D-D84C5C68C785}"/>
              </a:ext>
            </a:extLst>
          </p:cNvPr>
          <p:cNvSpPr txBox="1"/>
          <p:nvPr/>
        </p:nvSpPr>
        <p:spPr>
          <a:xfrm>
            <a:off x="265894" y="2177333"/>
            <a:ext cx="6103256" cy="307777"/>
          </a:xfrm>
          <a:prstGeom prst="rect">
            <a:avLst/>
          </a:prstGeom>
          <a:noFill/>
        </p:spPr>
        <p:txBody>
          <a:bodyPr wrap="square">
            <a:spAutoFit/>
          </a:bodyPr>
          <a:lstStyle/>
          <a:p>
            <a:r>
              <a:rPr lang="en-US" dirty="0" err="1"/>
              <a:t>datastream_types.go</a:t>
            </a:r>
            <a:r>
              <a:rPr lang="en-US" dirty="0"/>
              <a:t>:</a:t>
            </a:r>
          </a:p>
        </p:txBody>
      </p:sp>
      <p:cxnSp>
        <p:nvCxnSpPr>
          <p:cNvPr id="13" name="Straight Arrow Connector 12">
            <a:extLst>
              <a:ext uri="{FF2B5EF4-FFF2-40B4-BE49-F238E27FC236}">
                <a16:creationId xmlns:a16="http://schemas.microsoft.com/office/drawing/2014/main" id="{9324BD09-7B03-BEB8-257A-633FE5D1EADC}"/>
              </a:ext>
            </a:extLst>
          </p:cNvPr>
          <p:cNvCxnSpPr/>
          <p:nvPr/>
        </p:nvCxnSpPr>
        <p:spPr>
          <a:xfrm>
            <a:off x="8335937" y="1591007"/>
            <a:ext cx="1752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CBA62B5-B420-E525-05F3-CB250608C2A1}"/>
              </a:ext>
            </a:extLst>
          </p:cNvPr>
          <p:cNvSpPr txBox="1"/>
          <p:nvPr/>
        </p:nvSpPr>
        <p:spPr>
          <a:xfrm>
            <a:off x="8655604" y="714234"/>
            <a:ext cx="1499128" cy="738664"/>
          </a:xfrm>
          <a:prstGeom prst="rect">
            <a:avLst/>
          </a:prstGeom>
          <a:noFill/>
        </p:spPr>
        <p:txBody>
          <a:bodyPr wrap="none" rtlCol="0">
            <a:spAutoFit/>
          </a:bodyPr>
          <a:lstStyle/>
          <a:p>
            <a:r>
              <a:rPr lang="en-US" dirty="0"/>
              <a:t>Kafka Topic</a:t>
            </a:r>
          </a:p>
          <a:p>
            <a:r>
              <a:rPr lang="en-US" dirty="0"/>
              <a:t>K8s </a:t>
            </a:r>
            <a:r>
              <a:rPr lang="en-US" dirty="0" err="1"/>
              <a:t>ConfigMap</a:t>
            </a:r>
            <a:endParaRPr lang="en-US" dirty="0"/>
          </a:p>
          <a:p>
            <a:r>
              <a:rPr lang="en-US" dirty="0"/>
              <a:t>K8s Deployment</a:t>
            </a:r>
          </a:p>
        </p:txBody>
      </p:sp>
      <p:sp>
        <p:nvSpPr>
          <p:cNvPr id="6" name="TextBox 5">
            <a:extLst>
              <a:ext uri="{FF2B5EF4-FFF2-40B4-BE49-F238E27FC236}">
                <a16:creationId xmlns:a16="http://schemas.microsoft.com/office/drawing/2014/main" id="{BDE4E20A-77D0-3990-0D78-D79B8DF35E58}"/>
              </a:ext>
            </a:extLst>
          </p:cNvPr>
          <p:cNvSpPr txBox="1"/>
          <p:nvPr/>
        </p:nvSpPr>
        <p:spPr>
          <a:xfrm>
            <a:off x="5739994" y="2177333"/>
            <a:ext cx="4504634" cy="307777"/>
          </a:xfrm>
          <a:prstGeom prst="rect">
            <a:avLst/>
          </a:prstGeom>
          <a:noFill/>
        </p:spPr>
        <p:txBody>
          <a:bodyPr wrap="square">
            <a:spAutoFit/>
          </a:bodyPr>
          <a:lstStyle/>
          <a:p>
            <a:r>
              <a:rPr lang="en-US" dirty="0" err="1"/>
              <a:t>datastream_controller.go</a:t>
            </a:r>
            <a:r>
              <a:rPr lang="en-US" dirty="0"/>
              <a:t>:</a:t>
            </a:r>
          </a:p>
        </p:txBody>
      </p:sp>
      <p:pic>
        <p:nvPicPr>
          <p:cNvPr id="14" name="Picture 13">
            <a:extLst>
              <a:ext uri="{FF2B5EF4-FFF2-40B4-BE49-F238E27FC236}">
                <a16:creationId xmlns:a16="http://schemas.microsoft.com/office/drawing/2014/main" id="{69C216FA-4AD1-BBD8-5F63-AEDCDFFFD0F6}"/>
              </a:ext>
            </a:extLst>
          </p:cNvPr>
          <p:cNvPicPr>
            <a:picLocks noChangeAspect="1"/>
          </p:cNvPicPr>
          <p:nvPr/>
        </p:nvPicPr>
        <p:blipFill>
          <a:blip r:embed="rId5"/>
          <a:stretch>
            <a:fillRect/>
          </a:stretch>
        </p:blipFill>
        <p:spPr>
          <a:xfrm>
            <a:off x="5867179" y="2485110"/>
            <a:ext cx="5373371" cy="3638495"/>
          </a:xfrm>
          <a:prstGeom prst="rect">
            <a:avLst/>
          </a:prstGeom>
        </p:spPr>
      </p:pic>
    </p:spTree>
    <p:extLst>
      <p:ext uri="{BB962C8B-B14F-4D97-AF65-F5344CB8AC3E}">
        <p14:creationId xmlns:p14="http://schemas.microsoft.com/office/powerpoint/2010/main" val="979524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5C0C565-BA75-2330-84BA-86081B07AFB4}"/>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CC8EE075-5231-70E6-4627-A32649C5E8D2}"/>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73B49CE4-5622-C427-1617-BF5741FD42A9}"/>
              </a:ext>
            </a:extLst>
          </p:cNvPr>
          <p:cNvSpPr txBox="1"/>
          <p:nvPr/>
        </p:nvSpPr>
        <p:spPr>
          <a:xfrm>
            <a:off x="417864" y="102580"/>
            <a:ext cx="11530787" cy="923299"/>
          </a:xfrm>
          <a:prstGeom prst="rect">
            <a:avLst/>
          </a:prstGeom>
          <a:noFill/>
          <a:ln>
            <a:noFill/>
          </a:ln>
        </p:spPr>
        <p:txBody>
          <a:bodyPr spcFirstLastPara="1" wrap="square" lIns="91425" tIns="91425" rIns="91425" bIns="91425" anchor="t" anchorCtr="0">
            <a:spAutoFit/>
          </a:bodyPr>
          <a:lstStyle/>
          <a:p>
            <a:r>
              <a:rPr lang="en-US" sz="4800" b="1" dirty="0"/>
              <a:t>Performance results</a:t>
            </a:r>
            <a:endParaRPr sz="4500" b="1" dirty="0">
              <a:solidFill>
                <a:schemeClr val="dk1"/>
              </a:solidFill>
            </a:endParaRPr>
          </a:p>
        </p:txBody>
      </p:sp>
      <p:sp>
        <p:nvSpPr>
          <p:cNvPr id="2" name="Slide Number Placeholder 1">
            <a:extLst>
              <a:ext uri="{FF2B5EF4-FFF2-40B4-BE49-F238E27FC236}">
                <a16:creationId xmlns:a16="http://schemas.microsoft.com/office/drawing/2014/main" id="{B8972F5B-3CE2-13BF-D5EA-4661EAFDD69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14</a:t>
            </a:fld>
            <a:endParaRPr lang="en-US" dirty="0"/>
          </a:p>
        </p:txBody>
      </p:sp>
      <p:graphicFrame>
        <p:nvGraphicFramePr>
          <p:cNvPr id="3" name="Table 2">
            <a:extLst>
              <a:ext uri="{FF2B5EF4-FFF2-40B4-BE49-F238E27FC236}">
                <a16:creationId xmlns:a16="http://schemas.microsoft.com/office/drawing/2014/main" id="{2586428B-6B46-0467-8EE4-70B8929316B0}"/>
              </a:ext>
            </a:extLst>
          </p:cNvPr>
          <p:cNvGraphicFramePr>
            <a:graphicFrameLocks noGrp="1"/>
          </p:cNvGraphicFramePr>
          <p:nvPr>
            <p:extLst>
              <p:ext uri="{D42A27DB-BD31-4B8C-83A1-F6EECF244321}">
                <p14:modId xmlns:p14="http://schemas.microsoft.com/office/powerpoint/2010/main" val="1407332782"/>
              </p:ext>
            </p:extLst>
          </p:nvPr>
        </p:nvGraphicFramePr>
        <p:xfrm>
          <a:off x="1338580" y="1034328"/>
          <a:ext cx="9418320" cy="2225040"/>
        </p:xfrm>
        <a:graphic>
          <a:graphicData uri="http://schemas.openxmlformats.org/drawingml/2006/table">
            <a:tbl>
              <a:tblPr firstRow="1" bandRow="1">
                <a:tableStyleId>{5C22544A-7EE6-4342-B048-85BDC9FD1C3A}</a:tableStyleId>
              </a:tblPr>
              <a:tblGrid>
                <a:gridCol w="3139440">
                  <a:extLst>
                    <a:ext uri="{9D8B030D-6E8A-4147-A177-3AD203B41FA5}">
                      <a16:colId xmlns:a16="http://schemas.microsoft.com/office/drawing/2014/main" val="550325215"/>
                    </a:ext>
                  </a:extLst>
                </a:gridCol>
                <a:gridCol w="3627035">
                  <a:extLst>
                    <a:ext uri="{9D8B030D-6E8A-4147-A177-3AD203B41FA5}">
                      <a16:colId xmlns:a16="http://schemas.microsoft.com/office/drawing/2014/main" val="2557590795"/>
                    </a:ext>
                  </a:extLst>
                </a:gridCol>
                <a:gridCol w="2651845">
                  <a:extLst>
                    <a:ext uri="{9D8B030D-6E8A-4147-A177-3AD203B41FA5}">
                      <a16:colId xmlns:a16="http://schemas.microsoft.com/office/drawing/2014/main" val="3608665150"/>
                    </a:ext>
                  </a:extLst>
                </a:gridCol>
              </a:tblGrid>
              <a:tr h="370840">
                <a:tc>
                  <a:txBody>
                    <a:bodyPr/>
                    <a:lstStyle/>
                    <a:p>
                      <a:pPr algn="ctr"/>
                      <a:r>
                        <a:rPr lang="en-US" dirty="0">
                          <a:solidFill>
                            <a:schemeClr val="tx1"/>
                          </a:solidFill>
                        </a:rPr>
                        <a:t>Metric</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Crossplane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Kubebuilder</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33101"/>
                  </a:ext>
                </a:extLst>
              </a:tr>
              <a:tr h="370840">
                <a:tc>
                  <a:txBody>
                    <a:bodyPr/>
                    <a:lstStyle/>
                    <a:p>
                      <a:pPr algn="ctr"/>
                      <a:r>
                        <a:rPr lang="en-US" dirty="0">
                          <a:solidFill>
                            <a:schemeClr val="tx1"/>
                          </a:solidFill>
                        </a:rPr>
                        <a:t>Lines of code written*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270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943250"/>
                  </a:ext>
                </a:extLst>
              </a:tr>
              <a:tr h="370840">
                <a:tc>
                  <a:txBody>
                    <a:bodyPr/>
                    <a:lstStyle/>
                    <a:p>
                      <a:pPr algn="ctr"/>
                      <a:r>
                        <a:rPr lang="en-US" dirty="0">
                          <a:solidFill>
                            <a:schemeClr val="tx1"/>
                          </a:solidFill>
                        </a:rPr>
                        <a:t>Manually edited files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879072"/>
                  </a:ext>
                </a:extLst>
              </a:tr>
              <a:tr h="370840">
                <a:tc>
                  <a:txBody>
                    <a:bodyPr/>
                    <a:lstStyle/>
                    <a:p>
                      <a:pPr algn="ctr"/>
                      <a:r>
                        <a:rPr lang="en-US" dirty="0">
                          <a:solidFill>
                            <a:schemeClr val="tx1"/>
                          </a:solidFill>
                        </a:rPr>
                        <a:t>Avg time to ready state (seconds)**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687874"/>
                  </a:ext>
                </a:extLst>
              </a:tr>
              <a:tr h="370840">
                <a:tc>
                  <a:txBody>
                    <a:bodyPr/>
                    <a:lstStyle/>
                    <a:p>
                      <a:pPr algn="ctr"/>
                      <a:r>
                        <a:rPr lang="it-IT" dirty="0">
                          <a:solidFill>
                            <a:schemeClr val="tx1"/>
                          </a:solidFill>
                        </a:rPr>
                        <a:t>At </a:t>
                      </a:r>
                      <a:r>
                        <a:rPr lang="it-IT" dirty="0" err="1">
                          <a:solidFill>
                            <a:schemeClr val="tx1"/>
                          </a:solidFill>
                        </a:rPr>
                        <a:t>rest</a:t>
                      </a:r>
                      <a:r>
                        <a:rPr lang="it-IT" dirty="0">
                          <a:solidFill>
                            <a:schemeClr val="tx1"/>
                          </a:solidFill>
                        </a:rPr>
                        <a:t> CPU </a:t>
                      </a:r>
                      <a:r>
                        <a:rPr lang="it-IT" dirty="0" err="1">
                          <a:solidFill>
                            <a:schemeClr val="tx1"/>
                          </a:solidFill>
                        </a:rPr>
                        <a:t>usage</a:t>
                      </a:r>
                      <a:r>
                        <a:rPr lang="it-IT" dirty="0">
                          <a:solidFill>
                            <a:schemeClr val="tx1"/>
                          </a:solidFill>
                        </a:rPr>
                        <a:t> (</a:t>
                      </a:r>
                      <a:r>
                        <a:rPr lang="it-IT" dirty="0" err="1">
                          <a:solidFill>
                            <a:schemeClr val="tx1"/>
                          </a:solidFill>
                        </a:rPr>
                        <a:t>millicores</a:t>
                      </a:r>
                      <a:r>
                        <a:rPr lang="it-IT" dirty="0">
                          <a:solidFill>
                            <a:schemeClr val="tx1"/>
                          </a:solidFill>
                        </a:rPr>
                        <a:t>)</a:t>
                      </a:r>
                      <a:endParaRPr 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1.73</a:t>
                      </a:r>
                      <a:endParaRPr 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302480"/>
                  </a:ext>
                </a:extLst>
              </a:tr>
              <a:tr h="370840">
                <a:tc>
                  <a:txBody>
                    <a:bodyPr/>
                    <a:lstStyle/>
                    <a:p>
                      <a:pPr algn="ctr"/>
                      <a:r>
                        <a:rPr lang="it-IT" dirty="0">
                          <a:solidFill>
                            <a:schemeClr val="tx1"/>
                          </a:solidFill>
                        </a:rPr>
                        <a:t>At </a:t>
                      </a:r>
                      <a:r>
                        <a:rPr lang="it-IT" dirty="0" err="1">
                          <a:solidFill>
                            <a:schemeClr val="tx1"/>
                          </a:solidFill>
                        </a:rPr>
                        <a:t>rest</a:t>
                      </a:r>
                      <a:r>
                        <a:rPr lang="it-IT" dirty="0">
                          <a:solidFill>
                            <a:schemeClr val="tx1"/>
                          </a:solidFill>
                        </a:rPr>
                        <a:t> RAM </a:t>
                      </a:r>
                      <a:r>
                        <a:rPr lang="it-IT" dirty="0" err="1">
                          <a:solidFill>
                            <a:schemeClr val="tx1"/>
                          </a:solidFill>
                        </a:rPr>
                        <a:t>usage</a:t>
                      </a:r>
                      <a:r>
                        <a:rPr lang="it-IT" dirty="0">
                          <a:solidFill>
                            <a:schemeClr val="tx1"/>
                          </a:solidFill>
                        </a:rPr>
                        <a:t> (</a:t>
                      </a:r>
                      <a:r>
                        <a:rPr lang="it-IT" dirty="0" err="1">
                          <a:solidFill>
                            <a:schemeClr val="tx1"/>
                          </a:solidFill>
                        </a:rPr>
                        <a:t>MiB</a:t>
                      </a:r>
                      <a:r>
                        <a:rPr lang="it-IT" dirty="0">
                          <a:solidFill>
                            <a:schemeClr val="tx1"/>
                          </a:solidFill>
                        </a:rPr>
                        <a:t>)</a:t>
                      </a:r>
                      <a:endParaRPr 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r>
                        <a:rPr lang="it-IT" dirty="0">
                          <a:solidFill>
                            <a:schemeClr val="tx1"/>
                          </a:solidFill>
                        </a:rPr>
                        <a:t>384</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dirty="0">
                          <a:solidFill>
                            <a:schemeClr val="tx1"/>
                          </a:solidFill>
                        </a:rPr>
                        <a:t>51.5</a:t>
                      </a:r>
                      <a:endParaRPr 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72486171"/>
                  </a:ext>
                </a:extLst>
              </a:tr>
            </a:tbl>
          </a:graphicData>
        </a:graphic>
      </p:graphicFrame>
      <p:sp>
        <p:nvSpPr>
          <p:cNvPr id="4" name="TextBox 3">
            <a:extLst>
              <a:ext uri="{FF2B5EF4-FFF2-40B4-BE49-F238E27FC236}">
                <a16:creationId xmlns:a16="http://schemas.microsoft.com/office/drawing/2014/main" id="{285F7518-80E1-DE74-E42D-94697D71DB37}"/>
              </a:ext>
            </a:extLst>
          </p:cNvPr>
          <p:cNvSpPr txBox="1"/>
          <p:nvPr/>
        </p:nvSpPr>
        <p:spPr>
          <a:xfrm>
            <a:off x="736600" y="5370425"/>
            <a:ext cx="11212051" cy="1384995"/>
          </a:xfrm>
          <a:prstGeom prst="rect">
            <a:avLst/>
          </a:prstGeom>
          <a:noFill/>
        </p:spPr>
        <p:txBody>
          <a:bodyPr wrap="square" rtlCol="0">
            <a:spAutoFit/>
          </a:bodyPr>
          <a:lstStyle/>
          <a:p>
            <a:r>
              <a:rPr lang="en-US" dirty="0"/>
              <a:t>* Excluding generated code and provider installation/configuration manifests. The metric is indicative only since Crossplane shifts complexity to providers and platform configuration, while Kubebuilder concentrates complexity in the controller code.</a:t>
            </a:r>
          </a:p>
          <a:p>
            <a:pPr marL="285750" indent="-285750">
              <a:buFont typeface="Arial" panose="020B0604020202020204" pitchFamily="34" charset="0"/>
              <a:buChar char="•"/>
            </a:pPr>
            <a:endParaRPr lang="en-US" dirty="0"/>
          </a:p>
          <a:p>
            <a:r>
              <a:rPr lang="en-US" dirty="0"/>
              <a:t>** The measured time is the elapsed time between applying the DataStream resource and observing the expected ready state. Ready state means that the framework-reported DataStream/Claim is Ready and the expected Kafka topic, </a:t>
            </a:r>
            <a:r>
              <a:rPr lang="en-US" dirty="0" err="1"/>
              <a:t>ConfigMap</a:t>
            </a:r>
            <a:r>
              <a:rPr lang="en-US" dirty="0"/>
              <a:t> and Deployment are observable.</a:t>
            </a:r>
          </a:p>
          <a:p>
            <a:endParaRPr lang="en-US" dirty="0"/>
          </a:p>
        </p:txBody>
      </p:sp>
      <p:sp>
        <p:nvSpPr>
          <p:cNvPr id="5" name="TextBox 4">
            <a:extLst>
              <a:ext uri="{FF2B5EF4-FFF2-40B4-BE49-F238E27FC236}">
                <a16:creationId xmlns:a16="http://schemas.microsoft.com/office/drawing/2014/main" id="{BBE27323-D7BF-C812-F7A4-B9797EA4F2B0}"/>
              </a:ext>
            </a:extLst>
          </p:cNvPr>
          <p:cNvSpPr txBox="1"/>
          <p:nvPr/>
        </p:nvSpPr>
        <p:spPr>
          <a:xfrm>
            <a:off x="736600" y="3406425"/>
            <a:ext cx="11037536" cy="2246769"/>
          </a:xfrm>
          <a:prstGeom prst="rect">
            <a:avLst/>
          </a:prstGeom>
          <a:noFill/>
        </p:spPr>
        <p:txBody>
          <a:bodyPr wrap="square" rtlCol="0">
            <a:spAutoFit/>
          </a:bodyPr>
          <a:lstStyle/>
          <a:p>
            <a:r>
              <a:rPr lang="en-US" dirty="0"/>
              <a:t>Environment:</a:t>
            </a:r>
          </a:p>
          <a:p>
            <a:pPr marL="285750" indent="-285750">
              <a:buFontTx/>
              <a:buChar char="-"/>
            </a:pPr>
            <a:r>
              <a:rPr lang="en-US" dirty="0"/>
              <a:t>Debian VPS: 8 vCPU, 8 GB RAM, 75GB SSD </a:t>
            </a:r>
          </a:p>
          <a:p>
            <a:pPr marL="285750" indent="-285750">
              <a:buFontTx/>
              <a:buChar char="-"/>
            </a:pPr>
            <a:r>
              <a:rPr lang="en-US" dirty="0"/>
              <a:t>Local k3s cluster</a:t>
            </a:r>
          </a:p>
          <a:p>
            <a:pPr marL="285750" indent="-285750">
              <a:buFontTx/>
              <a:buChar char="-"/>
            </a:pPr>
            <a:r>
              <a:rPr lang="en-US" dirty="0"/>
              <a:t>Single Kafka broker</a:t>
            </a:r>
          </a:p>
          <a:p>
            <a:pPr marL="285750" indent="-285750">
              <a:buFontTx/>
              <a:buChar char="-"/>
            </a:pPr>
            <a:r>
              <a:rPr lang="en-US" dirty="0"/>
              <a:t>Controllers/providers already running</a:t>
            </a:r>
          </a:p>
          <a:p>
            <a:pPr marL="285750" indent="-285750">
              <a:buFontTx/>
              <a:buChar char="-"/>
            </a:pPr>
            <a:r>
              <a:rPr lang="en-US" dirty="0"/>
              <a:t>Crossplane components running in-cluster</a:t>
            </a:r>
          </a:p>
          <a:p>
            <a:pPr marL="285750" indent="-285750">
              <a:buFontTx/>
              <a:buChar char="-"/>
            </a:pPr>
            <a:r>
              <a:rPr lang="en-US" dirty="0"/>
              <a:t>Kubebuilder controller running as host process with ’make run’</a:t>
            </a:r>
          </a:p>
          <a:p>
            <a:pPr marL="285750" indent="-285750">
              <a:buFontTx/>
              <a:buChar char="-"/>
            </a:pPr>
            <a:r>
              <a:rPr lang="en-US" dirty="0"/>
              <a:t>Metrics collected through `</a:t>
            </a:r>
            <a:r>
              <a:rPr lang="en-US" dirty="0" err="1"/>
              <a:t>kubectl</a:t>
            </a:r>
            <a:r>
              <a:rPr lang="en-US" dirty="0"/>
              <a:t> top` for pods and ’/proc’ for Kubebuilder</a:t>
            </a:r>
          </a:p>
          <a:p>
            <a:endParaRPr lang="en-US" dirty="0"/>
          </a:p>
          <a:p>
            <a:endParaRPr lang="en-US" dirty="0"/>
          </a:p>
        </p:txBody>
      </p:sp>
    </p:spTree>
    <p:extLst>
      <p:ext uri="{BB962C8B-B14F-4D97-AF65-F5344CB8AC3E}">
        <p14:creationId xmlns:p14="http://schemas.microsoft.com/office/powerpoint/2010/main" val="315862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0E5E7A41-B7D7-4443-03B2-EEE22C6943E7}"/>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BAC122B-3B91-81B1-B114-1F9133885FEB}"/>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5AD214F5-DF90-09A2-D098-0EA8887871CF}"/>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Resources consumption</a:t>
            </a:r>
            <a:endParaRPr sz="4500" b="1" dirty="0">
              <a:solidFill>
                <a:schemeClr val="dk1"/>
              </a:solidFill>
            </a:endParaRPr>
          </a:p>
        </p:txBody>
      </p:sp>
      <p:sp>
        <p:nvSpPr>
          <p:cNvPr id="2" name="Slide Number Placeholder 1">
            <a:extLst>
              <a:ext uri="{FF2B5EF4-FFF2-40B4-BE49-F238E27FC236}">
                <a16:creationId xmlns:a16="http://schemas.microsoft.com/office/drawing/2014/main" id="{301F6968-E35E-40C3-E35D-D926EA4498D5}"/>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15</a:t>
            </a:fld>
            <a:endParaRPr lang="en-US" dirty="0"/>
          </a:p>
        </p:txBody>
      </p:sp>
      <p:sp>
        <p:nvSpPr>
          <p:cNvPr id="6" name="TextBox 5">
            <a:extLst>
              <a:ext uri="{FF2B5EF4-FFF2-40B4-BE49-F238E27FC236}">
                <a16:creationId xmlns:a16="http://schemas.microsoft.com/office/drawing/2014/main" id="{E5E43C8A-1BE9-48A3-5CC3-76197BD19F8C}"/>
              </a:ext>
            </a:extLst>
          </p:cNvPr>
          <p:cNvSpPr txBox="1"/>
          <p:nvPr/>
        </p:nvSpPr>
        <p:spPr>
          <a:xfrm>
            <a:off x="417864" y="5220148"/>
            <a:ext cx="6973536" cy="307777"/>
          </a:xfrm>
          <a:prstGeom prst="rect">
            <a:avLst/>
          </a:prstGeom>
          <a:noFill/>
        </p:spPr>
        <p:txBody>
          <a:bodyPr wrap="square">
            <a:spAutoFit/>
          </a:bodyPr>
          <a:lstStyle/>
          <a:p>
            <a:r>
              <a:rPr lang="en-US" dirty="0"/>
              <a:t>X-axis: batch size, the number of DataStream resources created together</a:t>
            </a:r>
          </a:p>
        </p:txBody>
      </p:sp>
      <p:sp>
        <p:nvSpPr>
          <p:cNvPr id="8" name="TextBox 7">
            <a:extLst>
              <a:ext uri="{FF2B5EF4-FFF2-40B4-BE49-F238E27FC236}">
                <a16:creationId xmlns:a16="http://schemas.microsoft.com/office/drawing/2014/main" id="{2B85FE6D-1305-58CA-88BD-00BD5540A0A0}"/>
              </a:ext>
            </a:extLst>
          </p:cNvPr>
          <p:cNvSpPr txBox="1"/>
          <p:nvPr/>
        </p:nvSpPr>
        <p:spPr>
          <a:xfrm>
            <a:off x="417864" y="5445464"/>
            <a:ext cx="10006296" cy="307777"/>
          </a:xfrm>
          <a:prstGeom prst="rect">
            <a:avLst/>
          </a:prstGeom>
          <a:noFill/>
        </p:spPr>
        <p:txBody>
          <a:bodyPr wrap="square">
            <a:spAutoFit/>
          </a:bodyPr>
          <a:lstStyle/>
          <a:p>
            <a:r>
              <a:rPr lang="en-US" dirty="0"/>
              <a:t>Y-axis: average CPU rate (</a:t>
            </a:r>
            <a:r>
              <a:rPr lang="en-US" dirty="0" err="1"/>
              <a:t>millicores</a:t>
            </a:r>
            <a:r>
              <a:rPr lang="en-US" dirty="0"/>
              <a:t>)/RAM usage(MiB) each component sustained while it was actively reconciling that batch </a:t>
            </a:r>
          </a:p>
        </p:txBody>
      </p:sp>
      <p:sp>
        <p:nvSpPr>
          <p:cNvPr id="11" name="TextBox 10">
            <a:extLst>
              <a:ext uri="{FF2B5EF4-FFF2-40B4-BE49-F238E27FC236}">
                <a16:creationId xmlns:a16="http://schemas.microsoft.com/office/drawing/2014/main" id="{8600C20A-8A4F-0999-C9CB-49FC6EE615AF}"/>
              </a:ext>
            </a:extLst>
          </p:cNvPr>
          <p:cNvSpPr txBox="1"/>
          <p:nvPr/>
        </p:nvSpPr>
        <p:spPr>
          <a:xfrm>
            <a:off x="417864" y="5798083"/>
            <a:ext cx="11240736" cy="523220"/>
          </a:xfrm>
          <a:prstGeom prst="rect">
            <a:avLst/>
          </a:prstGeom>
          <a:noFill/>
        </p:spPr>
        <p:txBody>
          <a:bodyPr wrap="square">
            <a:spAutoFit/>
          </a:bodyPr>
          <a:lstStyle/>
          <a:p>
            <a:r>
              <a:rPr lang="en-US" dirty="0"/>
              <a:t>*Crossplane measurements include the control-plane components used in the experiment: Crossplane core, provider-</a:t>
            </a:r>
            <a:r>
              <a:rPr lang="en-US" dirty="0" err="1"/>
              <a:t>kafka</a:t>
            </a:r>
            <a:r>
              <a:rPr lang="en-US" dirty="0"/>
              <a:t>, provider-</a:t>
            </a:r>
            <a:r>
              <a:rPr lang="en-US" dirty="0" err="1"/>
              <a:t>kubernetes</a:t>
            </a:r>
            <a:r>
              <a:rPr lang="en-US" dirty="0"/>
              <a:t> and function-patch-and-transform.</a:t>
            </a:r>
          </a:p>
        </p:txBody>
      </p:sp>
      <p:graphicFrame>
        <p:nvGraphicFramePr>
          <p:cNvPr id="12" name="Chart 11">
            <a:extLst>
              <a:ext uri="{FF2B5EF4-FFF2-40B4-BE49-F238E27FC236}">
                <a16:creationId xmlns:a16="http://schemas.microsoft.com/office/drawing/2014/main" id="{66AA30DF-8AA8-4E99-ACB0-E0C43003BE3A}"/>
              </a:ext>
            </a:extLst>
          </p:cNvPr>
          <p:cNvGraphicFramePr>
            <a:graphicFrameLocks/>
          </p:cNvGraphicFramePr>
          <p:nvPr>
            <p:extLst>
              <p:ext uri="{D42A27DB-BD31-4B8C-83A1-F6EECF244321}">
                <p14:modId xmlns:p14="http://schemas.microsoft.com/office/powerpoint/2010/main" val="1219304491"/>
              </p:ext>
            </p:extLst>
          </p:nvPr>
        </p:nvGraphicFramePr>
        <p:xfrm>
          <a:off x="6096000" y="1697826"/>
          <a:ext cx="5639925" cy="30633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B9E46A87-AC35-4752-948D-302F9E6FE124}"/>
              </a:ext>
            </a:extLst>
          </p:cNvPr>
          <p:cNvGraphicFramePr>
            <a:graphicFrameLocks/>
          </p:cNvGraphicFramePr>
          <p:nvPr>
            <p:extLst>
              <p:ext uri="{D42A27DB-BD31-4B8C-83A1-F6EECF244321}">
                <p14:modId xmlns:p14="http://schemas.microsoft.com/office/powerpoint/2010/main" val="1121545270"/>
              </p:ext>
            </p:extLst>
          </p:nvPr>
        </p:nvGraphicFramePr>
        <p:xfrm>
          <a:off x="243349" y="1742701"/>
          <a:ext cx="5639925" cy="299626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486822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4B0ED4B-129A-9E73-AF26-87FFB725125C}"/>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48021BD9-D713-47B1-D9A1-FC76A227B7A5}"/>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1680F885-061E-ED93-58D9-EFE4F3D25B2C}"/>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Resources: Crossplane components</a:t>
            </a:r>
            <a:endParaRPr sz="4500" b="1" dirty="0">
              <a:solidFill>
                <a:schemeClr val="dk1"/>
              </a:solidFill>
            </a:endParaRPr>
          </a:p>
        </p:txBody>
      </p:sp>
      <p:sp>
        <p:nvSpPr>
          <p:cNvPr id="2" name="Slide Number Placeholder 1">
            <a:extLst>
              <a:ext uri="{FF2B5EF4-FFF2-40B4-BE49-F238E27FC236}">
                <a16:creationId xmlns:a16="http://schemas.microsoft.com/office/drawing/2014/main" id="{B7E8F070-0C48-F773-1A0F-5844B40EDAC2}"/>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16</a:t>
            </a:fld>
            <a:endParaRPr lang="en-US" dirty="0"/>
          </a:p>
        </p:txBody>
      </p:sp>
      <p:sp>
        <p:nvSpPr>
          <p:cNvPr id="6" name="TextBox 5">
            <a:extLst>
              <a:ext uri="{FF2B5EF4-FFF2-40B4-BE49-F238E27FC236}">
                <a16:creationId xmlns:a16="http://schemas.microsoft.com/office/drawing/2014/main" id="{07CE3384-32DA-04CC-85AC-DC84F52F0C2B}"/>
              </a:ext>
            </a:extLst>
          </p:cNvPr>
          <p:cNvSpPr txBox="1"/>
          <p:nvPr/>
        </p:nvSpPr>
        <p:spPr>
          <a:xfrm>
            <a:off x="417864" y="5374038"/>
            <a:ext cx="6973536" cy="307777"/>
          </a:xfrm>
          <a:prstGeom prst="rect">
            <a:avLst/>
          </a:prstGeom>
          <a:noFill/>
        </p:spPr>
        <p:txBody>
          <a:bodyPr wrap="square">
            <a:spAutoFit/>
          </a:bodyPr>
          <a:lstStyle/>
          <a:p>
            <a:r>
              <a:rPr lang="en-US" dirty="0"/>
              <a:t>X-axis: batch size, the number of DataStream resources created together</a:t>
            </a:r>
          </a:p>
        </p:txBody>
      </p:sp>
      <p:sp>
        <p:nvSpPr>
          <p:cNvPr id="8" name="TextBox 7">
            <a:extLst>
              <a:ext uri="{FF2B5EF4-FFF2-40B4-BE49-F238E27FC236}">
                <a16:creationId xmlns:a16="http://schemas.microsoft.com/office/drawing/2014/main" id="{F266D6E1-9027-C3A6-CE1B-A4000332AD6C}"/>
              </a:ext>
            </a:extLst>
          </p:cNvPr>
          <p:cNvSpPr txBox="1"/>
          <p:nvPr/>
        </p:nvSpPr>
        <p:spPr>
          <a:xfrm>
            <a:off x="417864" y="5609071"/>
            <a:ext cx="10006296" cy="307777"/>
          </a:xfrm>
          <a:prstGeom prst="rect">
            <a:avLst/>
          </a:prstGeom>
          <a:noFill/>
        </p:spPr>
        <p:txBody>
          <a:bodyPr wrap="square">
            <a:spAutoFit/>
          </a:bodyPr>
          <a:lstStyle/>
          <a:p>
            <a:r>
              <a:rPr lang="en-US" dirty="0"/>
              <a:t>Y-axis: average CPU rate (</a:t>
            </a:r>
            <a:r>
              <a:rPr lang="en-US" dirty="0" err="1"/>
              <a:t>millicores</a:t>
            </a:r>
            <a:r>
              <a:rPr lang="en-US" dirty="0"/>
              <a:t>)/RAM usage(MiB) each component sustained while it was actively reconciling that batch </a:t>
            </a:r>
          </a:p>
        </p:txBody>
      </p:sp>
      <p:graphicFrame>
        <p:nvGraphicFramePr>
          <p:cNvPr id="4" name="Chart 3">
            <a:extLst>
              <a:ext uri="{FF2B5EF4-FFF2-40B4-BE49-F238E27FC236}">
                <a16:creationId xmlns:a16="http://schemas.microsoft.com/office/drawing/2014/main" id="{EC6086F2-1913-4404-A3CB-24ABA1302FA8}"/>
              </a:ext>
            </a:extLst>
          </p:cNvPr>
          <p:cNvGraphicFramePr>
            <a:graphicFrameLocks/>
          </p:cNvGraphicFramePr>
          <p:nvPr>
            <p:extLst>
              <p:ext uri="{D42A27DB-BD31-4B8C-83A1-F6EECF244321}">
                <p14:modId xmlns:p14="http://schemas.microsoft.com/office/powerpoint/2010/main" val="1749606897"/>
              </p:ext>
            </p:extLst>
          </p:nvPr>
        </p:nvGraphicFramePr>
        <p:xfrm>
          <a:off x="0" y="1363575"/>
          <a:ext cx="5940311" cy="37754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942170A6-5AF5-40F1-8247-67A11711644D}"/>
              </a:ext>
            </a:extLst>
          </p:cNvPr>
          <p:cNvGraphicFramePr>
            <a:graphicFrameLocks/>
          </p:cNvGraphicFramePr>
          <p:nvPr>
            <p:extLst>
              <p:ext uri="{D42A27DB-BD31-4B8C-83A1-F6EECF244321}">
                <p14:modId xmlns:p14="http://schemas.microsoft.com/office/powerpoint/2010/main" val="1576914789"/>
              </p:ext>
            </p:extLst>
          </p:nvPr>
        </p:nvGraphicFramePr>
        <p:xfrm>
          <a:off x="6248673" y="1394571"/>
          <a:ext cx="6112402" cy="351948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96918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82445E98-3582-F1B6-B0D5-859D6C5ADCA1}"/>
            </a:ext>
          </a:extLst>
        </p:cNvPr>
        <p:cNvGrpSpPr/>
        <p:nvPr/>
      </p:nvGrpSpPr>
      <p:grpSpPr>
        <a:xfrm>
          <a:off x="0" y="0"/>
          <a:ext cx="0" cy="0"/>
          <a:chOff x="0" y="0"/>
          <a:chExt cx="0" cy="0"/>
        </a:xfrm>
      </p:grpSpPr>
      <p:pic>
        <p:nvPicPr>
          <p:cNvPr id="152" name="Google Shape;152;p21" title="06_LOGO-Alma-Mater-Studiorum-Universita-di-Bologna.png">
            <a:extLst>
              <a:ext uri="{FF2B5EF4-FFF2-40B4-BE49-F238E27FC236}">
                <a16:creationId xmlns:a16="http://schemas.microsoft.com/office/drawing/2014/main" id="{7ADFF05B-F270-192D-0F54-E1214E3351D5}"/>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4" name="Google Shape;146;p20">
            <a:extLst>
              <a:ext uri="{FF2B5EF4-FFF2-40B4-BE49-F238E27FC236}">
                <a16:creationId xmlns:a16="http://schemas.microsoft.com/office/drawing/2014/main" id="{E9075AD8-F07A-5BD9-08C4-17A4776A314A}"/>
              </a:ext>
            </a:extLst>
          </p:cNvPr>
          <p:cNvSpPr txBox="1"/>
          <p:nvPr/>
        </p:nvSpPr>
        <p:spPr>
          <a:xfrm>
            <a:off x="243350" y="230500"/>
            <a:ext cx="11564400" cy="877133"/>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4500" b="1" dirty="0">
                <a:solidFill>
                  <a:schemeClr val="dk1"/>
                </a:solidFill>
              </a:rPr>
              <a:t>REFERENCES</a:t>
            </a:r>
            <a:endParaRPr sz="4500" b="1" dirty="0">
              <a:solidFill>
                <a:schemeClr val="dk1"/>
              </a:solidFill>
            </a:endParaRPr>
          </a:p>
        </p:txBody>
      </p:sp>
      <p:sp>
        <p:nvSpPr>
          <p:cNvPr id="6" name="Google Shape;147;p20">
            <a:extLst>
              <a:ext uri="{FF2B5EF4-FFF2-40B4-BE49-F238E27FC236}">
                <a16:creationId xmlns:a16="http://schemas.microsoft.com/office/drawing/2014/main" id="{11EC7FAB-0D33-A444-681C-11BFCACB9FD8}"/>
              </a:ext>
            </a:extLst>
          </p:cNvPr>
          <p:cNvSpPr txBox="1"/>
          <p:nvPr/>
        </p:nvSpPr>
        <p:spPr>
          <a:xfrm>
            <a:off x="243350" y="1107633"/>
            <a:ext cx="11705300" cy="1569630"/>
          </a:xfrm>
          <a:prstGeom prst="rect">
            <a:avLst/>
          </a:prstGeom>
          <a:noFill/>
          <a:ln>
            <a:noFill/>
          </a:ln>
        </p:spPr>
        <p:txBody>
          <a:bodyPr spcFirstLastPara="1" wrap="square" lIns="91425" tIns="91425" rIns="91425" bIns="91425" anchor="t" anchorCtr="0">
            <a:spAutoFit/>
          </a:bodyPr>
          <a:lstStyle/>
          <a:p>
            <a:pPr marL="457200" lvl="0" indent="-419100">
              <a:lnSpc>
                <a:spcPct val="150000"/>
              </a:lnSpc>
              <a:buClr>
                <a:schemeClr val="dk1"/>
              </a:buClr>
              <a:buSzPts val="3000"/>
              <a:buChar char="-"/>
            </a:pPr>
            <a:r>
              <a:rPr lang="en-US" sz="2000" dirty="0">
                <a:solidFill>
                  <a:schemeClr val="dk1"/>
                </a:solidFill>
              </a:rPr>
              <a:t>The Kubebuilder Book, </a:t>
            </a:r>
            <a:r>
              <a:rPr lang="en-US" sz="2000" dirty="0">
                <a:solidFill>
                  <a:schemeClr val="dk1"/>
                </a:solidFill>
                <a:hlinkClick r:id="rId4"/>
              </a:rPr>
              <a:t>https://book.kubebuilder.io</a:t>
            </a:r>
            <a:r>
              <a:rPr lang="en-US" sz="2000" dirty="0">
                <a:solidFill>
                  <a:schemeClr val="dk1"/>
                </a:solidFill>
              </a:rPr>
              <a:t> </a:t>
            </a:r>
          </a:p>
          <a:p>
            <a:pPr marL="457200" lvl="0" indent="-419100">
              <a:lnSpc>
                <a:spcPct val="150000"/>
              </a:lnSpc>
              <a:buClr>
                <a:schemeClr val="dk1"/>
              </a:buClr>
              <a:buSzPts val="3000"/>
              <a:buChar char="-"/>
            </a:pPr>
            <a:r>
              <a:rPr lang="en-US" sz="2000" dirty="0">
                <a:solidFill>
                  <a:schemeClr val="dk1"/>
                </a:solidFill>
              </a:rPr>
              <a:t>Crossplane </a:t>
            </a:r>
            <a:r>
              <a:rPr lang="en-US" sz="2000" dirty="0"/>
              <a:t>documentation, </a:t>
            </a:r>
            <a:r>
              <a:rPr lang="en-US" sz="2000" dirty="0">
                <a:hlinkClick r:id="rId5"/>
              </a:rPr>
              <a:t>https://docs.crossplane.io/v2.3</a:t>
            </a:r>
            <a:r>
              <a:rPr lang="en-US" sz="2000" dirty="0"/>
              <a:t> </a:t>
            </a:r>
          </a:p>
          <a:p>
            <a:pPr marL="457200" lvl="0" indent="-419100">
              <a:lnSpc>
                <a:spcPct val="150000"/>
              </a:lnSpc>
              <a:buClr>
                <a:schemeClr val="dk1"/>
              </a:buClr>
              <a:buSzPts val="3000"/>
              <a:buChar char="-"/>
            </a:pPr>
            <a:r>
              <a:rPr lang="en-US" sz="2000" dirty="0" err="1"/>
              <a:t>kafka</a:t>
            </a:r>
            <a:r>
              <a:rPr lang="en-US" sz="2000" dirty="0"/>
              <a:t>-go, </a:t>
            </a:r>
            <a:r>
              <a:rPr lang="en-US" sz="2000" dirty="0">
                <a:hlinkClick r:id="rId6"/>
              </a:rPr>
              <a:t>https://github.com/segmentio/kafka-go</a:t>
            </a:r>
            <a:endParaRPr lang="en-US" sz="2000" dirty="0">
              <a:solidFill>
                <a:schemeClr val="dk1"/>
              </a:solidFill>
            </a:endParaRPr>
          </a:p>
        </p:txBody>
      </p:sp>
      <p:sp>
        <p:nvSpPr>
          <p:cNvPr id="7" name="Slide Number Placeholder 1">
            <a:extLst>
              <a:ext uri="{FF2B5EF4-FFF2-40B4-BE49-F238E27FC236}">
                <a16:creationId xmlns:a16="http://schemas.microsoft.com/office/drawing/2014/main" id="{D134595A-E608-F6CF-9C2B-5A87DBB3D7AB}"/>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17</a:t>
            </a:fld>
            <a:endParaRPr lang="en-US" dirty="0"/>
          </a:p>
        </p:txBody>
      </p:sp>
    </p:spTree>
    <p:extLst>
      <p:ext uri="{BB962C8B-B14F-4D97-AF65-F5344CB8AC3E}">
        <p14:creationId xmlns:p14="http://schemas.microsoft.com/office/powerpoint/2010/main" val="4132254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1" title="06_LOGO-Alma-Mater-Studiorum-Universita-di-Bologna.png"/>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154" name="Google Shape;154;p21"/>
          <p:cNvSpPr txBox="1"/>
          <p:nvPr/>
        </p:nvSpPr>
        <p:spPr>
          <a:xfrm>
            <a:off x="3865800" y="2573750"/>
            <a:ext cx="4460400" cy="615523"/>
          </a:xfrm>
          <a:prstGeom prst="rect">
            <a:avLst/>
          </a:prstGeom>
          <a:noFill/>
          <a:ln>
            <a:noFill/>
          </a:ln>
        </p:spPr>
        <p:txBody>
          <a:bodyPr spcFirstLastPara="1" wrap="square" lIns="91425" tIns="91425" rIns="91425" bIns="91425" anchor="t" anchorCtr="0">
            <a:spAutoFit/>
          </a:bodyPr>
          <a:lstStyle/>
          <a:p>
            <a:pPr lvl="0" algn="ctr"/>
            <a:r>
              <a:rPr lang="en-US" sz="2800" b="1" dirty="0"/>
              <a:t>Questions?</a:t>
            </a:r>
            <a:endParaRPr sz="2500" dirty="0">
              <a:solidFill>
                <a:schemeClr val="dk1"/>
              </a:solidFill>
            </a:endParaRPr>
          </a:p>
        </p:txBody>
      </p:sp>
      <p:sp>
        <p:nvSpPr>
          <p:cNvPr id="6" name="Google Shape;154;p21">
            <a:extLst>
              <a:ext uri="{FF2B5EF4-FFF2-40B4-BE49-F238E27FC236}">
                <a16:creationId xmlns:a16="http://schemas.microsoft.com/office/drawing/2014/main" id="{39B35F75-A7A6-6C01-40F4-7E5D146DEAFD}"/>
              </a:ext>
            </a:extLst>
          </p:cNvPr>
          <p:cNvSpPr txBox="1"/>
          <p:nvPr/>
        </p:nvSpPr>
        <p:spPr>
          <a:xfrm>
            <a:off x="3594100" y="5278850"/>
            <a:ext cx="5003800" cy="400079"/>
          </a:xfrm>
          <a:prstGeom prst="rect">
            <a:avLst/>
          </a:prstGeom>
          <a:noFill/>
          <a:ln>
            <a:noFill/>
          </a:ln>
        </p:spPr>
        <p:txBody>
          <a:bodyPr spcFirstLastPara="1" wrap="square" lIns="91425" tIns="91425" rIns="91425" bIns="91425" anchor="t" anchorCtr="0">
            <a:spAutoFit/>
          </a:bodyPr>
          <a:lstStyle/>
          <a:p>
            <a:pPr lvl="0" algn="ctr"/>
            <a:r>
              <a:rPr lang="en-US" b="1" dirty="0"/>
              <a:t>Thank you for your attention</a:t>
            </a:r>
            <a:endParaRPr dirty="0">
              <a:solidFill>
                <a:schemeClr val="dk1"/>
              </a:solidFill>
            </a:endParaRPr>
          </a:p>
        </p:txBody>
      </p:sp>
      <p:sp>
        <p:nvSpPr>
          <p:cNvPr id="7" name="Slide Number Placeholder 1">
            <a:extLst>
              <a:ext uri="{FF2B5EF4-FFF2-40B4-BE49-F238E27FC236}">
                <a16:creationId xmlns:a16="http://schemas.microsoft.com/office/drawing/2014/main" id="{CF4562BA-FAEA-BC93-353F-78F785E90B3E}"/>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44F1295D-CEAF-01DD-2FF0-02D278ABA7E0}"/>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3E264BA-EB34-EF9B-8031-06AE150C9C03}"/>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BD83F04F-602B-695E-812A-6E30CE072156}"/>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Crossplane Architecture</a:t>
            </a:r>
            <a:endParaRPr sz="4500" b="1" dirty="0">
              <a:solidFill>
                <a:schemeClr val="dk1"/>
              </a:solidFill>
            </a:endParaRPr>
          </a:p>
        </p:txBody>
      </p:sp>
      <p:sp>
        <p:nvSpPr>
          <p:cNvPr id="94" name="Google Shape;94;p14">
            <a:extLst>
              <a:ext uri="{FF2B5EF4-FFF2-40B4-BE49-F238E27FC236}">
                <a16:creationId xmlns:a16="http://schemas.microsoft.com/office/drawing/2014/main" id="{9A83D29C-D7E8-23BF-95D3-77B246F95709}"/>
              </a:ext>
            </a:extLst>
          </p:cNvPr>
          <p:cNvSpPr txBox="1"/>
          <p:nvPr/>
        </p:nvSpPr>
        <p:spPr>
          <a:xfrm>
            <a:off x="772510" y="1146178"/>
            <a:ext cx="11163080" cy="4062620"/>
          </a:xfrm>
          <a:prstGeom prst="rect">
            <a:avLst/>
          </a:prstGeom>
          <a:noFill/>
          <a:ln>
            <a:noFill/>
          </a:ln>
        </p:spPr>
        <p:txBody>
          <a:bodyPr spcFirstLastPara="1" wrap="square" lIns="91425" tIns="91425" rIns="91425" bIns="91425" anchor="t" anchorCtr="0">
            <a:spAutoFit/>
          </a:bodyPr>
          <a:lstStyle/>
          <a:p>
            <a:pPr marL="38100">
              <a:lnSpc>
                <a:spcPct val="150000"/>
              </a:lnSpc>
              <a:buClr>
                <a:schemeClr val="dk1"/>
              </a:buClr>
              <a:buSzPts val="3000"/>
            </a:pPr>
            <a:r>
              <a:rPr lang="en-US" sz="2800" dirty="0"/>
              <a:t>Multi-layer control plane:</a:t>
            </a:r>
          </a:p>
          <a:p>
            <a:pPr marL="38100">
              <a:lnSpc>
                <a:spcPct val="150000"/>
              </a:lnSpc>
              <a:buClr>
                <a:schemeClr val="dk1"/>
              </a:buClr>
              <a:buSzPts val="3000"/>
            </a:pPr>
            <a:r>
              <a:rPr lang="en-US" sz="2800" dirty="0">
                <a:solidFill>
                  <a:schemeClr val="dk1"/>
                </a:solidFill>
              </a:rPr>
              <a:t>	- Claim/user API</a:t>
            </a:r>
          </a:p>
          <a:p>
            <a:pPr marL="38100">
              <a:lnSpc>
                <a:spcPct val="150000"/>
              </a:lnSpc>
              <a:buClr>
                <a:schemeClr val="dk1"/>
              </a:buClr>
              <a:buSzPts val="3000"/>
            </a:pPr>
            <a:r>
              <a:rPr lang="en-US" sz="2800" dirty="0">
                <a:solidFill>
                  <a:schemeClr val="dk1"/>
                </a:solidFill>
              </a:rPr>
              <a:t>	- Composite Resource (XR)</a:t>
            </a:r>
          </a:p>
          <a:p>
            <a:pPr marL="38100">
              <a:lnSpc>
                <a:spcPct val="150000"/>
              </a:lnSpc>
              <a:buClr>
                <a:schemeClr val="dk1"/>
              </a:buClr>
              <a:buSzPts val="3000"/>
            </a:pPr>
            <a:r>
              <a:rPr lang="en-US" sz="2800" dirty="0">
                <a:solidFill>
                  <a:schemeClr val="dk1"/>
                </a:solidFill>
              </a:rPr>
              <a:t>	- Composition</a:t>
            </a:r>
          </a:p>
          <a:p>
            <a:pPr marL="38100">
              <a:lnSpc>
                <a:spcPct val="150000"/>
              </a:lnSpc>
              <a:buClr>
                <a:schemeClr val="dk1"/>
              </a:buClr>
              <a:buSzPts val="3000"/>
            </a:pPr>
            <a:r>
              <a:rPr lang="en-US" sz="2800" dirty="0">
                <a:solidFill>
                  <a:schemeClr val="dk1"/>
                </a:solidFill>
              </a:rPr>
              <a:t>	- Managed Resources</a:t>
            </a:r>
          </a:p>
          <a:p>
            <a:pPr marL="38100">
              <a:lnSpc>
                <a:spcPct val="150000"/>
              </a:lnSpc>
              <a:buClr>
                <a:schemeClr val="dk1"/>
              </a:buClr>
              <a:buSzPts val="3000"/>
            </a:pPr>
            <a:r>
              <a:rPr lang="en-US" sz="2800" dirty="0">
                <a:solidFill>
                  <a:schemeClr val="dk1"/>
                </a:solidFill>
              </a:rPr>
              <a:t>	- Providers (to access external systems)</a:t>
            </a:r>
          </a:p>
        </p:txBody>
      </p:sp>
      <p:sp>
        <p:nvSpPr>
          <p:cNvPr id="2" name="Slide Number Placeholder 1">
            <a:extLst>
              <a:ext uri="{FF2B5EF4-FFF2-40B4-BE49-F238E27FC236}">
                <a16:creationId xmlns:a16="http://schemas.microsoft.com/office/drawing/2014/main" id="{6F40A7FB-AE33-B445-B957-66C3599B064A}"/>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19</a:t>
            </a:fld>
            <a:endParaRPr lang="en-US" dirty="0"/>
          </a:p>
        </p:txBody>
      </p:sp>
      <p:sp>
        <p:nvSpPr>
          <p:cNvPr id="4" name="Google Shape;94;p14">
            <a:extLst>
              <a:ext uri="{FF2B5EF4-FFF2-40B4-BE49-F238E27FC236}">
                <a16:creationId xmlns:a16="http://schemas.microsoft.com/office/drawing/2014/main" id="{03EBC77E-2429-A9C1-77A7-4F1948DA7B82}"/>
              </a:ext>
            </a:extLst>
          </p:cNvPr>
          <p:cNvSpPr txBox="1"/>
          <p:nvPr/>
        </p:nvSpPr>
        <p:spPr>
          <a:xfrm>
            <a:off x="772510" y="5322989"/>
            <a:ext cx="11163080" cy="830966"/>
          </a:xfrm>
          <a:prstGeom prst="rect">
            <a:avLst/>
          </a:prstGeom>
          <a:noFill/>
          <a:ln>
            <a:noFill/>
          </a:ln>
        </p:spPr>
        <p:txBody>
          <a:bodyPr spcFirstLastPara="1" wrap="square" lIns="91425" tIns="91425" rIns="91425" bIns="91425" anchor="t" anchorCtr="0">
            <a:spAutoFit/>
          </a:bodyPr>
          <a:lstStyle/>
          <a:p>
            <a:pPr marL="38100">
              <a:lnSpc>
                <a:spcPct val="150000"/>
              </a:lnSpc>
              <a:buClr>
                <a:schemeClr val="dk1"/>
              </a:buClr>
              <a:buSzPts val="3000"/>
            </a:pPr>
            <a:r>
              <a:rPr lang="en-US" sz="2800" dirty="0"/>
              <a:t>Each layer has its own </a:t>
            </a:r>
            <a:r>
              <a:rPr lang="en-US" sz="2800" b="1" dirty="0"/>
              <a:t>controller and reconciliation loop</a:t>
            </a:r>
            <a:endParaRPr lang="en-US" sz="2800" dirty="0">
              <a:solidFill>
                <a:schemeClr val="dk1"/>
              </a:solidFill>
            </a:endParaRPr>
          </a:p>
        </p:txBody>
      </p:sp>
      <p:pic>
        <p:nvPicPr>
          <p:cNvPr id="7" name="Picture 6">
            <a:extLst>
              <a:ext uri="{FF2B5EF4-FFF2-40B4-BE49-F238E27FC236}">
                <a16:creationId xmlns:a16="http://schemas.microsoft.com/office/drawing/2014/main" id="{507824C5-DEE0-8629-1E80-338056977982}"/>
              </a:ext>
            </a:extLst>
          </p:cNvPr>
          <p:cNvPicPr>
            <a:picLocks noChangeAspect="1"/>
          </p:cNvPicPr>
          <p:nvPr/>
        </p:nvPicPr>
        <p:blipFill>
          <a:blip r:embed="rId4"/>
          <a:srcRect r="83032"/>
          <a:stretch>
            <a:fillRect/>
          </a:stretch>
        </p:blipFill>
        <p:spPr>
          <a:xfrm>
            <a:off x="10443872" y="160671"/>
            <a:ext cx="1491718" cy="2639093"/>
          </a:xfrm>
          <a:prstGeom prst="rect">
            <a:avLst/>
          </a:prstGeom>
        </p:spPr>
      </p:pic>
    </p:spTree>
    <p:extLst>
      <p:ext uri="{BB962C8B-B14F-4D97-AF65-F5344CB8AC3E}">
        <p14:creationId xmlns:p14="http://schemas.microsoft.com/office/powerpoint/2010/main" val="2952135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3F165BBC-9C21-5683-175A-8A18ACC93D88}"/>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631132D7-91D1-C51A-8746-C0C7D8D3E954}"/>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F4C1AAB6-2A79-3F83-A704-6178EF8D349C}"/>
              </a:ext>
            </a:extLst>
          </p:cNvPr>
          <p:cNvSpPr txBox="1"/>
          <p:nvPr/>
        </p:nvSpPr>
        <p:spPr>
          <a:xfrm>
            <a:off x="243349" y="230500"/>
            <a:ext cx="10997201" cy="923299"/>
          </a:xfrm>
          <a:prstGeom prst="rect">
            <a:avLst/>
          </a:prstGeom>
          <a:noFill/>
          <a:ln>
            <a:noFill/>
          </a:ln>
        </p:spPr>
        <p:txBody>
          <a:bodyPr spcFirstLastPara="1" wrap="square" lIns="91425" tIns="91425" rIns="91425" bIns="91425" anchor="t" anchorCtr="0">
            <a:spAutoFit/>
          </a:bodyPr>
          <a:lstStyle/>
          <a:p>
            <a:r>
              <a:rPr lang="en-US" sz="4800" b="1" dirty="0"/>
              <a:t>Kubebuilder Architecture</a:t>
            </a:r>
          </a:p>
        </p:txBody>
      </p:sp>
      <p:sp>
        <p:nvSpPr>
          <p:cNvPr id="94" name="Google Shape;94;p14">
            <a:extLst>
              <a:ext uri="{FF2B5EF4-FFF2-40B4-BE49-F238E27FC236}">
                <a16:creationId xmlns:a16="http://schemas.microsoft.com/office/drawing/2014/main" id="{3F09DEFA-DBC4-75A5-3BFC-8FD9C4153579}"/>
              </a:ext>
            </a:extLst>
          </p:cNvPr>
          <p:cNvSpPr txBox="1"/>
          <p:nvPr/>
        </p:nvSpPr>
        <p:spPr>
          <a:xfrm>
            <a:off x="785571" y="1153799"/>
            <a:ext cx="11163080" cy="2123628"/>
          </a:xfrm>
          <a:prstGeom prst="rect">
            <a:avLst/>
          </a:prstGeom>
          <a:noFill/>
          <a:ln>
            <a:noFill/>
          </a:ln>
        </p:spPr>
        <p:txBody>
          <a:bodyPr spcFirstLastPara="1" wrap="square" lIns="91425" tIns="91425" rIns="91425" bIns="91425" anchor="t" anchorCtr="0">
            <a:spAutoFit/>
          </a:bodyPr>
          <a:lstStyle/>
          <a:p>
            <a:pPr marL="38100">
              <a:lnSpc>
                <a:spcPct val="150000"/>
              </a:lnSpc>
              <a:buClr>
                <a:schemeClr val="dk1"/>
              </a:buClr>
              <a:buSzPts val="3000"/>
            </a:pPr>
            <a:r>
              <a:rPr lang="en-US" sz="2800" dirty="0"/>
              <a:t>Single-layer architecture:</a:t>
            </a:r>
          </a:p>
          <a:p>
            <a:pPr marL="38100">
              <a:lnSpc>
                <a:spcPct val="150000"/>
              </a:lnSpc>
              <a:buClr>
                <a:schemeClr val="dk1"/>
              </a:buClr>
              <a:buSzPts val="3000"/>
            </a:pPr>
            <a:r>
              <a:rPr lang="en-US" sz="2800" dirty="0">
                <a:solidFill>
                  <a:schemeClr val="dk1"/>
                </a:solidFill>
              </a:rPr>
              <a:t>	- Custom Resource (XR)</a:t>
            </a:r>
          </a:p>
          <a:p>
            <a:pPr marL="38100">
              <a:lnSpc>
                <a:spcPct val="150000"/>
              </a:lnSpc>
              <a:buClr>
                <a:schemeClr val="dk1"/>
              </a:buClr>
              <a:buSzPts val="3000"/>
            </a:pPr>
            <a:r>
              <a:rPr lang="en-US" sz="2800" dirty="0">
                <a:solidFill>
                  <a:schemeClr val="dk1"/>
                </a:solidFill>
              </a:rPr>
              <a:t>	- Controller (Reconciler)</a:t>
            </a:r>
          </a:p>
        </p:txBody>
      </p:sp>
      <p:sp>
        <p:nvSpPr>
          <p:cNvPr id="2" name="Slide Number Placeholder 1">
            <a:extLst>
              <a:ext uri="{FF2B5EF4-FFF2-40B4-BE49-F238E27FC236}">
                <a16:creationId xmlns:a16="http://schemas.microsoft.com/office/drawing/2014/main" id="{2CFA0641-CA16-99EA-27C0-2A8019C387E8}"/>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20</a:t>
            </a:fld>
            <a:endParaRPr lang="en-US" dirty="0"/>
          </a:p>
        </p:txBody>
      </p:sp>
      <p:pic>
        <p:nvPicPr>
          <p:cNvPr id="6" name="Graphic 5">
            <a:extLst>
              <a:ext uri="{FF2B5EF4-FFF2-40B4-BE49-F238E27FC236}">
                <a16:creationId xmlns:a16="http://schemas.microsoft.com/office/drawing/2014/main" id="{D7F9483E-8680-E393-9F72-E8B31A120401}"/>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1240550" y="201021"/>
            <a:ext cx="951450" cy="1467980"/>
          </a:xfrm>
          <a:prstGeom prst="rect">
            <a:avLst/>
          </a:prstGeom>
        </p:spPr>
      </p:pic>
      <p:sp>
        <p:nvSpPr>
          <p:cNvPr id="4" name="Google Shape;94;p14">
            <a:extLst>
              <a:ext uri="{FF2B5EF4-FFF2-40B4-BE49-F238E27FC236}">
                <a16:creationId xmlns:a16="http://schemas.microsoft.com/office/drawing/2014/main" id="{36118472-4DC1-FB20-CA7E-55F7C4255C21}"/>
              </a:ext>
            </a:extLst>
          </p:cNvPr>
          <p:cNvSpPr txBox="1"/>
          <p:nvPr/>
        </p:nvSpPr>
        <p:spPr>
          <a:xfrm>
            <a:off x="785571" y="3930145"/>
            <a:ext cx="11163080" cy="1046410"/>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800" dirty="0"/>
              <a:t>The controller directly interacts with the Kubernetes </a:t>
            </a:r>
            <a:r>
              <a:rPr lang="en-US" sz="2800" dirty="0" err="1"/>
              <a:t>api</a:t>
            </a:r>
            <a:r>
              <a:rPr lang="en-US" sz="2800" dirty="0"/>
              <a:t> and external systems</a:t>
            </a:r>
            <a:endParaRPr lang="en-US" sz="2800" dirty="0">
              <a:solidFill>
                <a:schemeClr val="dk1"/>
              </a:solidFill>
            </a:endParaRPr>
          </a:p>
        </p:txBody>
      </p:sp>
    </p:spTree>
    <p:extLst>
      <p:ext uri="{BB962C8B-B14F-4D97-AF65-F5344CB8AC3E}">
        <p14:creationId xmlns:p14="http://schemas.microsoft.com/office/powerpoint/2010/main" val="1868614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29DE1EF3-EF8E-5242-9A95-400755AF1877}"/>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D9990C09-1C4F-18F1-0F9C-938A7DEF001F}"/>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Resource Management</a:t>
            </a:r>
          </a:p>
        </p:txBody>
      </p:sp>
      <p:sp>
        <p:nvSpPr>
          <p:cNvPr id="2" name="Slide Number Placeholder 1">
            <a:extLst>
              <a:ext uri="{FF2B5EF4-FFF2-40B4-BE49-F238E27FC236}">
                <a16:creationId xmlns:a16="http://schemas.microsoft.com/office/drawing/2014/main" id="{110134A5-2785-AD5D-3453-D6CFECC88493}"/>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21</a:t>
            </a:fld>
            <a:endParaRPr lang="en-US" dirty="0"/>
          </a:p>
        </p:txBody>
      </p:sp>
      <p:pic>
        <p:nvPicPr>
          <p:cNvPr id="6" name="Graphic 5">
            <a:extLst>
              <a:ext uri="{FF2B5EF4-FFF2-40B4-BE49-F238E27FC236}">
                <a16:creationId xmlns:a16="http://schemas.microsoft.com/office/drawing/2014/main" id="{4CB476F8-212C-DD8A-0F14-C70F8CE893F4}"/>
              </a:ext>
            </a:extLst>
          </p:cNvPr>
          <p:cNvPicPr>
            <a:picLocks noChangeAspect="1"/>
          </p:cNvPicPr>
          <p:nvPr/>
        </p:nvPicPr>
        <p:blipFill>
          <a:blip>
            <a:extLst>
              <a:ext uri="{96DAC541-7B7A-43D3-8B79-37D633B846F1}">
                <asvg:svgBlip xmlns:asvg="http://schemas.microsoft.com/office/drawing/2016/SVG/main" r:embed="rId3"/>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CCE645EE-6476-95AD-3F85-8407C660AC3C}"/>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E55DB91-9A64-E528-0E86-0A9BD8610B83}"/>
              </a:ext>
            </a:extLst>
          </p:cNvPr>
          <p:cNvSpPr txBox="1"/>
          <p:nvPr/>
        </p:nvSpPr>
        <p:spPr>
          <a:xfrm>
            <a:off x="1" y="955802"/>
            <a:ext cx="5770898" cy="707886"/>
          </a:xfrm>
          <a:prstGeom prst="rect">
            <a:avLst/>
          </a:prstGeom>
          <a:noFill/>
        </p:spPr>
        <p:txBody>
          <a:bodyPr wrap="square">
            <a:spAutoFit/>
          </a:bodyPr>
          <a:lstStyle/>
          <a:p>
            <a:pPr lvl="0" algn="ctr"/>
            <a:r>
              <a:rPr lang="en-US" sz="4000" b="1" dirty="0">
                <a:solidFill>
                  <a:schemeClr val="dk1"/>
                </a:solidFill>
              </a:rPr>
              <a:t>Crossplane</a:t>
            </a:r>
          </a:p>
        </p:txBody>
      </p:sp>
      <p:pic>
        <p:nvPicPr>
          <p:cNvPr id="10" name="Picture 9">
            <a:extLst>
              <a:ext uri="{FF2B5EF4-FFF2-40B4-BE49-F238E27FC236}">
                <a16:creationId xmlns:a16="http://schemas.microsoft.com/office/drawing/2014/main" id="{5D27E14B-2B9F-28DE-9A33-78F3753A73C2}"/>
              </a:ext>
            </a:extLst>
          </p:cNvPr>
          <p:cNvPicPr>
            <a:picLocks noChangeAspect="1"/>
          </p:cNvPicPr>
          <p:nvPr/>
        </p:nvPicPr>
        <p:blipFill>
          <a:blip r:embed="rId4"/>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70A249BE-572F-48DB-902B-03FAF51811C2}"/>
              </a:ext>
            </a:extLst>
          </p:cNvPr>
          <p:cNvSpPr txBox="1"/>
          <p:nvPr/>
        </p:nvSpPr>
        <p:spPr>
          <a:xfrm>
            <a:off x="5785946" y="900806"/>
            <a:ext cx="6406053" cy="800189"/>
          </a:xfrm>
          <a:prstGeom prst="rect">
            <a:avLst/>
          </a:prstGeom>
          <a:noFill/>
          <a:ln>
            <a:noFill/>
          </a:ln>
        </p:spPr>
        <p:txBody>
          <a:bodyPr spcFirstLastPara="1" wrap="square" lIns="91425" tIns="91425" rIns="91425" bIns="91425" anchor="t" anchorCtr="0">
            <a:spAutoFit/>
          </a:bodyPr>
          <a:lstStyle/>
          <a:p>
            <a:pPr lvl="0" algn="ctr"/>
            <a:r>
              <a:rPr lang="en-US" sz="4000" b="1" dirty="0">
                <a:solidFill>
                  <a:schemeClr val="dk1"/>
                </a:solidFill>
              </a:rPr>
              <a:t>Kubebuilder</a:t>
            </a:r>
            <a:endParaRPr sz="4000" b="1" dirty="0">
              <a:solidFill>
                <a:schemeClr val="dk1"/>
              </a:solidFill>
            </a:endParaRPr>
          </a:p>
        </p:txBody>
      </p:sp>
      <p:sp>
        <p:nvSpPr>
          <p:cNvPr id="14" name="TextBox 13">
            <a:extLst>
              <a:ext uri="{FF2B5EF4-FFF2-40B4-BE49-F238E27FC236}">
                <a16:creationId xmlns:a16="http://schemas.microsoft.com/office/drawing/2014/main" id="{2170FF0A-93C0-B7CE-35B1-C4C64CC2CDBE}"/>
              </a:ext>
            </a:extLst>
          </p:cNvPr>
          <p:cNvSpPr txBox="1"/>
          <p:nvPr/>
        </p:nvSpPr>
        <p:spPr>
          <a:xfrm>
            <a:off x="528089" y="3578553"/>
            <a:ext cx="4925813" cy="369332"/>
          </a:xfrm>
          <a:prstGeom prst="rect">
            <a:avLst/>
          </a:prstGeom>
          <a:noFill/>
        </p:spPr>
        <p:txBody>
          <a:bodyPr wrap="square" rtlCol="0">
            <a:spAutoFit/>
          </a:bodyPr>
          <a:lstStyle/>
          <a:p>
            <a:r>
              <a:rPr lang="en-US" sz="1800" b="1" dirty="0"/>
              <a:t>Providers</a:t>
            </a:r>
          </a:p>
        </p:txBody>
      </p:sp>
      <p:sp>
        <p:nvSpPr>
          <p:cNvPr id="16" name="TextBox 15">
            <a:extLst>
              <a:ext uri="{FF2B5EF4-FFF2-40B4-BE49-F238E27FC236}">
                <a16:creationId xmlns:a16="http://schemas.microsoft.com/office/drawing/2014/main" id="{59E5D63B-DE24-F868-6E3A-2880CE22DB2A}"/>
              </a:ext>
            </a:extLst>
          </p:cNvPr>
          <p:cNvSpPr txBox="1"/>
          <p:nvPr/>
        </p:nvSpPr>
        <p:spPr>
          <a:xfrm>
            <a:off x="528089" y="3885697"/>
            <a:ext cx="4925821" cy="830997"/>
          </a:xfrm>
          <a:prstGeom prst="rect">
            <a:avLst/>
          </a:prstGeom>
          <a:noFill/>
        </p:spPr>
        <p:txBody>
          <a:bodyPr wrap="square" rtlCol="0">
            <a:spAutoFit/>
          </a:bodyPr>
          <a:lstStyle/>
          <a:p>
            <a:r>
              <a:rPr lang="en-US" sz="1600" dirty="0"/>
              <a:t>Providers manage external or K8s resources through standard interfaces. They handle authentication, external </a:t>
            </a:r>
            <a:r>
              <a:rPr lang="en-US" sz="1600" dirty="0" err="1"/>
              <a:t>api</a:t>
            </a:r>
            <a:r>
              <a:rPr lang="en-US" sz="1600" dirty="0"/>
              <a:t> calls and controller logic. </a:t>
            </a:r>
          </a:p>
        </p:txBody>
      </p:sp>
      <p:sp>
        <p:nvSpPr>
          <p:cNvPr id="22" name="TextBox 21">
            <a:extLst>
              <a:ext uri="{FF2B5EF4-FFF2-40B4-BE49-F238E27FC236}">
                <a16:creationId xmlns:a16="http://schemas.microsoft.com/office/drawing/2014/main" id="{EE50308E-D702-2153-6754-ABE81D3367BD}"/>
              </a:ext>
            </a:extLst>
          </p:cNvPr>
          <p:cNvSpPr txBox="1"/>
          <p:nvPr/>
        </p:nvSpPr>
        <p:spPr>
          <a:xfrm>
            <a:off x="6091809" y="1900920"/>
            <a:ext cx="4925813" cy="369332"/>
          </a:xfrm>
          <a:prstGeom prst="rect">
            <a:avLst/>
          </a:prstGeom>
          <a:noFill/>
        </p:spPr>
        <p:txBody>
          <a:bodyPr wrap="square" rtlCol="0">
            <a:spAutoFit/>
          </a:bodyPr>
          <a:lstStyle/>
          <a:p>
            <a:r>
              <a:rPr lang="en-US" sz="1800" b="1" dirty="0"/>
              <a:t>Direct control</a:t>
            </a:r>
          </a:p>
        </p:txBody>
      </p:sp>
      <p:sp>
        <p:nvSpPr>
          <p:cNvPr id="24" name="TextBox 23">
            <a:extLst>
              <a:ext uri="{FF2B5EF4-FFF2-40B4-BE49-F238E27FC236}">
                <a16:creationId xmlns:a16="http://schemas.microsoft.com/office/drawing/2014/main" id="{45FAB5F8-98E7-AADA-4669-822A13564C91}"/>
              </a:ext>
            </a:extLst>
          </p:cNvPr>
          <p:cNvSpPr txBox="1"/>
          <p:nvPr/>
        </p:nvSpPr>
        <p:spPr>
          <a:xfrm>
            <a:off x="6091801" y="2211522"/>
            <a:ext cx="4925821" cy="584775"/>
          </a:xfrm>
          <a:prstGeom prst="rect">
            <a:avLst/>
          </a:prstGeom>
          <a:noFill/>
        </p:spPr>
        <p:txBody>
          <a:bodyPr wrap="square" rtlCol="0">
            <a:spAutoFit/>
          </a:bodyPr>
          <a:lstStyle/>
          <a:p>
            <a:r>
              <a:rPr lang="en-US" sz="1600" dirty="0"/>
              <a:t>The controller directly reconciles the Custom Resource and target resources</a:t>
            </a:r>
          </a:p>
        </p:txBody>
      </p:sp>
      <p:sp>
        <p:nvSpPr>
          <p:cNvPr id="26" name="TextBox 25">
            <a:extLst>
              <a:ext uri="{FF2B5EF4-FFF2-40B4-BE49-F238E27FC236}">
                <a16:creationId xmlns:a16="http://schemas.microsoft.com/office/drawing/2014/main" id="{24056666-20D5-727E-3532-0386B617A5E2}"/>
              </a:ext>
            </a:extLst>
          </p:cNvPr>
          <p:cNvSpPr txBox="1"/>
          <p:nvPr/>
        </p:nvSpPr>
        <p:spPr>
          <a:xfrm>
            <a:off x="528073" y="1853886"/>
            <a:ext cx="4925813" cy="369332"/>
          </a:xfrm>
          <a:prstGeom prst="rect">
            <a:avLst/>
          </a:prstGeom>
          <a:noFill/>
        </p:spPr>
        <p:txBody>
          <a:bodyPr wrap="square" rtlCol="0">
            <a:spAutoFit/>
          </a:bodyPr>
          <a:lstStyle/>
          <a:p>
            <a:r>
              <a:rPr lang="en-US" sz="1800" b="1" dirty="0"/>
              <a:t>Layered model</a:t>
            </a:r>
          </a:p>
        </p:txBody>
      </p:sp>
      <p:sp>
        <p:nvSpPr>
          <p:cNvPr id="28" name="TextBox 27">
            <a:extLst>
              <a:ext uri="{FF2B5EF4-FFF2-40B4-BE49-F238E27FC236}">
                <a16:creationId xmlns:a16="http://schemas.microsoft.com/office/drawing/2014/main" id="{E79DA310-78FB-819B-110D-603D140FC581}"/>
              </a:ext>
            </a:extLst>
          </p:cNvPr>
          <p:cNvSpPr txBox="1"/>
          <p:nvPr/>
        </p:nvSpPr>
        <p:spPr>
          <a:xfrm>
            <a:off x="528073" y="2117597"/>
            <a:ext cx="4925821" cy="1323439"/>
          </a:xfrm>
          <a:prstGeom prst="rect">
            <a:avLst/>
          </a:prstGeom>
          <a:noFill/>
        </p:spPr>
        <p:txBody>
          <a:bodyPr wrap="square" rtlCol="0">
            <a:spAutoFit/>
          </a:bodyPr>
          <a:lstStyle/>
          <a:p>
            <a:r>
              <a:rPr lang="en-US" sz="1600" dirty="0"/>
              <a:t>The user creates a high-level custom resource describing the desired service. Crossplane uses a Composition to generate composed resources, while providers reconcile those resources against Kubernetes or external systems.</a:t>
            </a:r>
          </a:p>
        </p:txBody>
      </p:sp>
      <p:sp>
        <p:nvSpPr>
          <p:cNvPr id="34" name="TextBox 33">
            <a:extLst>
              <a:ext uri="{FF2B5EF4-FFF2-40B4-BE49-F238E27FC236}">
                <a16:creationId xmlns:a16="http://schemas.microsoft.com/office/drawing/2014/main" id="{AA418CD4-3C1C-3932-BD40-8343799BD2A4}"/>
              </a:ext>
            </a:extLst>
          </p:cNvPr>
          <p:cNvSpPr txBox="1"/>
          <p:nvPr/>
        </p:nvSpPr>
        <p:spPr>
          <a:xfrm>
            <a:off x="6117973" y="3642491"/>
            <a:ext cx="4925813" cy="369332"/>
          </a:xfrm>
          <a:prstGeom prst="rect">
            <a:avLst/>
          </a:prstGeom>
          <a:noFill/>
        </p:spPr>
        <p:txBody>
          <a:bodyPr wrap="square" rtlCol="0">
            <a:spAutoFit/>
          </a:bodyPr>
          <a:lstStyle/>
          <a:p>
            <a:r>
              <a:rPr lang="en-US" sz="1800" b="1" dirty="0"/>
              <a:t>Custom logic</a:t>
            </a:r>
          </a:p>
        </p:txBody>
      </p:sp>
      <p:sp>
        <p:nvSpPr>
          <p:cNvPr id="36" name="TextBox 35">
            <a:extLst>
              <a:ext uri="{FF2B5EF4-FFF2-40B4-BE49-F238E27FC236}">
                <a16:creationId xmlns:a16="http://schemas.microsoft.com/office/drawing/2014/main" id="{C71CFE7E-580B-B074-EFB2-DF681F72D84B}"/>
              </a:ext>
            </a:extLst>
          </p:cNvPr>
          <p:cNvSpPr txBox="1"/>
          <p:nvPr/>
        </p:nvSpPr>
        <p:spPr>
          <a:xfrm>
            <a:off x="6117973" y="3906202"/>
            <a:ext cx="4925821" cy="584775"/>
          </a:xfrm>
          <a:prstGeom prst="rect">
            <a:avLst/>
          </a:prstGeom>
          <a:noFill/>
        </p:spPr>
        <p:txBody>
          <a:bodyPr wrap="square" rtlCol="0">
            <a:spAutoFit/>
          </a:bodyPr>
          <a:lstStyle/>
          <a:p>
            <a:r>
              <a:rPr lang="en-US" sz="1600" dirty="0"/>
              <a:t>The reconciler can use any Kubernetes client or external API client</a:t>
            </a:r>
          </a:p>
        </p:txBody>
      </p:sp>
      <p:sp>
        <p:nvSpPr>
          <p:cNvPr id="5" name="TextBox 4">
            <a:extLst>
              <a:ext uri="{FF2B5EF4-FFF2-40B4-BE49-F238E27FC236}">
                <a16:creationId xmlns:a16="http://schemas.microsoft.com/office/drawing/2014/main" id="{7463B930-B3A3-90D9-6BFC-19C3389C613B}"/>
              </a:ext>
            </a:extLst>
          </p:cNvPr>
          <p:cNvSpPr txBox="1"/>
          <p:nvPr/>
        </p:nvSpPr>
        <p:spPr>
          <a:xfrm>
            <a:off x="528081" y="5023883"/>
            <a:ext cx="4925813" cy="369332"/>
          </a:xfrm>
          <a:prstGeom prst="rect">
            <a:avLst/>
          </a:prstGeom>
          <a:noFill/>
        </p:spPr>
        <p:txBody>
          <a:bodyPr wrap="square" rtlCol="0">
            <a:spAutoFit/>
          </a:bodyPr>
          <a:lstStyle/>
          <a:p>
            <a:r>
              <a:rPr lang="en-US" sz="1800" b="1" dirty="0"/>
              <a:t>Status managed through Crossplane</a:t>
            </a:r>
          </a:p>
        </p:txBody>
      </p:sp>
      <p:sp>
        <p:nvSpPr>
          <p:cNvPr id="9" name="TextBox 8">
            <a:extLst>
              <a:ext uri="{FF2B5EF4-FFF2-40B4-BE49-F238E27FC236}">
                <a16:creationId xmlns:a16="http://schemas.microsoft.com/office/drawing/2014/main" id="{2EFDFF16-3AA7-FCFB-BDA0-5BB347D4AF48}"/>
              </a:ext>
            </a:extLst>
          </p:cNvPr>
          <p:cNvSpPr txBox="1"/>
          <p:nvPr/>
        </p:nvSpPr>
        <p:spPr>
          <a:xfrm>
            <a:off x="528081" y="5331027"/>
            <a:ext cx="4925821" cy="584775"/>
          </a:xfrm>
          <a:prstGeom prst="rect">
            <a:avLst/>
          </a:prstGeom>
          <a:noFill/>
        </p:spPr>
        <p:txBody>
          <a:bodyPr wrap="square" rtlCol="0">
            <a:spAutoFit/>
          </a:bodyPr>
          <a:lstStyle/>
          <a:p>
            <a:r>
              <a:rPr lang="en-US" sz="1600" dirty="0"/>
              <a:t>Ownerships and status aggregation are managed through Crossplane mechanisms</a:t>
            </a:r>
          </a:p>
        </p:txBody>
      </p:sp>
      <p:sp>
        <p:nvSpPr>
          <p:cNvPr id="12" name="TextBox 11">
            <a:extLst>
              <a:ext uri="{FF2B5EF4-FFF2-40B4-BE49-F238E27FC236}">
                <a16:creationId xmlns:a16="http://schemas.microsoft.com/office/drawing/2014/main" id="{474931C3-E44F-6A9E-9E78-B075B6DB1810}"/>
              </a:ext>
            </a:extLst>
          </p:cNvPr>
          <p:cNvSpPr txBox="1"/>
          <p:nvPr/>
        </p:nvSpPr>
        <p:spPr>
          <a:xfrm>
            <a:off x="6091801" y="4973083"/>
            <a:ext cx="4925813" cy="369332"/>
          </a:xfrm>
          <a:prstGeom prst="rect">
            <a:avLst/>
          </a:prstGeom>
          <a:noFill/>
        </p:spPr>
        <p:txBody>
          <a:bodyPr wrap="square" rtlCol="0">
            <a:spAutoFit/>
          </a:bodyPr>
          <a:lstStyle/>
          <a:p>
            <a:r>
              <a:rPr lang="en-US" sz="1800" b="1" dirty="0"/>
              <a:t>Status managed in code</a:t>
            </a:r>
          </a:p>
        </p:txBody>
      </p:sp>
      <p:sp>
        <p:nvSpPr>
          <p:cNvPr id="17" name="TextBox 16">
            <a:extLst>
              <a:ext uri="{FF2B5EF4-FFF2-40B4-BE49-F238E27FC236}">
                <a16:creationId xmlns:a16="http://schemas.microsoft.com/office/drawing/2014/main" id="{1D08B481-BD4F-A41E-74E0-2734162D00AE}"/>
              </a:ext>
            </a:extLst>
          </p:cNvPr>
          <p:cNvSpPr txBox="1"/>
          <p:nvPr/>
        </p:nvSpPr>
        <p:spPr>
          <a:xfrm>
            <a:off x="6091801" y="5236794"/>
            <a:ext cx="4925821" cy="584775"/>
          </a:xfrm>
          <a:prstGeom prst="rect">
            <a:avLst/>
          </a:prstGeom>
          <a:noFill/>
        </p:spPr>
        <p:txBody>
          <a:bodyPr wrap="square" rtlCol="0">
            <a:spAutoFit/>
          </a:bodyPr>
          <a:lstStyle/>
          <a:p>
            <a:r>
              <a:rPr lang="en-US" sz="1600" dirty="0"/>
              <a:t>Ownership references, status conditions, and lifecycle logic are managed in code</a:t>
            </a:r>
          </a:p>
        </p:txBody>
      </p:sp>
      <p:pic>
        <p:nvPicPr>
          <p:cNvPr id="19" name="Google Shape;92;p14" title="06_LOGO-Alma-Mater-Studiorum-Universita-di-Bologna.png">
            <a:extLst>
              <a:ext uri="{FF2B5EF4-FFF2-40B4-BE49-F238E27FC236}">
                <a16:creationId xmlns:a16="http://schemas.microsoft.com/office/drawing/2014/main" id="{2A55E1DE-D424-4E99-7A58-B0D43BA7F06D}"/>
              </a:ext>
            </a:extLst>
          </p:cNvPr>
          <p:cNvPicPr preferRelativeResize="0"/>
          <p:nvPr/>
        </p:nvPicPr>
        <p:blipFill>
          <a:blip r:embed="rId5">
            <a:alphaModFix/>
          </a:blip>
          <a:stretch>
            <a:fillRect/>
          </a:stretch>
        </p:blipFill>
        <p:spPr>
          <a:xfrm>
            <a:off x="9399175" y="4453350"/>
            <a:ext cx="1841376" cy="1841376"/>
          </a:xfrm>
          <a:prstGeom prst="rect">
            <a:avLst/>
          </a:prstGeom>
          <a:noFill/>
          <a:ln>
            <a:noFill/>
          </a:ln>
        </p:spPr>
      </p:pic>
    </p:spTree>
    <p:extLst>
      <p:ext uri="{BB962C8B-B14F-4D97-AF65-F5344CB8AC3E}">
        <p14:creationId xmlns:p14="http://schemas.microsoft.com/office/powerpoint/2010/main" val="3685471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D1B2AFFA-A957-EA93-0065-71F4E9D1E8B8}"/>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97346CB5-D93F-91B9-BD46-EC28C65E94FE}"/>
              </a:ext>
            </a:extLst>
          </p:cNvPr>
          <p:cNvPicPr preferRelativeResize="0"/>
          <p:nvPr/>
        </p:nvPicPr>
        <p:blipFill>
          <a:blip r:embed="rId3">
            <a:alphaModFix/>
          </a:blip>
          <a:stretch>
            <a:fillRect/>
          </a:stretch>
        </p:blipFill>
        <p:spPr>
          <a:xfrm>
            <a:off x="10289100" y="5399476"/>
            <a:ext cx="1166384" cy="1166400"/>
          </a:xfrm>
          <a:prstGeom prst="rect">
            <a:avLst/>
          </a:prstGeom>
          <a:noFill/>
          <a:ln>
            <a:noFill/>
          </a:ln>
        </p:spPr>
      </p:pic>
      <p:sp>
        <p:nvSpPr>
          <p:cNvPr id="93" name="Google Shape;93;p14">
            <a:extLst>
              <a:ext uri="{FF2B5EF4-FFF2-40B4-BE49-F238E27FC236}">
                <a16:creationId xmlns:a16="http://schemas.microsoft.com/office/drawing/2014/main" id="{D154E936-5FAD-9A1B-0336-C5157D973B9A}"/>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Abstraction</a:t>
            </a:r>
          </a:p>
        </p:txBody>
      </p:sp>
      <p:sp>
        <p:nvSpPr>
          <p:cNvPr id="2" name="Slide Number Placeholder 1">
            <a:extLst>
              <a:ext uri="{FF2B5EF4-FFF2-40B4-BE49-F238E27FC236}">
                <a16:creationId xmlns:a16="http://schemas.microsoft.com/office/drawing/2014/main" id="{A4547F60-14A3-7793-5537-78CA280AE18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22</a:t>
            </a:fld>
            <a:endParaRPr lang="en-US" dirty="0"/>
          </a:p>
        </p:txBody>
      </p:sp>
      <p:pic>
        <p:nvPicPr>
          <p:cNvPr id="6" name="Graphic 5">
            <a:extLst>
              <a:ext uri="{FF2B5EF4-FFF2-40B4-BE49-F238E27FC236}">
                <a16:creationId xmlns:a16="http://schemas.microsoft.com/office/drawing/2014/main" id="{F2370DEF-A55E-A15C-7BED-83A951BD9770}"/>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440EAEE4-AF11-C14E-F64D-D6A81CC553F5}"/>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3498C76-BEA2-1823-4440-036A98238328}"/>
              </a:ext>
            </a:extLst>
          </p:cNvPr>
          <p:cNvSpPr txBox="1"/>
          <p:nvPr/>
        </p:nvSpPr>
        <p:spPr>
          <a:xfrm>
            <a:off x="1" y="968502"/>
            <a:ext cx="5770898" cy="784830"/>
          </a:xfrm>
          <a:prstGeom prst="rect">
            <a:avLst/>
          </a:prstGeom>
          <a:noFill/>
        </p:spPr>
        <p:txBody>
          <a:bodyPr wrap="square">
            <a:spAutoFit/>
          </a:bodyPr>
          <a:lstStyle/>
          <a:p>
            <a:pPr lvl="0" algn="ctr"/>
            <a:r>
              <a:rPr lang="en-US" sz="4500" b="1" dirty="0">
                <a:solidFill>
                  <a:schemeClr val="dk1"/>
                </a:solidFill>
              </a:rPr>
              <a:t>Crossplane</a:t>
            </a:r>
          </a:p>
        </p:txBody>
      </p:sp>
      <p:pic>
        <p:nvPicPr>
          <p:cNvPr id="10" name="Picture 9">
            <a:extLst>
              <a:ext uri="{FF2B5EF4-FFF2-40B4-BE49-F238E27FC236}">
                <a16:creationId xmlns:a16="http://schemas.microsoft.com/office/drawing/2014/main" id="{229831BC-5B54-CD19-211E-4E3AFFFAD9F5}"/>
              </a:ext>
            </a:extLst>
          </p:cNvPr>
          <p:cNvPicPr>
            <a:picLocks noChangeAspect="1"/>
          </p:cNvPicPr>
          <p:nvPr/>
        </p:nvPicPr>
        <p:blipFill>
          <a:blip r:embed="rId5"/>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8BEADE79-659A-A0CD-920F-E45AEE3AF9A4}"/>
              </a:ext>
            </a:extLst>
          </p:cNvPr>
          <p:cNvSpPr txBox="1"/>
          <p:nvPr/>
        </p:nvSpPr>
        <p:spPr>
          <a:xfrm>
            <a:off x="5785946" y="926206"/>
            <a:ext cx="6406053" cy="877133"/>
          </a:xfrm>
          <a:prstGeom prst="rect">
            <a:avLst/>
          </a:prstGeom>
          <a:noFill/>
          <a:ln>
            <a:noFill/>
          </a:ln>
        </p:spPr>
        <p:txBody>
          <a:bodyPr spcFirstLastPara="1" wrap="square" lIns="91425" tIns="91425" rIns="91425" bIns="91425" anchor="t" anchorCtr="0">
            <a:spAutoFit/>
          </a:bodyPr>
          <a:lstStyle/>
          <a:p>
            <a:pPr lvl="0" algn="ctr"/>
            <a:r>
              <a:rPr lang="en-US" sz="4500" b="1" dirty="0">
                <a:solidFill>
                  <a:schemeClr val="dk1"/>
                </a:solidFill>
              </a:rPr>
              <a:t>Kubebuilder</a:t>
            </a:r>
            <a:endParaRPr sz="4500" b="1" dirty="0">
              <a:solidFill>
                <a:schemeClr val="dk1"/>
              </a:solidFill>
            </a:endParaRPr>
          </a:p>
        </p:txBody>
      </p:sp>
      <p:sp>
        <p:nvSpPr>
          <p:cNvPr id="14" name="TextBox 13">
            <a:extLst>
              <a:ext uri="{FF2B5EF4-FFF2-40B4-BE49-F238E27FC236}">
                <a16:creationId xmlns:a16="http://schemas.microsoft.com/office/drawing/2014/main" id="{54687CC5-325E-8508-D8D0-6A99E3E529D8}"/>
              </a:ext>
            </a:extLst>
          </p:cNvPr>
          <p:cNvSpPr txBox="1"/>
          <p:nvPr/>
        </p:nvSpPr>
        <p:spPr>
          <a:xfrm>
            <a:off x="803638" y="4008153"/>
            <a:ext cx="4925813" cy="369332"/>
          </a:xfrm>
          <a:prstGeom prst="rect">
            <a:avLst/>
          </a:prstGeom>
          <a:noFill/>
        </p:spPr>
        <p:txBody>
          <a:bodyPr wrap="square" rtlCol="0">
            <a:spAutoFit/>
          </a:bodyPr>
          <a:lstStyle/>
          <a:p>
            <a:r>
              <a:rPr lang="en-US" sz="1800" b="1" dirty="0"/>
              <a:t>Declare the desired infrastructure</a:t>
            </a:r>
          </a:p>
        </p:txBody>
      </p:sp>
      <p:sp>
        <p:nvSpPr>
          <p:cNvPr id="22" name="TextBox 21">
            <a:extLst>
              <a:ext uri="{FF2B5EF4-FFF2-40B4-BE49-F238E27FC236}">
                <a16:creationId xmlns:a16="http://schemas.microsoft.com/office/drawing/2014/main" id="{4AD69B7C-DB99-5521-6EDA-6EA61BED19E8}"/>
              </a:ext>
            </a:extLst>
          </p:cNvPr>
          <p:cNvSpPr txBox="1"/>
          <p:nvPr/>
        </p:nvSpPr>
        <p:spPr>
          <a:xfrm>
            <a:off x="6314737" y="2481800"/>
            <a:ext cx="4925813" cy="369332"/>
          </a:xfrm>
          <a:prstGeom prst="rect">
            <a:avLst/>
          </a:prstGeom>
          <a:noFill/>
        </p:spPr>
        <p:txBody>
          <a:bodyPr wrap="square" rtlCol="0">
            <a:spAutoFit/>
          </a:bodyPr>
          <a:lstStyle/>
          <a:p>
            <a:r>
              <a:rPr lang="en-US" sz="1800" b="1" dirty="0"/>
              <a:t>Low-level framework</a:t>
            </a:r>
          </a:p>
        </p:txBody>
      </p:sp>
      <p:sp>
        <p:nvSpPr>
          <p:cNvPr id="26" name="TextBox 25">
            <a:extLst>
              <a:ext uri="{FF2B5EF4-FFF2-40B4-BE49-F238E27FC236}">
                <a16:creationId xmlns:a16="http://schemas.microsoft.com/office/drawing/2014/main" id="{3C042155-4E0D-BFE6-4ECA-2FAB8FC9368F}"/>
              </a:ext>
            </a:extLst>
          </p:cNvPr>
          <p:cNvSpPr txBox="1"/>
          <p:nvPr/>
        </p:nvSpPr>
        <p:spPr>
          <a:xfrm>
            <a:off x="845086" y="2491334"/>
            <a:ext cx="4925813" cy="369332"/>
          </a:xfrm>
          <a:prstGeom prst="rect">
            <a:avLst/>
          </a:prstGeom>
          <a:noFill/>
        </p:spPr>
        <p:txBody>
          <a:bodyPr wrap="square" rtlCol="0">
            <a:spAutoFit/>
          </a:bodyPr>
          <a:lstStyle/>
          <a:p>
            <a:r>
              <a:rPr lang="en-US" sz="1800" b="1" dirty="0"/>
              <a:t>High-level Abstraction</a:t>
            </a:r>
          </a:p>
        </p:txBody>
      </p:sp>
      <p:sp>
        <p:nvSpPr>
          <p:cNvPr id="34" name="TextBox 33">
            <a:extLst>
              <a:ext uri="{FF2B5EF4-FFF2-40B4-BE49-F238E27FC236}">
                <a16:creationId xmlns:a16="http://schemas.microsoft.com/office/drawing/2014/main" id="{921185A2-3C80-5015-5A03-BAF582B96961}"/>
              </a:ext>
            </a:extLst>
          </p:cNvPr>
          <p:cNvSpPr txBox="1"/>
          <p:nvPr/>
        </p:nvSpPr>
        <p:spPr>
          <a:xfrm>
            <a:off x="6288569" y="4040322"/>
            <a:ext cx="4925813" cy="369332"/>
          </a:xfrm>
          <a:prstGeom prst="rect">
            <a:avLst/>
          </a:prstGeom>
          <a:noFill/>
        </p:spPr>
        <p:txBody>
          <a:bodyPr wrap="square" rtlCol="0">
            <a:spAutoFit/>
          </a:bodyPr>
          <a:lstStyle/>
          <a:p>
            <a:r>
              <a:rPr lang="en-US" sz="1800" b="1" dirty="0"/>
              <a:t>Explicit control over lifecycle</a:t>
            </a:r>
          </a:p>
        </p:txBody>
      </p:sp>
      <p:sp>
        <p:nvSpPr>
          <p:cNvPr id="7" name="TextBox 6">
            <a:extLst>
              <a:ext uri="{FF2B5EF4-FFF2-40B4-BE49-F238E27FC236}">
                <a16:creationId xmlns:a16="http://schemas.microsoft.com/office/drawing/2014/main" id="{64B5FCC4-2009-65E6-7CFA-6983E396B01D}"/>
              </a:ext>
            </a:extLst>
          </p:cNvPr>
          <p:cNvSpPr txBox="1"/>
          <p:nvPr/>
        </p:nvSpPr>
        <p:spPr>
          <a:xfrm>
            <a:off x="831877" y="2767671"/>
            <a:ext cx="4925821" cy="338554"/>
          </a:xfrm>
          <a:prstGeom prst="rect">
            <a:avLst/>
          </a:prstGeom>
          <a:noFill/>
        </p:spPr>
        <p:txBody>
          <a:bodyPr wrap="square" rtlCol="0">
            <a:spAutoFit/>
          </a:bodyPr>
          <a:lstStyle/>
          <a:p>
            <a:r>
              <a:rPr lang="en-US" sz="1600" dirty="0"/>
              <a:t>User declares the desired state using a custom API</a:t>
            </a:r>
          </a:p>
        </p:txBody>
      </p:sp>
      <p:sp>
        <p:nvSpPr>
          <p:cNvPr id="15" name="TextBox 14">
            <a:extLst>
              <a:ext uri="{FF2B5EF4-FFF2-40B4-BE49-F238E27FC236}">
                <a16:creationId xmlns:a16="http://schemas.microsoft.com/office/drawing/2014/main" id="{B5CA9DF3-D636-63D2-CB1D-2E06CF8D0FDB}"/>
              </a:ext>
            </a:extLst>
          </p:cNvPr>
          <p:cNvSpPr txBox="1"/>
          <p:nvPr/>
        </p:nvSpPr>
        <p:spPr>
          <a:xfrm>
            <a:off x="795107" y="4326685"/>
            <a:ext cx="4925821" cy="830997"/>
          </a:xfrm>
          <a:prstGeom prst="rect">
            <a:avLst/>
          </a:prstGeom>
          <a:noFill/>
        </p:spPr>
        <p:txBody>
          <a:bodyPr wrap="square" rtlCol="0">
            <a:spAutoFit/>
          </a:bodyPr>
          <a:lstStyle/>
          <a:p>
            <a:r>
              <a:rPr lang="en-US" sz="1600" dirty="0"/>
              <a:t>The user only creates a high-level custom resource, the internal resources are generated by the Composition.</a:t>
            </a:r>
          </a:p>
        </p:txBody>
      </p:sp>
      <p:sp>
        <p:nvSpPr>
          <p:cNvPr id="19" name="TextBox 18">
            <a:extLst>
              <a:ext uri="{FF2B5EF4-FFF2-40B4-BE49-F238E27FC236}">
                <a16:creationId xmlns:a16="http://schemas.microsoft.com/office/drawing/2014/main" id="{586A80B4-BCD0-083B-2275-38691CFC68DE}"/>
              </a:ext>
            </a:extLst>
          </p:cNvPr>
          <p:cNvSpPr txBox="1"/>
          <p:nvPr/>
        </p:nvSpPr>
        <p:spPr>
          <a:xfrm>
            <a:off x="6314729" y="2810151"/>
            <a:ext cx="4925821" cy="338554"/>
          </a:xfrm>
          <a:prstGeom prst="rect">
            <a:avLst/>
          </a:prstGeom>
          <a:noFill/>
        </p:spPr>
        <p:txBody>
          <a:bodyPr wrap="square" rtlCol="0">
            <a:spAutoFit/>
          </a:bodyPr>
          <a:lstStyle/>
          <a:p>
            <a:r>
              <a:rPr lang="en-US" sz="1600" dirty="0"/>
              <a:t>Developer defines how the desired state is reached.</a:t>
            </a:r>
          </a:p>
        </p:txBody>
      </p:sp>
      <p:sp>
        <p:nvSpPr>
          <p:cNvPr id="21" name="TextBox 20">
            <a:extLst>
              <a:ext uri="{FF2B5EF4-FFF2-40B4-BE49-F238E27FC236}">
                <a16:creationId xmlns:a16="http://schemas.microsoft.com/office/drawing/2014/main" id="{AA597276-13C7-3EF3-D6B6-062EA8D3A976}"/>
              </a:ext>
            </a:extLst>
          </p:cNvPr>
          <p:cNvSpPr txBox="1"/>
          <p:nvPr/>
        </p:nvSpPr>
        <p:spPr>
          <a:xfrm>
            <a:off x="6288569" y="4409654"/>
            <a:ext cx="4582629" cy="584775"/>
          </a:xfrm>
          <a:prstGeom prst="rect">
            <a:avLst/>
          </a:prstGeom>
          <a:noFill/>
        </p:spPr>
        <p:txBody>
          <a:bodyPr wrap="square">
            <a:spAutoFit/>
          </a:bodyPr>
          <a:lstStyle/>
          <a:p>
            <a:r>
              <a:rPr lang="en-US" sz="1600" dirty="0"/>
              <a:t>The controller directly manages the resources, status updates and error handling.</a:t>
            </a:r>
          </a:p>
        </p:txBody>
      </p:sp>
    </p:spTree>
    <p:extLst>
      <p:ext uri="{BB962C8B-B14F-4D97-AF65-F5344CB8AC3E}">
        <p14:creationId xmlns:p14="http://schemas.microsoft.com/office/powerpoint/2010/main" val="1842256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77B19BFA-B109-D6D0-12C3-49DB9435407C}"/>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B28D684B-926E-4942-0580-ECE4F4510590}"/>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Extensibility</a:t>
            </a:r>
          </a:p>
        </p:txBody>
      </p:sp>
      <p:sp>
        <p:nvSpPr>
          <p:cNvPr id="2" name="Slide Number Placeholder 1">
            <a:extLst>
              <a:ext uri="{FF2B5EF4-FFF2-40B4-BE49-F238E27FC236}">
                <a16:creationId xmlns:a16="http://schemas.microsoft.com/office/drawing/2014/main" id="{0D58FBAC-CE16-D562-FB74-BC6E124651C5}"/>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23</a:t>
            </a:fld>
            <a:endParaRPr lang="en-US" dirty="0"/>
          </a:p>
        </p:txBody>
      </p:sp>
      <p:pic>
        <p:nvPicPr>
          <p:cNvPr id="6" name="Graphic 5">
            <a:extLst>
              <a:ext uri="{FF2B5EF4-FFF2-40B4-BE49-F238E27FC236}">
                <a16:creationId xmlns:a16="http://schemas.microsoft.com/office/drawing/2014/main" id="{BB008B18-51F1-5780-DF25-D52AB12630B3}"/>
              </a:ext>
            </a:extLst>
          </p:cNvPr>
          <p:cNvPicPr>
            <a:picLocks noChangeAspect="1"/>
          </p:cNvPicPr>
          <p:nvPr/>
        </p:nvPicPr>
        <p:blipFill>
          <a:blip>
            <a:extLst>
              <a:ext uri="{96DAC541-7B7A-43D3-8B79-37D633B846F1}">
                <asvg:svgBlip xmlns:asvg="http://schemas.microsoft.com/office/drawing/2016/SVG/main" r:embed="rId3"/>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3698C6BA-E6C8-6CA3-268F-4DD8E7242242}"/>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0BBD712-2CFC-2494-7F9C-159B209307CB}"/>
              </a:ext>
            </a:extLst>
          </p:cNvPr>
          <p:cNvSpPr txBox="1"/>
          <p:nvPr/>
        </p:nvSpPr>
        <p:spPr>
          <a:xfrm>
            <a:off x="1" y="968502"/>
            <a:ext cx="5770898" cy="784830"/>
          </a:xfrm>
          <a:prstGeom prst="rect">
            <a:avLst/>
          </a:prstGeom>
          <a:noFill/>
        </p:spPr>
        <p:txBody>
          <a:bodyPr wrap="square">
            <a:spAutoFit/>
          </a:bodyPr>
          <a:lstStyle/>
          <a:p>
            <a:pPr lvl="0" algn="ctr"/>
            <a:r>
              <a:rPr lang="en-US" sz="4500" b="1" dirty="0">
                <a:solidFill>
                  <a:schemeClr val="dk1"/>
                </a:solidFill>
              </a:rPr>
              <a:t>Crossplane</a:t>
            </a:r>
          </a:p>
        </p:txBody>
      </p:sp>
      <p:pic>
        <p:nvPicPr>
          <p:cNvPr id="10" name="Picture 9">
            <a:extLst>
              <a:ext uri="{FF2B5EF4-FFF2-40B4-BE49-F238E27FC236}">
                <a16:creationId xmlns:a16="http://schemas.microsoft.com/office/drawing/2014/main" id="{AE52FFDE-5C15-EDBD-B067-8D4AC40C8E30}"/>
              </a:ext>
            </a:extLst>
          </p:cNvPr>
          <p:cNvPicPr>
            <a:picLocks noChangeAspect="1"/>
          </p:cNvPicPr>
          <p:nvPr/>
        </p:nvPicPr>
        <p:blipFill>
          <a:blip r:embed="rId4"/>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4A55E554-6113-DBDC-D813-0C84C08CE483}"/>
              </a:ext>
            </a:extLst>
          </p:cNvPr>
          <p:cNvSpPr txBox="1"/>
          <p:nvPr/>
        </p:nvSpPr>
        <p:spPr>
          <a:xfrm>
            <a:off x="5785946" y="926206"/>
            <a:ext cx="6406053" cy="877133"/>
          </a:xfrm>
          <a:prstGeom prst="rect">
            <a:avLst/>
          </a:prstGeom>
          <a:noFill/>
          <a:ln>
            <a:noFill/>
          </a:ln>
        </p:spPr>
        <p:txBody>
          <a:bodyPr spcFirstLastPara="1" wrap="square" lIns="91425" tIns="91425" rIns="91425" bIns="91425" anchor="t" anchorCtr="0">
            <a:spAutoFit/>
          </a:bodyPr>
          <a:lstStyle/>
          <a:p>
            <a:pPr lvl="0" algn="ctr"/>
            <a:r>
              <a:rPr lang="en-US" sz="4500" b="1" dirty="0">
                <a:solidFill>
                  <a:schemeClr val="dk1"/>
                </a:solidFill>
              </a:rPr>
              <a:t>Kubebuilder</a:t>
            </a:r>
            <a:endParaRPr sz="4500" b="1" dirty="0">
              <a:solidFill>
                <a:schemeClr val="dk1"/>
              </a:solidFill>
            </a:endParaRPr>
          </a:p>
        </p:txBody>
      </p:sp>
      <p:sp>
        <p:nvSpPr>
          <p:cNvPr id="14" name="TextBox 13">
            <a:extLst>
              <a:ext uri="{FF2B5EF4-FFF2-40B4-BE49-F238E27FC236}">
                <a16:creationId xmlns:a16="http://schemas.microsoft.com/office/drawing/2014/main" id="{911E748E-898B-0E88-906F-7F7F4C5A843C}"/>
              </a:ext>
            </a:extLst>
          </p:cNvPr>
          <p:cNvSpPr txBox="1"/>
          <p:nvPr/>
        </p:nvSpPr>
        <p:spPr>
          <a:xfrm>
            <a:off x="528089" y="3426153"/>
            <a:ext cx="4925813" cy="369332"/>
          </a:xfrm>
          <a:prstGeom prst="rect">
            <a:avLst/>
          </a:prstGeom>
          <a:noFill/>
        </p:spPr>
        <p:txBody>
          <a:bodyPr wrap="square" rtlCol="0">
            <a:spAutoFit/>
          </a:bodyPr>
          <a:lstStyle/>
          <a:p>
            <a:r>
              <a:rPr lang="en-US" sz="1800" b="1" dirty="0"/>
              <a:t>Optimized for reusability</a:t>
            </a:r>
          </a:p>
        </p:txBody>
      </p:sp>
      <p:sp>
        <p:nvSpPr>
          <p:cNvPr id="16" name="TextBox 15">
            <a:extLst>
              <a:ext uri="{FF2B5EF4-FFF2-40B4-BE49-F238E27FC236}">
                <a16:creationId xmlns:a16="http://schemas.microsoft.com/office/drawing/2014/main" id="{3DE8C5F3-EAAA-ED36-E9D8-9B5571C603A8}"/>
              </a:ext>
            </a:extLst>
          </p:cNvPr>
          <p:cNvSpPr txBox="1"/>
          <p:nvPr/>
        </p:nvSpPr>
        <p:spPr>
          <a:xfrm>
            <a:off x="528089" y="3733297"/>
            <a:ext cx="4925821" cy="584775"/>
          </a:xfrm>
          <a:prstGeom prst="rect">
            <a:avLst/>
          </a:prstGeom>
          <a:noFill/>
        </p:spPr>
        <p:txBody>
          <a:bodyPr wrap="square" rtlCol="0">
            <a:spAutoFit/>
          </a:bodyPr>
          <a:lstStyle/>
          <a:p>
            <a:r>
              <a:rPr lang="en-US" sz="1600" dirty="0"/>
              <a:t>Encourages API standardization across teams. Ideal for creating Internal Development Platforms </a:t>
            </a:r>
          </a:p>
        </p:txBody>
      </p:sp>
      <p:sp>
        <p:nvSpPr>
          <p:cNvPr id="22" name="TextBox 21">
            <a:extLst>
              <a:ext uri="{FF2B5EF4-FFF2-40B4-BE49-F238E27FC236}">
                <a16:creationId xmlns:a16="http://schemas.microsoft.com/office/drawing/2014/main" id="{7E310BC8-5A49-E276-8672-AF006019039E}"/>
              </a:ext>
            </a:extLst>
          </p:cNvPr>
          <p:cNvSpPr txBox="1"/>
          <p:nvPr/>
        </p:nvSpPr>
        <p:spPr>
          <a:xfrm>
            <a:off x="6117973" y="2179401"/>
            <a:ext cx="5257832" cy="369332"/>
          </a:xfrm>
          <a:prstGeom prst="rect">
            <a:avLst/>
          </a:prstGeom>
          <a:noFill/>
        </p:spPr>
        <p:txBody>
          <a:bodyPr wrap="square" rtlCol="0">
            <a:spAutoFit/>
          </a:bodyPr>
          <a:lstStyle/>
          <a:p>
            <a:r>
              <a:rPr lang="en-US" sz="1800" b="1" dirty="0"/>
              <a:t>Extensible through coding and external libs</a:t>
            </a:r>
          </a:p>
        </p:txBody>
      </p:sp>
      <p:sp>
        <p:nvSpPr>
          <p:cNvPr id="24" name="TextBox 23">
            <a:extLst>
              <a:ext uri="{FF2B5EF4-FFF2-40B4-BE49-F238E27FC236}">
                <a16:creationId xmlns:a16="http://schemas.microsoft.com/office/drawing/2014/main" id="{BC076EEA-78FD-3B07-74B2-BCD9FBA86F53}"/>
              </a:ext>
            </a:extLst>
          </p:cNvPr>
          <p:cNvSpPr txBox="1"/>
          <p:nvPr/>
        </p:nvSpPr>
        <p:spPr>
          <a:xfrm>
            <a:off x="6117965" y="2490003"/>
            <a:ext cx="4925821" cy="584775"/>
          </a:xfrm>
          <a:prstGeom prst="rect">
            <a:avLst/>
          </a:prstGeom>
          <a:noFill/>
        </p:spPr>
        <p:txBody>
          <a:bodyPr wrap="square" rtlCol="0">
            <a:spAutoFit/>
          </a:bodyPr>
          <a:lstStyle/>
          <a:p>
            <a:r>
              <a:rPr lang="en-US" sz="1600" dirty="0"/>
              <a:t>Extensible through arbitrary Go code and external libraries</a:t>
            </a:r>
          </a:p>
        </p:txBody>
      </p:sp>
      <p:sp>
        <p:nvSpPr>
          <p:cNvPr id="26" name="TextBox 25">
            <a:extLst>
              <a:ext uri="{FF2B5EF4-FFF2-40B4-BE49-F238E27FC236}">
                <a16:creationId xmlns:a16="http://schemas.microsoft.com/office/drawing/2014/main" id="{5A229B50-68B0-3281-D9F8-54193C5E79E2}"/>
              </a:ext>
            </a:extLst>
          </p:cNvPr>
          <p:cNvSpPr txBox="1"/>
          <p:nvPr/>
        </p:nvSpPr>
        <p:spPr>
          <a:xfrm>
            <a:off x="528097" y="2174876"/>
            <a:ext cx="4925813" cy="369332"/>
          </a:xfrm>
          <a:prstGeom prst="rect">
            <a:avLst/>
          </a:prstGeom>
          <a:noFill/>
        </p:spPr>
        <p:txBody>
          <a:bodyPr wrap="square" rtlCol="0">
            <a:spAutoFit/>
          </a:bodyPr>
          <a:lstStyle/>
          <a:p>
            <a:r>
              <a:rPr lang="en-US" sz="1800" b="1" dirty="0"/>
              <a:t>Extensible through components</a:t>
            </a:r>
          </a:p>
        </p:txBody>
      </p:sp>
      <p:sp>
        <p:nvSpPr>
          <p:cNvPr id="28" name="TextBox 27">
            <a:extLst>
              <a:ext uri="{FF2B5EF4-FFF2-40B4-BE49-F238E27FC236}">
                <a16:creationId xmlns:a16="http://schemas.microsoft.com/office/drawing/2014/main" id="{2F9890B8-BDC8-4359-3115-F9A3C0F8349B}"/>
              </a:ext>
            </a:extLst>
          </p:cNvPr>
          <p:cNvSpPr txBox="1"/>
          <p:nvPr/>
        </p:nvSpPr>
        <p:spPr>
          <a:xfrm>
            <a:off x="528097" y="2438587"/>
            <a:ext cx="4925821" cy="584775"/>
          </a:xfrm>
          <a:prstGeom prst="rect">
            <a:avLst/>
          </a:prstGeom>
          <a:noFill/>
        </p:spPr>
        <p:txBody>
          <a:bodyPr wrap="square" rtlCol="0">
            <a:spAutoFit/>
          </a:bodyPr>
          <a:lstStyle/>
          <a:p>
            <a:r>
              <a:rPr lang="en-US" sz="1600" dirty="0"/>
              <a:t>Extensible through Providers, Functions, patching, and transformations</a:t>
            </a:r>
          </a:p>
        </p:txBody>
      </p:sp>
      <p:sp>
        <p:nvSpPr>
          <p:cNvPr id="34" name="TextBox 33">
            <a:extLst>
              <a:ext uri="{FF2B5EF4-FFF2-40B4-BE49-F238E27FC236}">
                <a16:creationId xmlns:a16="http://schemas.microsoft.com/office/drawing/2014/main" id="{6031613B-8369-5568-42A7-07BAF9237753}"/>
              </a:ext>
            </a:extLst>
          </p:cNvPr>
          <p:cNvSpPr txBox="1"/>
          <p:nvPr/>
        </p:nvSpPr>
        <p:spPr>
          <a:xfrm>
            <a:off x="6117973" y="3413891"/>
            <a:ext cx="4925813" cy="369332"/>
          </a:xfrm>
          <a:prstGeom prst="rect">
            <a:avLst/>
          </a:prstGeom>
          <a:noFill/>
        </p:spPr>
        <p:txBody>
          <a:bodyPr wrap="square" rtlCol="0">
            <a:spAutoFit/>
          </a:bodyPr>
          <a:lstStyle/>
          <a:p>
            <a:r>
              <a:rPr lang="en-US" sz="1800" b="1" dirty="0"/>
              <a:t>Optimized for specific domains</a:t>
            </a:r>
          </a:p>
        </p:txBody>
      </p:sp>
      <p:sp>
        <p:nvSpPr>
          <p:cNvPr id="36" name="TextBox 35">
            <a:extLst>
              <a:ext uri="{FF2B5EF4-FFF2-40B4-BE49-F238E27FC236}">
                <a16:creationId xmlns:a16="http://schemas.microsoft.com/office/drawing/2014/main" id="{BC96947B-D92B-B1A6-49FF-898D78558FEE}"/>
              </a:ext>
            </a:extLst>
          </p:cNvPr>
          <p:cNvSpPr txBox="1"/>
          <p:nvPr/>
        </p:nvSpPr>
        <p:spPr>
          <a:xfrm>
            <a:off x="6117973" y="3677602"/>
            <a:ext cx="4925821" cy="338554"/>
          </a:xfrm>
          <a:prstGeom prst="rect">
            <a:avLst/>
          </a:prstGeom>
          <a:noFill/>
        </p:spPr>
        <p:txBody>
          <a:bodyPr wrap="square" rtlCol="0">
            <a:spAutoFit/>
          </a:bodyPr>
          <a:lstStyle/>
          <a:p>
            <a:r>
              <a:rPr lang="en-US" sz="1600" dirty="0"/>
              <a:t>Best for complex, conditional, or stateful workflows</a:t>
            </a:r>
          </a:p>
        </p:txBody>
      </p:sp>
      <p:sp>
        <p:nvSpPr>
          <p:cNvPr id="21" name="TextBox 20">
            <a:extLst>
              <a:ext uri="{FF2B5EF4-FFF2-40B4-BE49-F238E27FC236}">
                <a16:creationId xmlns:a16="http://schemas.microsoft.com/office/drawing/2014/main" id="{82999208-3FF0-6EE3-5D2D-AAA06001B452}"/>
              </a:ext>
            </a:extLst>
          </p:cNvPr>
          <p:cNvSpPr txBox="1"/>
          <p:nvPr/>
        </p:nvSpPr>
        <p:spPr>
          <a:xfrm>
            <a:off x="528089" y="4763938"/>
            <a:ext cx="4925813" cy="369332"/>
          </a:xfrm>
          <a:prstGeom prst="rect">
            <a:avLst/>
          </a:prstGeom>
          <a:noFill/>
        </p:spPr>
        <p:txBody>
          <a:bodyPr wrap="square" rtlCol="0">
            <a:spAutoFit/>
          </a:bodyPr>
          <a:lstStyle/>
          <a:p>
            <a:r>
              <a:rPr lang="en-US" sz="1800" b="1" dirty="0"/>
              <a:t>Easier for standard composition scenarios</a:t>
            </a:r>
          </a:p>
        </p:txBody>
      </p:sp>
      <p:sp>
        <p:nvSpPr>
          <p:cNvPr id="25" name="TextBox 24">
            <a:extLst>
              <a:ext uri="{FF2B5EF4-FFF2-40B4-BE49-F238E27FC236}">
                <a16:creationId xmlns:a16="http://schemas.microsoft.com/office/drawing/2014/main" id="{A55D0385-933C-9F25-C4C4-699FB919A867}"/>
              </a:ext>
            </a:extLst>
          </p:cNvPr>
          <p:cNvSpPr txBox="1"/>
          <p:nvPr/>
        </p:nvSpPr>
        <p:spPr>
          <a:xfrm>
            <a:off x="528089" y="5043978"/>
            <a:ext cx="4925821" cy="830997"/>
          </a:xfrm>
          <a:prstGeom prst="rect">
            <a:avLst/>
          </a:prstGeom>
          <a:noFill/>
        </p:spPr>
        <p:txBody>
          <a:bodyPr wrap="square" rtlCol="0">
            <a:spAutoFit/>
          </a:bodyPr>
          <a:lstStyle/>
          <a:p>
            <a:r>
              <a:rPr lang="en-US" sz="1600" dirty="0"/>
              <a:t>The standardized composition model makes it easy to define new platform APIs without writing a dedicated controller.</a:t>
            </a:r>
          </a:p>
        </p:txBody>
      </p:sp>
      <p:sp>
        <p:nvSpPr>
          <p:cNvPr id="29" name="TextBox 28">
            <a:extLst>
              <a:ext uri="{FF2B5EF4-FFF2-40B4-BE49-F238E27FC236}">
                <a16:creationId xmlns:a16="http://schemas.microsoft.com/office/drawing/2014/main" id="{804D428A-58CC-96BB-59FE-14E1F589E2FC}"/>
              </a:ext>
            </a:extLst>
          </p:cNvPr>
          <p:cNvSpPr txBox="1"/>
          <p:nvPr/>
        </p:nvSpPr>
        <p:spPr>
          <a:xfrm>
            <a:off x="6086149" y="4752713"/>
            <a:ext cx="4925813" cy="369332"/>
          </a:xfrm>
          <a:prstGeom prst="rect">
            <a:avLst/>
          </a:prstGeom>
          <a:noFill/>
        </p:spPr>
        <p:txBody>
          <a:bodyPr wrap="square" rtlCol="0">
            <a:spAutoFit/>
          </a:bodyPr>
          <a:lstStyle/>
          <a:p>
            <a:r>
              <a:rPr lang="en-US" sz="1800" b="1" dirty="0"/>
              <a:t>Easier for custom logic</a:t>
            </a:r>
          </a:p>
        </p:txBody>
      </p:sp>
      <p:sp>
        <p:nvSpPr>
          <p:cNvPr id="31" name="TextBox 30">
            <a:extLst>
              <a:ext uri="{FF2B5EF4-FFF2-40B4-BE49-F238E27FC236}">
                <a16:creationId xmlns:a16="http://schemas.microsoft.com/office/drawing/2014/main" id="{6CAB9CDA-1159-3962-1DBE-D2CAE27002AD}"/>
              </a:ext>
            </a:extLst>
          </p:cNvPr>
          <p:cNvSpPr txBox="1"/>
          <p:nvPr/>
        </p:nvSpPr>
        <p:spPr>
          <a:xfrm>
            <a:off x="6086149" y="5032753"/>
            <a:ext cx="4925821" cy="584775"/>
          </a:xfrm>
          <a:prstGeom prst="rect">
            <a:avLst/>
          </a:prstGeom>
          <a:noFill/>
        </p:spPr>
        <p:txBody>
          <a:bodyPr wrap="square" rtlCol="0">
            <a:spAutoFit/>
          </a:bodyPr>
          <a:lstStyle/>
          <a:p>
            <a:r>
              <a:rPr lang="en-US" sz="1600" dirty="0"/>
              <a:t>Better debuggability in Go due to the concentrated logic. </a:t>
            </a:r>
          </a:p>
        </p:txBody>
      </p:sp>
      <p:pic>
        <p:nvPicPr>
          <p:cNvPr id="33" name="Google Shape;92;p14" title="06_LOGO-Alma-Mater-Studiorum-Universita-di-Bologna.png">
            <a:extLst>
              <a:ext uri="{FF2B5EF4-FFF2-40B4-BE49-F238E27FC236}">
                <a16:creationId xmlns:a16="http://schemas.microsoft.com/office/drawing/2014/main" id="{A94CAD8F-5330-EE61-7091-B99BD205B57B}"/>
              </a:ext>
            </a:extLst>
          </p:cNvPr>
          <p:cNvPicPr preferRelativeResize="0"/>
          <p:nvPr/>
        </p:nvPicPr>
        <p:blipFill>
          <a:blip r:embed="rId5">
            <a:alphaModFix/>
          </a:blip>
          <a:stretch>
            <a:fillRect/>
          </a:stretch>
        </p:blipFill>
        <p:spPr>
          <a:xfrm>
            <a:off x="9399175" y="4453350"/>
            <a:ext cx="1841376" cy="1841376"/>
          </a:xfrm>
          <a:prstGeom prst="rect">
            <a:avLst/>
          </a:prstGeom>
          <a:noFill/>
          <a:ln>
            <a:noFill/>
          </a:ln>
        </p:spPr>
      </p:pic>
    </p:spTree>
    <p:extLst>
      <p:ext uri="{BB962C8B-B14F-4D97-AF65-F5344CB8AC3E}">
        <p14:creationId xmlns:p14="http://schemas.microsoft.com/office/powerpoint/2010/main" val="2899753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E1A3390E-4165-6826-468E-8A097C252E8E}"/>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991C82D7-96D4-6079-570A-0A43D3B9ED70}"/>
              </a:ext>
            </a:extLst>
          </p:cNvPr>
          <p:cNvPicPr preferRelativeResize="0"/>
          <p:nvPr/>
        </p:nvPicPr>
        <p:blipFill>
          <a:blip r:embed="rId3">
            <a:alphaModFix/>
          </a:blip>
          <a:stretch>
            <a:fillRect/>
          </a:stretch>
        </p:blipFill>
        <p:spPr>
          <a:xfrm>
            <a:off x="10289100" y="5399476"/>
            <a:ext cx="1166384" cy="1166400"/>
          </a:xfrm>
          <a:prstGeom prst="rect">
            <a:avLst/>
          </a:prstGeom>
          <a:noFill/>
          <a:ln>
            <a:noFill/>
          </a:ln>
        </p:spPr>
      </p:pic>
      <p:sp>
        <p:nvSpPr>
          <p:cNvPr id="93" name="Google Shape;93;p14">
            <a:extLst>
              <a:ext uri="{FF2B5EF4-FFF2-40B4-BE49-F238E27FC236}">
                <a16:creationId xmlns:a16="http://schemas.microsoft.com/office/drawing/2014/main" id="{6E7B9166-7DD3-9B15-DD7B-08B9D14FD88E}"/>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pPr lvl="0"/>
            <a:r>
              <a:rPr lang="en-US" sz="4000" b="1" dirty="0">
                <a:solidFill>
                  <a:schemeClr val="dk1"/>
                </a:solidFill>
              </a:rPr>
              <a:t>Developer Interface</a:t>
            </a:r>
            <a:endParaRPr sz="4000" b="1" dirty="0">
              <a:solidFill>
                <a:schemeClr val="dk1"/>
              </a:solidFill>
            </a:endParaRPr>
          </a:p>
        </p:txBody>
      </p:sp>
      <p:sp>
        <p:nvSpPr>
          <p:cNvPr id="2" name="Slide Number Placeholder 1">
            <a:extLst>
              <a:ext uri="{FF2B5EF4-FFF2-40B4-BE49-F238E27FC236}">
                <a16:creationId xmlns:a16="http://schemas.microsoft.com/office/drawing/2014/main" id="{A1157A0A-19D3-2B28-56AE-CC8557812D7A}"/>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24</a:t>
            </a:fld>
            <a:endParaRPr lang="en-US" dirty="0"/>
          </a:p>
        </p:txBody>
      </p:sp>
      <p:pic>
        <p:nvPicPr>
          <p:cNvPr id="6" name="Graphic 5">
            <a:extLst>
              <a:ext uri="{FF2B5EF4-FFF2-40B4-BE49-F238E27FC236}">
                <a16:creationId xmlns:a16="http://schemas.microsoft.com/office/drawing/2014/main" id="{0CFABCFA-19AF-1464-76DD-9B042CE8BD14}"/>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EF4092DF-40EF-0345-A71E-451ABD6B5C8D}"/>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049D979-FCB1-0F77-7FF8-C2A683E7ECE9}"/>
              </a:ext>
            </a:extLst>
          </p:cNvPr>
          <p:cNvSpPr txBox="1"/>
          <p:nvPr/>
        </p:nvSpPr>
        <p:spPr>
          <a:xfrm>
            <a:off x="1" y="968502"/>
            <a:ext cx="5770898" cy="784830"/>
          </a:xfrm>
          <a:prstGeom prst="rect">
            <a:avLst/>
          </a:prstGeom>
          <a:noFill/>
        </p:spPr>
        <p:txBody>
          <a:bodyPr wrap="square">
            <a:spAutoFit/>
          </a:bodyPr>
          <a:lstStyle/>
          <a:p>
            <a:pPr lvl="0" algn="ctr"/>
            <a:r>
              <a:rPr lang="en-US" sz="4500" b="1" dirty="0">
                <a:solidFill>
                  <a:schemeClr val="dk1"/>
                </a:solidFill>
              </a:rPr>
              <a:t>Crossplane</a:t>
            </a:r>
          </a:p>
        </p:txBody>
      </p:sp>
      <p:pic>
        <p:nvPicPr>
          <p:cNvPr id="10" name="Picture 9">
            <a:extLst>
              <a:ext uri="{FF2B5EF4-FFF2-40B4-BE49-F238E27FC236}">
                <a16:creationId xmlns:a16="http://schemas.microsoft.com/office/drawing/2014/main" id="{CE7A23C3-D3A1-1F9E-A3E1-CEF4489DE85F}"/>
              </a:ext>
            </a:extLst>
          </p:cNvPr>
          <p:cNvPicPr>
            <a:picLocks noChangeAspect="1"/>
          </p:cNvPicPr>
          <p:nvPr/>
        </p:nvPicPr>
        <p:blipFill>
          <a:blip r:embed="rId5"/>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FEF0628A-78BC-1456-258B-22E26890448C}"/>
              </a:ext>
            </a:extLst>
          </p:cNvPr>
          <p:cNvSpPr txBox="1"/>
          <p:nvPr/>
        </p:nvSpPr>
        <p:spPr>
          <a:xfrm>
            <a:off x="5785946" y="926206"/>
            <a:ext cx="6406053" cy="877133"/>
          </a:xfrm>
          <a:prstGeom prst="rect">
            <a:avLst/>
          </a:prstGeom>
          <a:noFill/>
          <a:ln>
            <a:noFill/>
          </a:ln>
        </p:spPr>
        <p:txBody>
          <a:bodyPr spcFirstLastPara="1" wrap="square" lIns="91425" tIns="91425" rIns="91425" bIns="91425" anchor="t" anchorCtr="0">
            <a:spAutoFit/>
          </a:bodyPr>
          <a:lstStyle/>
          <a:p>
            <a:pPr lvl="0" algn="ctr"/>
            <a:r>
              <a:rPr lang="en-US" sz="4500" b="1" dirty="0">
                <a:solidFill>
                  <a:schemeClr val="dk1"/>
                </a:solidFill>
              </a:rPr>
              <a:t>Kubebuilder</a:t>
            </a:r>
            <a:endParaRPr sz="4500" b="1" dirty="0">
              <a:solidFill>
                <a:schemeClr val="dk1"/>
              </a:solidFill>
            </a:endParaRPr>
          </a:p>
        </p:txBody>
      </p:sp>
      <p:sp>
        <p:nvSpPr>
          <p:cNvPr id="14" name="TextBox 13">
            <a:extLst>
              <a:ext uri="{FF2B5EF4-FFF2-40B4-BE49-F238E27FC236}">
                <a16:creationId xmlns:a16="http://schemas.microsoft.com/office/drawing/2014/main" id="{78B49C85-1C0C-2CF9-1656-CA14FC09BA50}"/>
              </a:ext>
            </a:extLst>
          </p:cNvPr>
          <p:cNvSpPr txBox="1"/>
          <p:nvPr/>
        </p:nvSpPr>
        <p:spPr>
          <a:xfrm>
            <a:off x="528113" y="1871871"/>
            <a:ext cx="4925813" cy="369332"/>
          </a:xfrm>
          <a:prstGeom prst="rect">
            <a:avLst/>
          </a:prstGeom>
          <a:noFill/>
        </p:spPr>
        <p:txBody>
          <a:bodyPr wrap="square" rtlCol="0">
            <a:spAutoFit/>
          </a:bodyPr>
          <a:lstStyle/>
          <a:p>
            <a:r>
              <a:rPr lang="en-US" sz="1800" b="1" dirty="0"/>
              <a:t>Declarative YAML Composition</a:t>
            </a:r>
          </a:p>
        </p:txBody>
      </p:sp>
      <p:sp>
        <p:nvSpPr>
          <p:cNvPr id="16" name="TextBox 15">
            <a:extLst>
              <a:ext uri="{FF2B5EF4-FFF2-40B4-BE49-F238E27FC236}">
                <a16:creationId xmlns:a16="http://schemas.microsoft.com/office/drawing/2014/main" id="{AEEC6994-1F20-2E57-15F6-6963E983688E}"/>
              </a:ext>
            </a:extLst>
          </p:cNvPr>
          <p:cNvSpPr txBox="1"/>
          <p:nvPr/>
        </p:nvSpPr>
        <p:spPr>
          <a:xfrm>
            <a:off x="528113" y="2179015"/>
            <a:ext cx="4925821" cy="584775"/>
          </a:xfrm>
          <a:prstGeom prst="rect">
            <a:avLst/>
          </a:prstGeom>
          <a:noFill/>
        </p:spPr>
        <p:txBody>
          <a:bodyPr wrap="square" rtlCol="0">
            <a:spAutoFit/>
          </a:bodyPr>
          <a:lstStyle/>
          <a:p>
            <a:r>
              <a:rPr lang="en-US" sz="1600" dirty="0"/>
              <a:t>Abstractions are built using schemas written in declarative YAML declarations</a:t>
            </a:r>
          </a:p>
        </p:txBody>
      </p:sp>
      <p:sp>
        <p:nvSpPr>
          <p:cNvPr id="22" name="TextBox 21">
            <a:extLst>
              <a:ext uri="{FF2B5EF4-FFF2-40B4-BE49-F238E27FC236}">
                <a16:creationId xmlns:a16="http://schemas.microsoft.com/office/drawing/2014/main" id="{A79EDD1B-A3DC-7AC1-E773-E5A6252962C1}"/>
              </a:ext>
            </a:extLst>
          </p:cNvPr>
          <p:cNvSpPr txBox="1"/>
          <p:nvPr/>
        </p:nvSpPr>
        <p:spPr>
          <a:xfrm>
            <a:off x="6112329" y="1871871"/>
            <a:ext cx="4925813" cy="369332"/>
          </a:xfrm>
          <a:prstGeom prst="rect">
            <a:avLst/>
          </a:prstGeom>
          <a:noFill/>
        </p:spPr>
        <p:txBody>
          <a:bodyPr wrap="square" rtlCol="0">
            <a:spAutoFit/>
          </a:bodyPr>
          <a:lstStyle/>
          <a:p>
            <a:r>
              <a:rPr lang="en-US" sz="1800" b="1" dirty="0"/>
              <a:t>Imperative GO Logic</a:t>
            </a:r>
          </a:p>
        </p:txBody>
      </p:sp>
      <p:sp>
        <p:nvSpPr>
          <p:cNvPr id="24" name="TextBox 23">
            <a:extLst>
              <a:ext uri="{FF2B5EF4-FFF2-40B4-BE49-F238E27FC236}">
                <a16:creationId xmlns:a16="http://schemas.microsoft.com/office/drawing/2014/main" id="{C4E0577A-B159-EB37-1F82-C368B57DDB11}"/>
              </a:ext>
            </a:extLst>
          </p:cNvPr>
          <p:cNvSpPr txBox="1"/>
          <p:nvPr/>
        </p:nvSpPr>
        <p:spPr>
          <a:xfrm>
            <a:off x="6112329" y="2241203"/>
            <a:ext cx="4925821" cy="584775"/>
          </a:xfrm>
          <a:prstGeom prst="rect">
            <a:avLst/>
          </a:prstGeom>
          <a:noFill/>
        </p:spPr>
        <p:txBody>
          <a:bodyPr wrap="square" rtlCol="0">
            <a:spAutoFit/>
          </a:bodyPr>
          <a:lstStyle/>
          <a:p>
            <a:r>
              <a:rPr lang="en-US" sz="1600" dirty="0"/>
              <a:t>The controller code is written with standard backend code</a:t>
            </a:r>
          </a:p>
        </p:txBody>
      </p:sp>
      <p:sp>
        <p:nvSpPr>
          <p:cNvPr id="30" name="TextBox 29">
            <a:extLst>
              <a:ext uri="{FF2B5EF4-FFF2-40B4-BE49-F238E27FC236}">
                <a16:creationId xmlns:a16="http://schemas.microsoft.com/office/drawing/2014/main" id="{47A7BC1A-D267-70B9-2ABA-D671A44616D3}"/>
              </a:ext>
            </a:extLst>
          </p:cNvPr>
          <p:cNvSpPr txBox="1"/>
          <p:nvPr/>
        </p:nvSpPr>
        <p:spPr>
          <a:xfrm>
            <a:off x="528113" y="3144178"/>
            <a:ext cx="4925813" cy="369332"/>
          </a:xfrm>
          <a:prstGeom prst="rect">
            <a:avLst/>
          </a:prstGeom>
          <a:noFill/>
        </p:spPr>
        <p:txBody>
          <a:bodyPr wrap="square" rtlCol="0">
            <a:spAutoFit/>
          </a:bodyPr>
          <a:lstStyle/>
          <a:p>
            <a:r>
              <a:rPr lang="en-US" sz="1800" b="1" dirty="0"/>
              <a:t>Additional functions</a:t>
            </a:r>
          </a:p>
        </p:txBody>
      </p:sp>
      <p:sp>
        <p:nvSpPr>
          <p:cNvPr id="32" name="TextBox 31">
            <a:extLst>
              <a:ext uri="{FF2B5EF4-FFF2-40B4-BE49-F238E27FC236}">
                <a16:creationId xmlns:a16="http://schemas.microsoft.com/office/drawing/2014/main" id="{50E4FDB1-D6F7-ACFE-3E25-E620FA42E3D2}"/>
              </a:ext>
            </a:extLst>
          </p:cNvPr>
          <p:cNvSpPr txBox="1"/>
          <p:nvPr/>
        </p:nvSpPr>
        <p:spPr>
          <a:xfrm>
            <a:off x="528113" y="3424218"/>
            <a:ext cx="4925821" cy="584775"/>
          </a:xfrm>
          <a:prstGeom prst="rect">
            <a:avLst/>
          </a:prstGeom>
          <a:noFill/>
        </p:spPr>
        <p:txBody>
          <a:bodyPr wrap="square" rtlCol="0">
            <a:spAutoFit/>
          </a:bodyPr>
          <a:lstStyle/>
          <a:p>
            <a:r>
              <a:rPr lang="en-US" sz="1600" dirty="0"/>
              <a:t>Additional conditional transformations can be used via functions built in imperative languages </a:t>
            </a:r>
          </a:p>
        </p:txBody>
      </p:sp>
      <p:sp>
        <p:nvSpPr>
          <p:cNvPr id="34" name="TextBox 33">
            <a:extLst>
              <a:ext uri="{FF2B5EF4-FFF2-40B4-BE49-F238E27FC236}">
                <a16:creationId xmlns:a16="http://schemas.microsoft.com/office/drawing/2014/main" id="{F8B3300D-F911-1A3E-3C54-0E2053649EC8}"/>
              </a:ext>
            </a:extLst>
          </p:cNvPr>
          <p:cNvSpPr txBox="1"/>
          <p:nvPr/>
        </p:nvSpPr>
        <p:spPr>
          <a:xfrm>
            <a:off x="6091801" y="3144178"/>
            <a:ext cx="4925813" cy="369332"/>
          </a:xfrm>
          <a:prstGeom prst="rect">
            <a:avLst/>
          </a:prstGeom>
          <a:noFill/>
        </p:spPr>
        <p:txBody>
          <a:bodyPr wrap="square" rtlCol="0">
            <a:spAutoFit/>
          </a:bodyPr>
          <a:lstStyle/>
          <a:p>
            <a:r>
              <a:rPr lang="en-US" sz="1800" b="1" dirty="0"/>
              <a:t>Direct control</a:t>
            </a:r>
          </a:p>
        </p:txBody>
      </p:sp>
      <p:sp>
        <p:nvSpPr>
          <p:cNvPr id="36" name="TextBox 35">
            <a:extLst>
              <a:ext uri="{FF2B5EF4-FFF2-40B4-BE49-F238E27FC236}">
                <a16:creationId xmlns:a16="http://schemas.microsoft.com/office/drawing/2014/main" id="{CF29B1E4-6325-73C3-4B50-719CEC8FCA12}"/>
              </a:ext>
            </a:extLst>
          </p:cNvPr>
          <p:cNvSpPr txBox="1"/>
          <p:nvPr/>
        </p:nvSpPr>
        <p:spPr>
          <a:xfrm>
            <a:off x="6091801" y="3407889"/>
            <a:ext cx="4925821" cy="830997"/>
          </a:xfrm>
          <a:prstGeom prst="rect">
            <a:avLst/>
          </a:prstGeom>
          <a:noFill/>
        </p:spPr>
        <p:txBody>
          <a:bodyPr wrap="square" rtlCol="0">
            <a:spAutoFit/>
          </a:bodyPr>
          <a:lstStyle/>
          <a:p>
            <a:r>
              <a:rPr lang="en-US" sz="1600" dirty="0"/>
              <a:t>The controller directly reconciles the Custom Resource and target resources. The reconcile logic is completely customizable</a:t>
            </a:r>
          </a:p>
        </p:txBody>
      </p:sp>
      <p:sp>
        <p:nvSpPr>
          <p:cNvPr id="42" name="TextBox 41">
            <a:extLst>
              <a:ext uri="{FF2B5EF4-FFF2-40B4-BE49-F238E27FC236}">
                <a16:creationId xmlns:a16="http://schemas.microsoft.com/office/drawing/2014/main" id="{B18BF641-FE27-1662-6C38-3FC3956EE21F}"/>
              </a:ext>
            </a:extLst>
          </p:cNvPr>
          <p:cNvSpPr txBox="1"/>
          <p:nvPr/>
        </p:nvSpPr>
        <p:spPr>
          <a:xfrm>
            <a:off x="554269" y="4496242"/>
            <a:ext cx="4925813" cy="369332"/>
          </a:xfrm>
          <a:prstGeom prst="rect">
            <a:avLst/>
          </a:prstGeom>
          <a:noFill/>
        </p:spPr>
        <p:txBody>
          <a:bodyPr wrap="square" rtlCol="0">
            <a:spAutoFit/>
          </a:bodyPr>
          <a:lstStyle/>
          <a:p>
            <a:r>
              <a:rPr lang="en-US" sz="1800" b="1" dirty="0"/>
              <a:t>Easier to implement</a:t>
            </a:r>
          </a:p>
        </p:txBody>
      </p:sp>
      <p:sp>
        <p:nvSpPr>
          <p:cNvPr id="44" name="TextBox 43">
            <a:extLst>
              <a:ext uri="{FF2B5EF4-FFF2-40B4-BE49-F238E27FC236}">
                <a16:creationId xmlns:a16="http://schemas.microsoft.com/office/drawing/2014/main" id="{D4B8DF56-B85C-B4FB-62F6-09D43BCAB8AD}"/>
              </a:ext>
            </a:extLst>
          </p:cNvPr>
          <p:cNvSpPr txBox="1"/>
          <p:nvPr/>
        </p:nvSpPr>
        <p:spPr>
          <a:xfrm>
            <a:off x="554269" y="4776282"/>
            <a:ext cx="4925821" cy="584775"/>
          </a:xfrm>
          <a:prstGeom prst="rect">
            <a:avLst/>
          </a:prstGeom>
          <a:noFill/>
        </p:spPr>
        <p:txBody>
          <a:bodyPr wrap="square" rtlCol="0">
            <a:spAutoFit/>
          </a:bodyPr>
          <a:lstStyle/>
          <a:p>
            <a:r>
              <a:rPr lang="en-US" sz="1600" dirty="0"/>
              <a:t>The standardized framework makes it easy to implement the new controller. </a:t>
            </a:r>
          </a:p>
        </p:txBody>
      </p:sp>
      <p:sp>
        <p:nvSpPr>
          <p:cNvPr id="46" name="TextBox 45">
            <a:extLst>
              <a:ext uri="{FF2B5EF4-FFF2-40B4-BE49-F238E27FC236}">
                <a16:creationId xmlns:a16="http://schemas.microsoft.com/office/drawing/2014/main" id="{56C02362-C6E8-EFCC-9402-25DC08B222EB}"/>
              </a:ext>
            </a:extLst>
          </p:cNvPr>
          <p:cNvSpPr txBox="1"/>
          <p:nvPr/>
        </p:nvSpPr>
        <p:spPr>
          <a:xfrm>
            <a:off x="6112329" y="4485017"/>
            <a:ext cx="4925813" cy="369332"/>
          </a:xfrm>
          <a:prstGeom prst="rect">
            <a:avLst/>
          </a:prstGeom>
          <a:noFill/>
        </p:spPr>
        <p:txBody>
          <a:bodyPr wrap="square" rtlCol="0">
            <a:spAutoFit/>
          </a:bodyPr>
          <a:lstStyle/>
          <a:p>
            <a:r>
              <a:rPr lang="en-US" sz="1800" b="1" dirty="0"/>
              <a:t>Maximum flexibility</a:t>
            </a:r>
          </a:p>
        </p:txBody>
      </p:sp>
      <p:sp>
        <p:nvSpPr>
          <p:cNvPr id="48" name="TextBox 47">
            <a:extLst>
              <a:ext uri="{FF2B5EF4-FFF2-40B4-BE49-F238E27FC236}">
                <a16:creationId xmlns:a16="http://schemas.microsoft.com/office/drawing/2014/main" id="{159F6AE0-34DD-CB5F-0CB6-7B30C37A2A6B}"/>
              </a:ext>
            </a:extLst>
          </p:cNvPr>
          <p:cNvSpPr txBox="1"/>
          <p:nvPr/>
        </p:nvSpPr>
        <p:spPr>
          <a:xfrm>
            <a:off x="6112329" y="4765057"/>
            <a:ext cx="4925821" cy="584775"/>
          </a:xfrm>
          <a:prstGeom prst="rect">
            <a:avLst/>
          </a:prstGeom>
          <a:noFill/>
        </p:spPr>
        <p:txBody>
          <a:bodyPr wrap="square" rtlCol="0">
            <a:spAutoFit/>
          </a:bodyPr>
          <a:lstStyle/>
          <a:p>
            <a:r>
              <a:rPr lang="en-US" sz="1600" dirty="0"/>
              <a:t>Maximum flexibility, but increased maintenance responsibility</a:t>
            </a:r>
          </a:p>
        </p:txBody>
      </p:sp>
    </p:spTree>
    <p:extLst>
      <p:ext uri="{BB962C8B-B14F-4D97-AF65-F5344CB8AC3E}">
        <p14:creationId xmlns:p14="http://schemas.microsoft.com/office/powerpoint/2010/main" val="30329073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1482</TotalTime>
  <Words>1962</Words>
  <Application>Microsoft Office PowerPoint</Application>
  <PresentationFormat>Widescreen</PresentationFormat>
  <Paragraphs>313</Paragraphs>
  <Slides>24</Slides>
  <Notes>24</Notes>
  <HiddenSlides>6</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Lorenzo De Luca</cp:lastModifiedBy>
  <cp:revision>19</cp:revision>
  <dcterms:modified xsi:type="dcterms:W3CDTF">2026-07-16T03:20:43Z</dcterms:modified>
</cp:coreProperties>
</file>