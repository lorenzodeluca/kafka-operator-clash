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71" r:id="rId6"/>
    <p:sldId id="267" r:id="rId7"/>
    <p:sldId id="266" r:id="rId8"/>
    <p:sldId id="258" r:id="rId9"/>
    <p:sldId id="259" r:id="rId10"/>
    <p:sldId id="260" r:id="rId11"/>
    <p:sldId id="261" r:id="rId12"/>
    <p:sldId id="262" r:id="rId13"/>
    <p:sldId id="263" r:id="rId14"/>
    <p:sldId id="265" r:id="rId15"/>
    <p:sldId id="26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5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9159000-82B2-9A1C-1CF8-0BC1803C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A04039C-275E-253D-85BA-9C2410E2E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87E521DB-B0A6-C78E-EC96-BEF489006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8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5D28C03-DD5F-3F11-F0E6-52D12ECF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96EB6A23-40C7-A659-9D5F-0B7A85E65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custom Kubernetes operators, Infrastructure behavior is explicitly defined, domain-specific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0772893C-02A9-4586-7F28-11A2A20324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82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869B14A-C006-A937-CB24-C54FDF94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3C4E2BAE-B960-5864-7945-38DCB5B51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A8376354-BC9E-9CCD-B7CF-4C9B9F659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5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F15ACB3-E2A3-6860-B994-66CBF116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C356C650-5882-B701-9D00-DC0BF755B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83809112-65AC-37FE-F1A1-9B3B46E9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06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DEAE872-A5A0-91AE-50F3-3F1DB7B2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8ED9DB2-070D-49B9-712E-28FD15DC1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5E7B8DAB-D590-85E7-E60F-CC4628679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01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B437CE06-8FA6-4A0C-FA6C-873A9173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4D8260AB-1A96-B20A-1E24-B20115FE8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7D9EAF9C-F8EC-91AB-5096-2D73BF8EA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f4563ff7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ef4563ff7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f4563ff7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ef4563ff7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f4563ff7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ef4563ff7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f4563ff7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ef4563ff7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f4563ff73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f4563ff73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f4563ff7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f4563ff7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46B507-3F20-F699-F80E-CB982326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f4563ff73_0_78:notes">
            <a:extLst>
              <a:ext uri="{FF2B5EF4-FFF2-40B4-BE49-F238E27FC236}">
                <a16:creationId xmlns:a16="http://schemas.microsoft.com/office/drawing/2014/main" id="{89FE23AD-65A3-9346-E3FB-A761C382B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f4563ff73_0_78:notes">
            <a:extLst>
              <a:ext uri="{FF2B5EF4-FFF2-40B4-BE49-F238E27FC236}">
                <a16:creationId xmlns:a16="http://schemas.microsoft.com/office/drawing/2014/main" id="{0DE0A408-28D5-9166-C410-A8D79DD38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10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f4563ff7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f4563ff7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crossplane.io/v2.3" TargetMode="External"/><Relationship Id="rId4" Type="http://schemas.openxmlformats.org/officeDocument/2006/relationships/hyperlink" Target="https://book.kubebuilder.i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50" y="2660483"/>
            <a:ext cx="11581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600" b="1" i="1" dirty="0"/>
              <a:t>Crossplane vs Kubebuilder </a:t>
            </a:r>
            <a:endParaRPr sz="6600" b="1" dirty="0"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0" y="511744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Infrastructures for Cloud Computing and Big Data M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Lorenzo De Luca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0001240461 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305200" y="3860075"/>
            <a:ext cx="7581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dirty="0"/>
              <a:t>paradigms, abstraction, complexity, extensibility and performance comparison with a common use case implementation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5B22E-AE21-74C2-8746-91B386CCD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3" y="310296"/>
            <a:ext cx="2457454" cy="1817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3B6F108-FBB4-4684-ABEE-EBB301A8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53C1BFB-DD5E-0DDA-063C-F514F8C1AE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5EE0FE3-3CD9-AA7B-2640-4DF9883331E1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D1651A3-B8DE-D555-634B-46F770456606}"/>
              </a:ext>
            </a:extLst>
          </p:cNvPr>
          <p:cNvSpPr txBox="1"/>
          <p:nvPr/>
        </p:nvSpPr>
        <p:spPr>
          <a:xfrm>
            <a:off x="772510" y="1146178"/>
            <a:ext cx="1116308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Universal Control Plane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Declarative composition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Strong for composition and platform engineering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Logic in YAML + patch/transform functions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Strength: consistency and reuse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Limitation: less flexible for complex imperative logic</a:t>
            </a:r>
            <a:endParaRPr lang="en-US" sz="32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1B71-96FB-4B12-C0B5-D478C9C09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620A1FD-CA56-87ED-AB38-A5B540C7B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1240550" y="201021"/>
            <a:ext cx="951450" cy="14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7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72CE539-57AD-CD9A-9932-8834BF41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C2E127D-0EB6-BD1D-D691-D048D885C5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8D1D3DED-EB35-046A-1C3E-A45E5B34D382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9873D292-F2AE-1D74-7C19-E3E8A5EFF314}"/>
              </a:ext>
            </a:extLst>
          </p:cNvPr>
          <p:cNvSpPr txBox="1"/>
          <p:nvPr/>
        </p:nvSpPr>
        <p:spPr>
          <a:xfrm>
            <a:off x="772510" y="1146178"/>
            <a:ext cx="1116308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Low-level Go SDK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Imperative control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Strong for writing specialized controllers from scratch.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Logic in Go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Strength: maximum flexibility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Limitation: higher coding and maintenance effort</a:t>
            </a:r>
            <a:endParaRPr lang="en-US" sz="32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7D586E-CB8F-15DD-51AA-AF437F9BDE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7F9B1-F813-5CA2-74D8-AB50394F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0443872" y="160671"/>
            <a:ext cx="1491718" cy="26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6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1A3390E-4165-6826-468E-8A097C25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91C82D7-96D4-6079-570A-0A43D3B9ED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100" y="5399476"/>
            <a:ext cx="1166384" cy="11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E7B9166-7DD3-9B15-DD7B-08B9D14FD88E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000" b="1" dirty="0">
                <a:solidFill>
                  <a:schemeClr val="dk1"/>
                </a:solidFill>
              </a:rPr>
              <a:t>Developer Interface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57A0A-19D3-2B28-56AE-CC8557812D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CFABCFA-19AF-1464-76DD-9B042CE8B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4092DF-40EF-0345-A71E-451ABD6B5C8D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49D979-FCB1-0F77-7FF8-C2A683E7ECE9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7A23C3-D3A1-1F9E-A3E1-CEF4489DE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FEF0628A-78BC-1456-258B-22E26890448C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49C85-1C0C-2CF9-1656-CA14FC09BA50}"/>
              </a:ext>
            </a:extLst>
          </p:cNvPr>
          <p:cNvSpPr txBox="1"/>
          <p:nvPr/>
        </p:nvSpPr>
        <p:spPr>
          <a:xfrm>
            <a:off x="528113" y="187187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Declarative YAML Composition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C6994-1F20-2E57-15F6-6963E983688E}"/>
              </a:ext>
            </a:extLst>
          </p:cNvPr>
          <p:cNvSpPr txBox="1"/>
          <p:nvPr/>
        </p:nvSpPr>
        <p:spPr>
          <a:xfrm>
            <a:off x="528113" y="2179015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Abstractions are built using schemas written in declarative YAML declarations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EDD1B-A3DC-7AC1-E773-E5A6252962C1}"/>
              </a:ext>
            </a:extLst>
          </p:cNvPr>
          <p:cNvSpPr txBox="1"/>
          <p:nvPr/>
        </p:nvSpPr>
        <p:spPr>
          <a:xfrm>
            <a:off x="6112329" y="187187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Imperative GO Logic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0577A-B159-EB37-1F82-C368B57DDB11}"/>
              </a:ext>
            </a:extLst>
          </p:cNvPr>
          <p:cNvSpPr txBox="1"/>
          <p:nvPr/>
        </p:nvSpPr>
        <p:spPr>
          <a:xfrm>
            <a:off x="6112329" y="224120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code is written with standard backend code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2DFAA8-56E3-34E7-D62D-6E7FEC7716C4}"/>
              </a:ext>
            </a:extLst>
          </p:cNvPr>
          <p:cNvSpPr txBox="1"/>
          <p:nvPr/>
        </p:nvSpPr>
        <p:spPr>
          <a:xfrm>
            <a:off x="528113" y="4432786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Providers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0FCD1F-C981-E740-730F-6BB97614890F}"/>
              </a:ext>
            </a:extLst>
          </p:cNvPr>
          <p:cNvSpPr txBox="1"/>
          <p:nvPr/>
        </p:nvSpPr>
        <p:spPr>
          <a:xfrm>
            <a:off x="528113" y="469649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Providers add whole cloud vendors(AWS, Azure, </a:t>
            </a:r>
            <a:r>
              <a:rPr lang="en-US" sz="1600" dirty="0" err="1"/>
              <a:t>etc</a:t>
            </a:r>
            <a:r>
              <a:rPr lang="en-US" sz="1600" dirty="0"/>
              <a:t>…)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A7BC1A-D267-70B9-2ABA-D671A44616D3}"/>
              </a:ext>
            </a:extLst>
          </p:cNvPr>
          <p:cNvSpPr txBox="1"/>
          <p:nvPr/>
        </p:nvSpPr>
        <p:spPr>
          <a:xfrm>
            <a:off x="528113" y="314417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Additional functions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E4FDB1-D6F7-ACFE-3E25-E620FA42E3D2}"/>
              </a:ext>
            </a:extLst>
          </p:cNvPr>
          <p:cNvSpPr txBox="1"/>
          <p:nvPr/>
        </p:nvSpPr>
        <p:spPr>
          <a:xfrm>
            <a:off x="528113" y="3424218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Additional conditional transformations can be used via functions built in imperative languages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3300D-F911-1A3E-3C54-0E2053649EC8}"/>
              </a:ext>
            </a:extLst>
          </p:cNvPr>
          <p:cNvSpPr txBox="1"/>
          <p:nvPr/>
        </p:nvSpPr>
        <p:spPr>
          <a:xfrm>
            <a:off x="6091801" y="356537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Direct control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29B1E4-6325-73C3-4B50-719CEC8FCA12}"/>
              </a:ext>
            </a:extLst>
          </p:cNvPr>
          <p:cNvSpPr txBox="1"/>
          <p:nvPr/>
        </p:nvSpPr>
        <p:spPr>
          <a:xfrm>
            <a:off x="6091801" y="3829084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directly reconciles the Custom Resource and target resources. The reconcile logic is completely customizable</a:t>
            </a:r>
          </a:p>
        </p:txBody>
      </p:sp>
    </p:spTree>
    <p:extLst>
      <p:ext uri="{BB962C8B-B14F-4D97-AF65-F5344CB8AC3E}">
        <p14:creationId xmlns:p14="http://schemas.microsoft.com/office/powerpoint/2010/main" val="303290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29DE1EF3-EF8E-5242-9A95-400755AF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8D1209F-2764-AE3D-30F6-ACE19E935F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100" y="5399476"/>
            <a:ext cx="1166384" cy="11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9990C09-1C4F-18F1-0F9C-938A7DEF001F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Resource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0134A5-2785-AD5D-3453-D6CFECC884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B476F8-212C-DD8A-0F14-C70F8CE893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E645EE-6476-95AD-3F85-8407C660AC3C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55DB91-9A64-E528-0E86-0A9BD8610B83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27E14B-2B9F-28DE-9A33-78F3753A73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70A249BE-572F-48DB-902B-03FAF51811C2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0FF0A-93C0-B7CE-35B1-C4C64CC2CDBE}"/>
              </a:ext>
            </a:extLst>
          </p:cNvPr>
          <p:cNvSpPr txBox="1"/>
          <p:nvPr/>
        </p:nvSpPr>
        <p:spPr>
          <a:xfrm>
            <a:off x="528089" y="34261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Providers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5D63B-DE24-F868-6E3A-2880CE22DB2A}"/>
              </a:ext>
            </a:extLst>
          </p:cNvPr>
          <p:cNvSpPr txBox="1"/>
          <p:nvPr/>
        </p:nvSpPr>
        <p:spPr>
          <a:xfrm>
            <a:off x="528089" y="3733297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Providers manage external or K8s resources through standard interfaces. They handle authentication, external </a:t>
            </a:r>
            <a:r>
              <a:rPr lang="en-US" sz="1600" dirty="0" err="1"/>
              <a:t>api</a:t>
            </a:r>
            <a:r>
              <a:rPr lang="en-US" sz="1600" dirty="0"/>
              <a:t> calls and controller logic.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0308E-D702-2153-6754-ABE81D3367BD}"/>
              </a:ext>
            </a:extLst>
          </p:cNvPr>
          <p:cNvSpPr txBox="1"/>
          <p:nvPr/>
        </p:nvSpPr>
        <p:spPr>
          <a:xfrm>
            <a:off x="6117973" y="217940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Direct 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FAB5F8-98E7-AADA-4669-822A13564C91}"/>
              </a:ext>
            </a:extLst>
          </p:cNvPr>
          <p:cNvSpPr txBox="1"/>
          <p:nvPr/>
        </p:nvSpPr>
        <p:spPr>
          <a:xfrm>
            <a:off x="6117965" y="249000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directly reconciles the Custom Resource and target resources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56666-20D5-727E-3532-0386B617A5E2}"/>
              </a:ext>
            </a:extLst>
          </p:cNvPr>
          <p:cNvSpPr txBox="1"/>
          <p:nvPr/>
        </p:nvSpPr>
        <p:spPr>
          <a:xfrm>
            <a:off x="528097" y="2174876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Layered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9DA310-78FB-819B-110D-603D140FC581}"/>
              </a:ext>
            </a:extLst>
          </p:cNvPr>
          <p:cNvSpPr txBox="1"/>
          <p:nvPr/>
        </p:nvSpPr>
        <p:spPr>
          <a:xfrm>
            <a:off x="528097" y="2438587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user sends a claim(optional user friendly model) that is mapped from Crossplane into a XR that the provider uses to manage the composed resources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418CD4-3C1C-3932-BD40-8343799BD2A4}"/>
              </a:ext>
            </a:extLst>
          </p:cNvPr>
          <p:cNvSpPr txBox="1"/>
          <p:nvPr/>
        </p:nvSpPr>
        <p:spPr>
          <a:xfrm>
            <a:off x="6117973" y="341389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Custom logic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1CFE7E-580B-B074-EFB2-DF681F72D84B}"/>
              </a:ext>
            </a:extLst>
          </p:cNvPr>
          <p:cNvSpPr txBox="1"/>
          <p:nvPr/>
        </p:nvSpPr>
        <p:spPr>
          <a:xfrm>
            <a:off x="6117973" y="367760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reconciler can use any Kubernetes client or external API 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3B930-B3A3-90D9-6BFC-19C3389C613B}"/>
              </a:ext>
            </a:extLst>
          </p:cNvPr>
          <p:cNvSpPr txBox="1"/>
          <p:nvPr/>
        </p:nvSpPr>
        <p:spPr>
          <a:xfrm>
            <a:off x="528081" y="485878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Status managed through Crossplane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DFF16-3AA7-FCFB-BDA0-5BB347D4AF48}"/>
              </a:ext>
            </a:extLst>
          </p:cNvPr>
          <p:cNvSpPr txBox="1"/>
          <p:nvPr/>
        </p:nvSpPr>
        <p:spPr>
          <a:xfrm>
            <a:off x="528081" y="516592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Ownerships and status aggregation are managed through Crossplane mechanisms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931C3-E44F-6A9E-9E78-B075B6DB1810}"/>
              </a:ext>
            </a:extLst>
          </p:cNvPr>
          <p:cNvSpPr txBox="1"/>
          <p:nvPr/>
        </p:nvSpPr>
        <p:spPr>
          <a:xfrm>
            <a:off x="6091801" y="485878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Status managed in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8B481-BD4F-A41E-74E0-2734162D00AE}"/>
              </a:ext>
            </a:extLst>
          </p:cNvPr>
          <p:cNvSpPr txBox="1"/>
          <p:nvPr/>
        </p:nvSpPr>
        <p:spPr>
          <a:xfrm>
            <a:off x="6091801" y="5122494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Ownership references, status conditions, and lifecycle logic are managed in code</a:t>
            </a:r>
          </a:p>
        </p:txBody>
      </p:sp>
    </p:spTree>
    <p:extLst>
      <p:ext uri="{BB962C8B-B14F-4D97-AF65-F5344CB8AC3E}">
        <p14:creationId xmlns:p14="http://schemas.microsoft.com/office/powerpoint/2010/main" val="368547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FC7A401-1769-DF67-FA40-C05084D8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9AAE69D-53F1-260F-BF93-8F0D496E9C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C2CDC6B8-0B3D-AAF7-540B-8A5E70875ADB}"/>
              </a:ext>
            </a:extLst>
          </p:cNvPr>
          <p:cNvSpPr txBox="1"/>
          <p:nvPr/>
        </p:nvSpPr>
        <p:spPr>
          <a:xfrm>
            <a:off x="243350" y="230500"/>
            <a:ext cx="7376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D6DFDD4F-DA66-F558-ED98-6EE84C60910D}"/>
              </a:ext>
            </a:extLst>
          </p:cNvPr>
          <p:cNvSpPr txBox="1"/>
          <p:nvPr/>
        </p:nvSpPr>
        <p:spPr>
          <a:xfrm>
            <a:off x="772510" y="1146178"/>
            <a:ext cx="11163080" cy="30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SDK for building operators using CRDs 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Imperative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Customizable controller and reconciliation logic in Go</a:t>
            </a:r>
          </a:p>
          <a:p>
            <a:pPr marL="49530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2800" dirty="0"/>
              <a:t>Extends Kubernetes API via XRDs and Compositions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627F28-8307-E246-3DB8-DF7E10C9F6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437465-7B1F-15C0-1959-5F77F1659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531" y="3753699"/>
            <a:ext cx="7188937" cy="293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9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581F7D5-4762-F505-DC4E-121341AE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B9EAD84F-10E4-A548-7346-BA1F536E3B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2E9581A2-9963-BC53-FECC-68C5BD993E80}"/>
              </a:ext>
            </a:extLst>
          </p:cNvPr>
          <p:cNvSpPr txBox="1"/>
          <p:nvPr/>
        </p:nvSpPr>
        <p:spPr>
          <a:xfrm>
            <a:off x="243350" y="230500"/>
            <a:ext cx="7376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chemeClr val="dk1"/>
                </a:solidFill>
              </a:rPr>
              <a:t>Crossplane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C4EFAA5-5177-FBA4-8EAA-DCCF8111FC25}"/>
              </a:ext>
            </a:extLst>
          </p:cNvPr>
          <p:cNvSpPr txBox="1"/>
          <p:nvPr/>
        </p:nvSpPr>
        <p:spPr>
          <a:xfrm>
            <a:off x="1216650" y="1716100"/>
            <a:ext cx="10885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sistema</a:t>
            </a:r>
            <a:r>
              <a:rPr lang="en-US" sz="3000" dirty="0">
                <a:solidFill>
                  <a:schemeClr val="dk1"/>
                </a:solidFill>
              </a:rPr>
              <a:t> di chat peer to peer (senza server </a:t>
            </a:r>
            <a:r>
              <a:rPr lang="en-US" sz="3000" dirty="0" err="1">
                <a:solidFill>
                  <a:schemeClr val="dk1"/>
                </a:solidFill>
              </a:rPr>
              <a:t>terzi</a:t>
            </a:r>
            <a:r>
              <a:rPr lang="en-US" sz="3000" dirty="0">
                <a:solidFill>
                  <a:schemeClr val="dk1"/>
                </a:solidFill>
              </a:rPr>
              <a:t>) 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algoritmi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presi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dalla</a:t>
            </a:r>
            <a:r>
              <a:rPr lang="en-US" sz="3000" dirty="0">
                <a:solidFill>
                  <a:schemeClr val="dk1"/>
                </a:solidFill>
              </a:rPr>
              <a:t> Java Cryptography Architecture (JCA) 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garantire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integrità</a:t>
            </a:r>
            <a:r>
              <a:rPr lang="en-US" sz="3000" dirty="0">
                <a:solidFill>
                  <a:schemeClr val="dk1"/>
                </a:solidFill>
              </a:rPr>
              <a:t>, </a:t>
            </a:r>
            <a:r>
              <a:rPr lang="en-US" sz="3000" dirty="0" err="1">
                <a:solidFill>
                  <a:schemeClr val="dk1"/>
                </a:solidFill>
              </a:rPr>
              <a:t>confidenzialità</a:t>
            </a:r>
            <a:r>
              <a:rPr lang="en-US" sz="3000" dirty="0">
                <a:solidFill>
                  <a:schemeClr val="dk1"/>
                </a:solidFill>
              </a:rPr>
              <a:t> e </a:t>
            </a:r>
            <a:r>
              <a:rPr lang="en-US" sz="3000" dirty="0" err="1">
                <a:solidFill>
                  <a:schemeClr val="dk1"/>
                </a:solidFill>
              </a:rPr>
              <a:t>autenticazione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mutua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>
                <a:solidFill>
                  <a:schemeClr val="dk1"/>
                </a:solidFill>
              </a:rPr>
              <a:t>forward secrecy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protezione</a:t>
            </a:r>
            <a:r>
              <a:rPr lang="en-US" sz="3000" dirty="0">
                <a:solidFill>
                  <a:schemeClr val="dk1"/>
                </a:solidFill>
              </a:rPr>
              <a:t> da </a:t>
            </a:r>
            <a:r>
              <a:rPr lang="en-US" sz="3000" dirty="0" err="1">
                <a:solidFill>
                  <a:schemeClr val="dk1"/>
                </a:solidFill>
              </a:rPr>
              <a:t>attacchi</a:t>
            </a:r>
            <a:r>
              <a:rPr lang="en-US" sz="3000" dirty="0">
                <a:solidFill>
                  <a:schemeClr val="dk1"/>
                </a:solidFill>
              </a:rPr>
              <a:t> di replica, reflection e padding oracle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C29841-BFE2-4547-8953-8A1B72AE6C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6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243350" y="230500"/>
            <a:ext cx="7376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Limitazioni</a:t>
            </a:r>
            <a:endParaRPr sz="4500" b="1">
              <a:solidFill>
                <a:schemeClr val="dk1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16650" y="1716100"/>
            <a:ext cx="10885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>
                <a:solidFill>
                  <a:schemeClr val="dk1"/>
                </a:solidFill>
              </a:rPr>
              <a:t>chiavi self-signed</a:t>
            </a: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>
                <a:solidFill>
                  <a:schemeClr val="dk1"/>
                </a:solidFill>
              </a:rPr>
              <a:t>mancanza della cronologia delle chat precedenti</a:t>
            </a:r>
            <a:endParaRPr sz="30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>
                <a:solidFill>
                  <a:schemeClr val="dk1"/>
                </a:solidFill>
              </a:rPr>
              <a:t>mancanza di un meccanismo di recupero della sessione in caso di problemi di rete o di perdita di pacchetti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0AD56C-8AF5-5069-F891-F2F16A72E4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56350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0052C9-6442-46B8-301B-5F90F19339B0}"/>
              </a:ext>
            </a:extLst>
          </p:cNvPr>
          <p:cNvSpPr/>
          <p:nvPr/>
        </p:nvSpPr>
        <p:spPr>
          <a:xfrm>
            <a:off x="570264" y="4838010"/>
            <a:ext cx="1841376" cy="107205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Claim</a:t>
            </a:r>
          </a:p>
          <a:p>
            <a:pPr algn="ctr"/>
            <a:r>
              <a:rPr lang="en-US" sz="2000" dirty="0"/>
              <a:t>(DataStream</a:t>
            </a:r>
            <a:r>
              <a:rPr lang="en-US" dirty="0"/>
              <a:t>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B42725-A8B9-9AC6-F6B8-A059A02BA280}"/>
              </a:ext>
            </a:extLst>
          </p:cNvPr>
          <p:cNvSpPr/>
          <p:nvPr/>
        </p:nvSpPr>
        <p:spPr>
          <a:xfrm>
            <a:off x="4327468" y="4838010"/>
            <a:ext cx="1841376" cy="107205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XDataStream</a:t>
            </a:r>
            <a:endParaRPr lang="en-US" sz="2000" dirty="0"/>
          </a:p>
          <a:p>
            <a:pPr algn="ctr"/>
            <a:r>
              <a:rPr lang="en-US" sz="2000" dirty="0"/>
              <a:t>XR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102657A-3653-587B-5AC1-16DD13B0B2BF}"/>
              </a:ext>
            </a:extLst>
          </p:cNvPr>
          <p:cNvSpPr/>
          <p:nvPr/>
        </p:nvSpPr>
        <p:spPr>
          <a:xfrm>
            <a:off x="3128170" y="5240031"/>
            <a:ext cx="599090" cy="2680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876BD86-14B9-DBD2-A5FD-E8AEBD98BB0D}"/>
              </a:ext>
            </a:extLst>
          </p:cNvPr>
          <p:cNvSpPr/>
          <p:nvPr/>
        </p:nvSpPr>
        <p:spPr>
          <a:xfrm>
            <a:off x="6957591" y="5240031"/>
            <a:ext cx="599090" cy="2680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243350" y="230500"/>
            <a:ext cx="10757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INIZIALIZZAZIONE/HANDSHAKE</a:t>
            </a:r>
            <a:endParaRPr sz="4500" b="1">
              <a:solidFill>
                <a:schemeClr val="dk1"/>
              </a:solidFill>
            </a:endParaRPr>
          </a:p>
        </p:txBody>
      </p:sp>
      <p:pic>
        <p:nvPicPr>
          <p:cNvPr id="108" name="Google Shape;108;p16" title="Gemini_Generated_Image_5diz7w5diz7w5di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75" y="2858350"/>
            <a:ext cx="1978025" cy="107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-12" y="3854850"/>
            <a:ext cx="286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connessione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4800" y="3002125"/>
            <a:ext cx="1189477" cy="9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279225" y="4818700"/>
            <a:ext cx="286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ECDHE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6650" y="2059225"/>
            <a:ext cx="4091947" cy="267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8125" y="3116125"/>
            <a:ext cx="1189477" cy="9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150" y="2980475"/>
            <a:ext cx="1629657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096575" y="4264600"/>
            <a:ext cx="286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DISPONIBILE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E0903-49CC-CEC1-7C11-4A1AD1ABDA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56350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243350" y="230500"/>
            <a:ext cx="7376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HKDF/Shared Secret</a:t>
            </a:r>
            <a:endParaRPr sz="4500" b="1">
              <a:solidFill>
                <a:schemeClr val="dk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229875" y="1266300"/>
            <a:ext cx="10885800" cy="5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>
                <a:solidFill>
                  <a:schemeClr val="dk1"/>
                </a:solidFill>
              </a:rPr>
              <a:t>HMAC-based Extract-and-Expand Key Derivation standard Function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aumenta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l’aleatorietà</a:t>
            </a:r>
            <a:r>
              <a:rPr lang="en-US" sz="3000" dirty="0">
                <a:solidFill>
                  <a:schemeClr val="dk1"/>
                </a:solidFill>
              </a:rPr>
              <a:t> della </a:t>
            </a:r>
            <a:r>
              <a:rPr lang="en-US" sz="3000" dirty="0" err="1">
                <a:solidFill>
                  <a:schemeClr val="dk1"/>
                </a:solidFill>
              </a:rPr>
              <a:t>chiave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funzione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unidirezionale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>
                <a:solidFill>
                  <a:schemeClr val="dk1"/>
                </a:solidFill>
              </a:rPr>
              <a:t>Dal master secret </a:t>
            </a:r>
            <a:r>
              <a:rPr lang="en-US" sz="3000" dirty="0" err="1">
                <a:solidFill>
                  <a:schemeClr val="dk1"/>
                </a:solidFill>
              </a:rPr>
              <a:t>generato</a:t>
            </a:r>
            <a:r>
              <a:rPr lang="en-US" sz="3000" dirty="0">
                <a:solidFill>
                  <a:schemeClr val="dk1"/>
                </a:solidFill>
              </a:rPr>
              <a:t> con ECDHE </a:t>
            </a:r>
            <a:r>
              <a:rPr lang="en-US" sz="3000" dirty="0" err="1">
                <a:solidFill>
                  <a:schemeClr val="dk1"/>
                </a:solidFill>
              </a:rPr>
              <a:t>vengono</a:t>
            </a:r>
            <a:r>
              <a:rPr lang="en-US" sz="3000" dirty="0">
                <a:solidFill>
                  <a:schemeClr val="dk1"/>
                </a:solidFill>
              </a:rPr>
              <a:t> derivate due </a:t>
            </a:r>
            <a:r>
              <a:rPr lang="en-US" sz="3000" dirty="0" err="1">
                <a:solidFill>
                  <a:schemeClr val="dk1"/>
                </a:solidFill>
              </a:rPr>
              <a:t>chiavi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simmetriche</a:t>
            </a:r>
            <a:r>
              <a:rPr lang="en-US" sz="3000" dirty="0">
                <a:solidFill>
                  <a:schemeClr val="dk1"/>
                </a:solidFill>
              </a:rPr>
              <a:t> separate, </a:t>
            </a:r>
            <a:r>
              <a:rPr lang="en-US" sz="3000" dirty="0" err="1">
                <a:solidFill>
                  <a:schemeClr val="dk1"/>
                </a:solidFill>
              </a:rPr>
              <a:t>una</a:t>
            </a:r>
            <a:r>
              <a:rPr lang="en-US" sz="3000" dirty="0">
                <a:solidFill>
                  <a:schemeClr val="dk1"/>
                </a:solidFill>
              </a:rPr>
              <a:t> per ogni client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livello</a:t>
            </a:r>
            <a:r>
              <a:rPr lang="en-US" sz="3000" dirty="0">
                <a:solidFill>
                  <a:schemeClr val="dk1"/>
                </a:solidFill>
              </a:rPr>
              <a:t> di </a:t>
            </a:r>
            <a:r>
              <a:rPr lang="en-US" sz="3000" dirty="0" err="1">
                <a:solidFill>
                  <a:schemeClr val="dk1"/>
                </a:solidFill>
              </a:rPr>
              <a:t>sicurezza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aggiuntivo</a:t>
            </a:r>
            <a:r>
              <a:rPr lang="en-US" sz="3000" dirty="0">
                <a:solidFill>
                  <a:schemeClr val="dk1"/>
                </a:solidFill>
              </a:rPr>
              <a:t> ad </a:t>
            </a:r>
            <a:r>
              <a:rPr lang="en-US" sz="3000" dirty="0" err="1">
                <a:solidFill>
                  <a:schemeClr val="dk1"/>
                </a:solidFill>
              </a:rPr>
              <a:t>attacchi</a:t>
            </a:r>
            <a:r>
              <a:rPr lang="en-US" sz="3000" dirty="0">
                <a:solidFill>
                  <a:schemeClr val="dk1"/>
                </a:solidFill>
              </a:rPr>
              <a:t> di reflection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>
                <a:solidFill>
                  <a:schemeClr val="dk1"/>
                </a:solidFill>
              </a:rPr>
              <a:t>la </a:t>
            </a:r>
            <a:r>
              <a:rPr lang="en-US" sz="3000" dirty="0" err="1">
                <a:solidFill>
                  <a:schemeClr val="dk1"/>
                </a:solidFill>
              </a:rPr>
              <a:t>scoperta</a:t>
            </a:r>
            <a:r>
              <a:rPr lang="en-US" sz="3000" dirty="0">
                <a:solidFill>
                  <a:schemeClr val="dk1"/>
                </a:solidFill>
              </a:rPr>
              <a:t> di </a:t>
            </a:r>
            <a:r>
              <a:rPr lang="en-US" sz="3000" dirty="0" err="1">
                <a:solidFill>
                  <a:schemeClr val="dk1"/>
                </a:solidFill>
              </a:rPr>
              <a:t>una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chiave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compromette</a:t>
            </a:r>
            <a:r>
              <a:rPr lang="en-US" sz="3000" dirty="0">
                <a:solidFill>
                  <a:schemeClr val="dk1"/>
                </a:solidFill>
              </a:rPr>
              <a:t> solo </a:t>
            </a:r>
            <a:r>
              <a:rPr lang="en-US" sz="3000" dirty="0" err="1">
                <a:solidFill>
                  <a:schemeClr val="dk1"/>
                </a:solidFill>
              </a:rPr>
              <a:t>una</a:t>
            </a: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dirty="0" err="1">
                <a:solidFill>
                  <a:schemeClr val="dk1"/>
                </a:solidFill>
              </a:rPr>
              <a:t>direzione</a:t>
            </a:r>
            <a:r>
              <a:rPr lang="en-US" sz="3000" dirty="0">
                <a:solidFill>
                  <a:schemeClr val="dk1"/>
                </a:solidFill>
              </a:rPr>
              <a:t> di </a:t>
            </a:r>
            <a:r>
              <a:rPr lang="en-US" sz="3000" dirty="0" err="1">
                <a:solidFill>
                  <a:schemeClr val="dk1"/>
                </a:solidFill>
              </a:rPr>
              <a:t>comunicazione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33DD44-8970-F1D0-2CB8-A7E4B15DBE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029200" y="6356350"/>
            <a:ext cx="21336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243350" y="230500"/>
            <a:ext cx="7376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STRUTTURA MESSAGGIO</a:t>
            </a:r>
            <a:endParaRPr sz="4500" b="1">
              <a:solidFill>
                <a:schemeClr val="dk1"/>
              </a:solidFill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363" y="1874825"/>
            <a:ext cx="9113275" cy="106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653100" y="3834350"/>
            <a:ext cx="108858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il ciphertext include gli AAD AES (Additional Authenticated Data)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il sequence number è aggiunto agli AAD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610425" y="2266800"/>
            <a:ext cx="2702100" cy="29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Length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68AC42-98B3-DF4F-11AE-F1E9857B0B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243350" y="230500"/>
            <a:ext cx="10194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CANALE SICURO: AES-GCM</a:t>
            </a:r>
            <a:endParaRPr sz="4500" b="1">
              <a:solidFill>
                <a:schemeClr val="dk1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53100" y="1439500"/>
            <a:ext cx="108858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AES(Advanced Encryption Standard): Algoritmo a blocchi simmetrico (chiave a 256 bit)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53100" y="2842488"/>
            <a:ext cx="10885800" cy="1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GCM(Galois/Counter Mode): Modalità operativa di cifratura a flusso, utilizza AES per generare il keystream e fa lo XOR tra i bit del keystream e quelli del messaggio in chiaro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653100" y="4741075"/>
            <a:ext cx="108858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GHASH: Hash calcolato in contemporanea alle operazioni di cifratura con GCM per autenticare il ciphertext+AAD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85BAEF-EFDA-C83E-0B8A-A083D60ED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0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243350" y="230500"/>
            <a:ext cx="11564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 b="1" dirty="0">
                <a:solidFill>
                  <a:schemeClr val="dk1"/>
                </a:solidFill>
              </a:rPr>
              <a:t>MECCANISMO ANTI REPLICA</a:t>
            </a:r>
            <a:endParaRPr sz="4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1216650" y="1716100"/>
            <a:ext cx="108858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>
                <a:solidFill>
                  <a:schemeClr val="dk1"/>
                </a:solidFill>
              </a:rPr>
              <a:t>sequence number </a:t>
            </a:r>
            <a:r>
              <a:rPr lang="en-US" sz="3000" dirty="0" err="1">
                <a:solidFill>
                  <a:schemeClr val="dk1"/>
                </a:solidFill>
              </a:rPr>
              <a:t>aggiunto</a:t>
            </a:r>
            <a:r>
              <a:rPr lang="en-US" sz="3000" dirty="0">
                <a:solidFill>
                  <a:schemeClr val="dk1"/>
                </a:solidFill>
              </a:rPr>
              <a:t> ai </a:t>
            </a:r>
            <a:r>
              <a:rPr lang="en-US" sz="3000" dirty="0" err="1">
                <a:solidFill>
                  <a:schemeClr val="dk1"/>
                </a:solidFill>
              </a:rPr>
              <a:t>pacchetti</a:t>
            </a:r>
            <a:r>
              <a:rPr lang="en-US" sz="3000" dirty="0">
                <a:solidFill>
                  <a:schemeClr val="dk1"/>
                </a:solidFill>
              </a:rPr>
              <a:t> e </a:t>
            </a:r>
            <a:r>
              <a:rPr lang="en-US" sz="3000" dirty="0" err="1">
                <a:solidFill>
                  <a:schemeClr val="dk1"/>
                </a:solidFill>
              </a:rPr>
              <a:t>agli</a:t>
            </a:r>
            <a:r>
              <a:rPr lang="en-US" sz="3000" dirty="0">
                <a:solidFill>
                  <a:schemeClr val="dk1"/>
                </a:solidFill>
              </a:rPr>
              <a:t> AAD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 sz="3000" dirty="0" err="1">
                <a:solidFill>
                  <a:schemeClr val="dk1"/>
                </a:solidFill>
              </a:rPr>
              <a:t>controllo</a:t>
            </a:r>
            <a:r>
              <a:rPr lang="en-US" sz="3000" dirty="0">
                <a:solidFill>
                  <a:schemeClr val="dk1"/>
                </a:solidFill>
              </a:rPr>
              <a:t> della </a:t>
            </a:r>
            <a:r>
              <a:rPr lang="en-US" sz="3000" dirty="0" err="1">
                <a:solidFill>
                  <a:schemeClr val="dk1"/>
                </a:solidFill>
              </a:rPr>
              <a:t>valitidità</a:t>
            </a:r>
            <a:r>
              <a:rPr lang="en-US" sz="3000" dirty="0">
                <a:solidFill>
                  <a:schemeClr val="dk1"/>
                </a:solidFill>
              </a:rPr>
              <a:t> del sequence number in </a:t>
            </a:r>
            <a:r>
              <a:rPr lang="en-US" sz="3000" dirty="0" err="1">
                <a:solidFill>
                  <a:schemeClr val="dk1"/>
                </a:solidFill>
              </a:rPr>
              <a:t>ricezione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E3056A-91FC-5D0D-9E8A-D469E6F729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82445E98-3582-F1B6-B0D5-859D6C5AD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 title="06_LOGO-Alma-Mater-Studiorum-Universita-di-Bologna.png">
            <a:extLst>
              <a:ext uri="{FF2B5EF4-FFF2-40B4-BE49-F238E27FC236}">
                <a16:creationId xmlns:a16="http://schemas.microsoft.com/office/drawing/2014/main" id="{7ADFF05B-F270-192D-0F54-E1214E3351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3BDEA476-AA7A-E43E-3820-4BEAA994933E}"/>
              </a:ext>
            </a:extLst>
          </p:cNvPr>
          <p:cNvSpPr txBox="1"/>
          <p:nvPr/>
        </p:nvSpPr>
        <p:spPr>
          <a:xfrm>
            <a:off x="3865800" y="4453350"/>
            <a:ext cx="4460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grazie per l’attenzione</a:t>
            </a:r>
            <a:endParaRPr sz="25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3D795-0196-74BB-B212-C1091EC9F8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Google Shape;146;p20">
            <a:extLst>
              <a:ext uri="{FF2B5EF4-FFF2-40B4-BE49-F238E27FC236}">
                <a16:creationId xmlns:a16="http://schemas.microsoft.com/office/drawing/2014/main" id="{E9075AD8-F07A-5BD9-08C4-17A4776A314A}"/>
              </a:ext>
            </a:extLst>
          </p:cNvPr>
          <p:cNvSpPr txBox="1"/>
          <p:nvPr/>
        </p:nvSpPr>
        <p:spPr>
          <a:xfrm>
            <a:off x="243350" y="230500"/>
            <a:ext cx="115644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500" b="1" dirty="0">
                <a:solidFill>
                  <a:schemeClr val="dk1"/>
                </a:solidFill>
              </a:rPr>
              <a:t>SITOGRAPHY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6" name="Google Shape;147;p20">
            <a:extLst>
              <a:ext uri="{FF2B5EF4-FFF2-40B4-BE49-F238E27FC236}">
                <a16:creationId xmlns:a16="http://schemas.microsoft.com/office/drawing/2014/main" id="{11EC7FAB-0D33-A444-681C-11BFCACB9FD8}"/>
              </a:ext>
            </a:extLst>
          </p:cNvPr>
          <p:cNvSpPr txBox="1"/>
          <p:nvPr/>
        </p:nvSpPr>
        <p:spPr>
          <a:xfrm>
            <a:off x="243350" y="1107633"/>
            <a:ext cx="11705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The Kubebuilder Book, </a:t>
            </a:r>
            <a:r>
              <a:rPr lang="en-US" sz="2000" dirty="0">
                <a:solidFill>
                  <a:schemeClr val="dk1"/>
                </a:solidFill>
                <a:hlinkClick r:id="rId4"/>
              </a:rPr>
              <a:t>https://book.kubebuilder.io</a:t>
            </a:r>
            <a:r>
              <a:rPr lang="en-US" sz="2000" dirty="0">
                <a:solidFill>
                  <a:schemeClr val="dk1"/>
                </a:solidFill>
              </a:rPr>
              <a:t> (11/7/2026)</a:t>
            </a:r>
          </a:p>
          <a:p>
            <a:pPr marL="457200" indent="-419100">
              <a:lnSpc>
                <a:spcPct val="150000"/>
              </a:lnSpc>
              <a:buClr>
                <a:schemeClr val="dk1"/>
              </a:buClr>
              <a:buSzPts val="3000"/>
              <a:buFont typeface="Arial"/>
              <a:buChar char="-"/>
            </a:pPr>
            <a:r>
              <a:rPr lang="en-US" sz="2000" dirty="0">
                <a:solidFill>
                  <a:schemeClr val="dk1"/>
                </a:solidFill>
              </a:rPr>
              <a:t>Crossplane </a:t>
            </a:r>
            <a:r>
              <a:rPr lang="en-US" sz="2000" dirty="0"/>
              <a:t>documentation, </a:t>
            </a:r>
            <a:r>
              <a:rPr lang="en-US" sz="2000" dirty="0">
                <a:hlinkClick r:id="rId5"/>
              </a:rPr>
              <a:t>https://docs.crossplane.io/v2.3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dk1"/>
                </a:solidFill>
              </a:rPr>
              <a:t>(11/7/2026)</a:t>
            </a:r>
          </a:p>
        </p:txBody>
      </p:sp>
    </p:spTree>
    <p:extLst>
      <p:ext uri="{BB962C8B-B14F-4D97-AF65-F5344CB8AC3E}">
        <p14:creationId xmlns:p14="http://schemas.microsoft.com/office/powerpoint/2010/main" val="413225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3865800" y="2498575"/>
            <a:ext cx="4460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Domande?</a:t>
            </a:r>
            <a:endParaRPr sz="45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0" b="1"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3865800" y="4453350"/>
            <a:ext cx="4460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grazie per l’attenzione</a:t>
            </a:r>
            <a:endParaRPr sz="25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EFB5E-4D6E-559E-E43D-280B0127F7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651</Words>
  <Application>Microsoft Office PowerPoint</Application>
  <PresentationFormat>Widescreen</PresentationFormat>
  <Paragraphs>113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Lorenzo De Luca</cp:lastModifiedBy>
  <cp:revision>3</cp:revision>
  <dcterms:modified xsi:type="dcterms:W3CDTF">2026-07-13T03:16:26Z</dcterms:modified>
</cp:coreProperties>
</file>